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</p:sldIdLst>
  <p:sldSz cx="12191695" cy="6858000"/>
  <p:notesSz cx="6858000" cy="12191695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548640" y="128016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C845"/>
                </a:solidFill>
                <a:latin typeface="Arial"/>
              </a:rPr>
              <a:t>MENTAL HEALTH DAY</a:t>
            </a:r>
          </a:p>
        </p:txBody>
      </p:sp>
      <p:sp>
        <p:nvSpPr>
          <p:cNvPr id="4" name="sub"/>
          <p:cNvSpPr>
            <a:spLocks noGrp="1"/>
          </p:cNvSpPr>
          <p:nvPr/>
        </p:nvSpPr>
        <p:spPr>
          <a:xfrm>
            <a:off x="548640" y="4114800"/>
            <a:ext cx="11064240" cy="14630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600" b="0" dirty="0">
                <a:solidFill>
                  <a:srgbClr val="FFFFFF"/>
                </a:solidFill>
                <a:latin typeface="Arial"/>
              </a:rPr>
              <a:t>Quiz Competition 2026</a:t>
            </a:r>
          </a:p>
        </p:txBody>
      </p:sp>
      <p:sp>
        <p:nvSpPr>
          <p:cNvPr id="5" name="foot"/>
          <p:cNvSpPr>
            <a:spLocks noGrp="1"/>
          </p:cNvSpPr>
          <p:nvPr/>
        </p:nvSpPr>
        <p:spPr>
          <a:xfrm>
            <a:off x="548640" y="5852160"/>
            <a:ext cx="11064240" cy="82296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1600" b="0" i="1" dirty="0">
                <a:solidFill>
                  <a:srgbClr val="4FD1C5"/>
                </a:solidFill>
                <a:latin typeface="Arial"/>
              </a:rPr>
              <a:t>World Mental Health Day  •  October 10  •  Teams of Two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s"/>
          <p:cNvSpPr>
            <a:spLocks noGrp="1"/>
          </p:cNvSpPr>
          <p:nvPr/>
        </p:nvSpPr>
        <p:spPr>
          <a:xfrm>
            <a:off x="822960" y="731520"/>
            <a:ext cx="10515600" cy="54864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1000"/>
              </a:spcAft>
            </a:pPr>
            <a:r>
              <a:rPr lang="en-US" sz="3200" b="1" dirty="0">
                <a:solidFill>
                  <a:srgbClr val="FFC845"/>
                </a:solidFill>
                <a:latin typeface="Arial"/>
              </a:rPr>
              <a:t>GENERAL RULES — How It Works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4–6 teams of two members each.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BUZZER format — the first team to buzz answers.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Every correct answer = 1 point.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No negative marking (host may adjust).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Host's decision is final.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5 rounds + tie-breaker. Good luck!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title"/>
          <p:cNvSpPr>
            <a:spLocks noGrp="1"/>
          </p:cNvSpPr>
          <p:nvPr/>
        </p:nvSpPr>
        <p:spPr>
          <a:xfrm>
            <a:off x="548640" y="1828800"/>
            <a:ext cx="11064240" cy="320040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rgbClr val="4FD1C5"/>
                </a:solidFill>
                <a:latin typeface="Arial"/>
              </a:rPr>
              <a:t>ROUND 1</a:t>
            </a:r>
          </a:p>
          <a:p>
            <a:pPr algn="ctr">
              <a:spcAft>
                <a:spcPts val="600"/>
              </a:spcAft>
            </a:pPr>
            <a:r>
              <a:rPr lang="en-US" sz="5000" b="1" dirty="0">
                <a:solidFill>
                  <a:srgbClr val="FFC845"/>
                </a:solidFill>
                <a:latin typeface="Arial"/>
              </a:rPr>
              <a:t>Warm-Up: General Mental Health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s"/>
          <p:cNvSpPr>
            <a:spLocks noGrp="1"/>
          </p:cNvSpPr>
          <p:nvPr/>
        </p:nvSpPr>
        <p:spPr>
          <a:xfrm>
            <a:off x="822960" y="731520"/>
            <a:ext cx="10515600" cy="54864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1000"/>
              </a:spcAft>
            </a:pPr>
            <a:r>
              <a:rPr lang="en-US" sz="3200" b="1" dirty="0">
                <a:solidFill>
                  <a:srgbClr val="FFC845"/>
                </a:solidFill>
                <a:latin typeface="Arial"/>
              </a:rPr>
              <a:t>ROUND 1 — How It Works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20 questions, multiple choice (4 options).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Buzzer round — first team to buzz answers.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1 point per correct answer.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Light and fun to get everyone started!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On what date is World Mental Health Day observed?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October 1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October 10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October 20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November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October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global body leads World Mental Health Day?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UNICEF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WHO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APA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UNESCO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WHO (World Health Organization)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word 'psyche' (in psychology) comes from Greek, meaning: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Mind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Soul / breath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Thought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Behaviour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Soul / breath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SSRIs primarily act on which neurotransmitter?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Dopamine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Serotonin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GABA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Glutamate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Serotonin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'fight or flight' response is mediated by which system?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Parasympathetic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Sympathetic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Enteric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Somatic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Sympathetic nervous system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Who is called the 'father of psychoanalysis'?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Carl Jung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Sigmund Freud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Alfred Adler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B.F. Skinner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Sigmund Freud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classification system is published by the WHO?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DSM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ICD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PDM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RDoC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ICD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Q8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diagnostic manual is published by the APA?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ICD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DSM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CPT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ICF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DSM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Q9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What is the current edition of the DSM?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DSM-IV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DSM-5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DSM-5-TR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DSM-6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DSM-5-TR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Q10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hormone is most associated with chronic stress?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Insulin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Cortisol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Oxytocin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Melatonin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Cortisol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brain lobe is primarily involved in executive function?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Occipital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Frontal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Temporal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Parietal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Frontal lobe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CBT stands for: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Clinical Behaviour Theory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Cognitive Behavioural Therapy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Conditioned Behaviour Training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Core Belief Technique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Cognitive Behavioural Therapy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Who proposed the Hierarchy of Needs?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Carl Rogers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Abraham Maslow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Erik Erikson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Albert Bandura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Abraham Maslow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disorder features alternating mania and depression?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Cyclothymia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Bipolar disorder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Schizoaffective disorder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Dysthymia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Bipolar disorder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Endorphins released during exercise primarily produce: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Sedation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Natural pain relief / euphoria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Hallucinations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Amnesia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Natural pain relief / euphoria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Pavlov's experiments established which type of conditioning?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Operant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Classical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Vicarious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Latent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Classical conditioning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brain structure is central to forming new memories?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Amygdala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Hippocampus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Thalamus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Pons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Hippocampus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Q18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fear of situations where escape is difficult is called: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Claustrophobia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Agoraphobia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Social phobia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Acrophobia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Agoraphobia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Q19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Who proposed the stages of psychosocial development?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Jean Piaget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Erik Erikson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Sigmund Freud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Lawrence Kohlberg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Erik Erikson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1  •  Warm-Up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Q20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005840"/>
            <a:ext cx="10881360" cy="23774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9-item tool screens depression severity?</a:t>
            </a:r>
          </a:p>
        </p:txBody>
      </p:sp>
      <p:sp>
        <p:nvSpPr>
          <p:cNvPr id="5" name="opts"/>
          <p:cNvSpPr>
            <a:spLocks noGrp="1"/>
          </p:cNvSpPr>
          <p:nvPr/>
        </p:nvSpPr>
        <p:spPr>
          <a:xfrm>
            <a:off x="1463040" y="3566160"/>
            <a:ext cx="9144000" cy="301752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A) GAD-7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B) PHQ-9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C) BDI</a:t>
            </a:r>
          </a:p>
          <a:p>
            <a:pPr algn="l">
              <a:spcAft>
                <a:spcPts val="500"/>
              </a:spcAft>
            </a:pPr>
            <a:r>
              <a:rPr lang="en-US" sz="2600" b="0" dirty="0">
                <a:solidFill>
                  <a:srgbClr val="DCE6F2"/>
                </a:solidFill>
                <a:latin typeface="Arial"/>
              </a:rPr>
              <a:t>D) HAM-D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PHQ-9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title"/>
          <p:cNvSpPr>
            <a:spLocks noGrp="1"/>
          </p:cNvSpPr>
          <p:nvPr/>
        </p:nvSpPr>
        <p:spPr>
          <a:xfrm>
            <a:off x="548640" y="1828800"/>
            <a:ext cx="11064240" cy="320040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rgbClr val="4FD1C5"/>
                </a:solidFill>
                <a:latin typeface="Arial"/>
              </a:rPr>
              <a:t>ROUND 2</a:t>
            </a:r>
          </a:p>
          <a:p>
            <a:pPr algn="ctr">
              <a:spcAft>
                <a:spcPts val="600"/>
              </a:spcAft>
            </a:pPr>
            <a:r>
              <a:rPr lang="en-US" sz="5000" b="1" dirty="0">
                <a:solidFill>
                  <a:srgbClr val="FFC845"/>
                </a:solidFill>
                <a:latin typeface="Arial"/>
              </a:rPr>
              <a:t>Myth-Busters (Clinical &amp; Hard)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s"/>
          <p:cNvSpPr>
            <a:spLocks noGrp="1"/>
          </p:cNvSpPr>
          <p:nvPr/>
        </p:nvSpPr>
        <p:spPr>
          <a:xfrm>
            <a:off x="822960" y="731520"/>
            <a:ext cx="10515600" cy="54864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1000"/>
              </a:spcAft>
            </a:pPr>
            <a:r>
              <a:rPr lang="en-US" sz="3200" b="1" dirty="0">
                <a:solidFill>
                  <a:srgbClr val="FFC845"/>
                </a:solidFill>
                <a:latin typeface="Arial"/>
              </a:rPr>
              <a:t>ROUND 2 — How It Works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20 statements — decide TRUE or FALSE.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Buzzer round; team must also briefly justify.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1 point per correct answer.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These are tricky — think like a clinician!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"Bipolar I diagnosis requires a manic episode lasting at least 1 week."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TRUE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Unless hospitalization is required, the manic episode must last ≥1 week.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"A single major depressive episode is enough to diagnose RECURRENT MDD."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Recurrent MDD requires 2 or more episodes.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"Benzodiazepines are first-line long-term treatment for GAD."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SSRIs/SNRIs are first-line; benzodiazepines are only for short-term use.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"Anhedonia must be present to diagnose a major depressive episode."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Either depressed mood OR anhedonia is sufficient.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"Lithium has a wide therapeutic index, so toxicity is rare."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Lithium has a NARROW therapeutic index and needs serum monitoring.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"Schizophrenia (DSM-5) requires signs for at least 6 months."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TRUE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Includes prodromal/residual periods; ≥1 month of active-phase symptoms.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"Postpartum psychosis is more common than postpartum depression."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Psychosis is rare (~1–2 per 1000); depression is far more common.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Q8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"ECT is absolutely contraindicated in pregnancy."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ECT is relatively safe and sometimes preferred in pregnancy.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Q9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"OCD is classified as an anxiety disorder in DSM-5."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DSM-5 moved OCD to its own category: Obsessive-Compulsive &amp; Related Disorders.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Q10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"PTSD can be diagnosed only at least 1 month after the trauma."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TRUE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Symptoms under 1 month are classified as Acute Stress Disorder.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"Clozapine is a first-line antipsychotic for schizophrenia."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Reserved for treatment-resistant cases due to agranulocytosis risk.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"Dissociative Identity Disorder is the same as schizophrenia."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They are entirely different disorders — a common public myth.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"Autism Spectrum Disorder can be reliably diagnosed only after age 5."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It can be reliably diagnosed by around 18–24 months.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"The MMSE is a diagnostic test for dementia."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It is a SCREENING tool, not diagnostic.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"SSRIs carry a black-box warning for suicidality in young people."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TRUE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The warning applies to those under age 25.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"Delirium and dementia share the same onset pattern."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Delirium is acute and fluctuating; dementia is gradual and progressive.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34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3400" b="1" dirty="0">
                <a:solidFill>
                  <a:srgbClr val="FFFFFF"/>
                </a:solidFill>
                <a:latin typeface="Arial"/>
              </a:rPr>
              <a:t>"Negative symptoms of schizophrenia respond well to typical antipsychotics."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Negative symptoms respond POORLY to typical antipsychotics.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Q18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"Anorexia nervosa has one of the highest mortality rates in psychiatry."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TRUE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It has among the highest mortality rates of any psychiatric disorder.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Q19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"Tardive dyskinesia is an EARLY side effect of antipsychotics."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It is a LATE / delayed-onset movement side effect.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2  •  Myth-Busters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Q20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TRUE or FALSE?</a:t>
            </a:r>
          </a:p>
          <a:p>
            <a:pPr algn="ctr"/>
          </a:p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"Any grief lasting over 2 weeks automatically qualifies as MDD."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FALSE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Bereavement is nuanced; clinical judgement of context is required.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title"/>
          <p:cNvSpPr>
            <a:spLocks noGrp="1"/>
          </p:cNvSpPr>
          <p:nvPr/>
        </p:nvSpPr>
        <p:spPr>
          <a:xfrm>
            <a:off x="548640" y="1828800"/>
            <a:ext cx="11064240" cy="320040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rgbClr val="4FD1C5"/>
                </a:solidFill>
                <a:latin typeface="Arial"/>
              </a:rPr>
              <a:t>ROUND 3</a:t>
            </a:r>
          </a:p>
          <a:p>
            <a:pPr algn="ctr">
              <a:spcAft>
                <a:spcPts val="600"/>
              </a:spcAft>
            </a:pPr>
            <a:r>
              <a:rPr lang="en-US" sz="5000" b="1" dirty="0">
                <a:solidFill>
                  <a:srgbClr val="FFC845"/>
                </a:solidFill>
                <a:latin typeface="Arial"/>
              </a:rPr>
              <a:t>Clinical Deep Dive (M.Phil Level)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s"/>
          <p:cNvSpPr>
            <a:spLocks noGrp="1"/>
          </p:cNvSpPr>
          <p:nvPr/>
        </p:nvSpPr>
        <p:spPr>
          <a:xfrm>
            <a:off x="822960" y="731520"/>
            <a:ext cx="10515600" cy="54864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1000"/>
              </a:spcAft>
            </a:pPr>
            <a:r>
              <a:rPr lang="en-US" sz="3200" b="1" dirty="0">
                <a:solidFill>
                  <a:srgbClr val="FFC845"/>
                </a:solidFill>
                <a:latin typeface="Arial"/>
              </a:rPr>
              <a:t>ROUND 3 — How It Works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20 questions at postgraduate / M.Phil depth.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Mapped to the RCI M.Phil Clinical Psychology syllabus.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Buzzer round — first team to buzz answers.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1 point per correct answer.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In Schneider's First-Rank Symptoms, 'thought withdrawal' falls under which category?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Thought alienation / passivity phenomena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Rorschach scoring system is most widely taught (an RCI core test)?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Exner's Comprehensive System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Indian adaptation of the TAT used in training was developed by whom?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Uma Chowdhary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'Knight's move thinking' (derailment) is a disorder of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Thought form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Y-BOCS scale rates the severity of which disorder?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Obsessive-Compulsive Disorder (OCD)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In DSM-5, what happened to the bereavement exclusion for MDD?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It was removed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Attributing one's own unacceptable impulses to others is which defense mechanism?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Projection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Q8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WAPIS (Ramalingaswamy's Indian adaptation) is a version of which test?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Wechsler Adult Performance Intelligence Scale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Q9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Capgras syndrome is a delusional misidentification of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A familiar person believed to be an impostor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Q10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Marsha Linehan developed which therapy for borderline personality disorder?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Dialectical Behaviour Therapy (DBT)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'La belle indifférence' is classically associated with which disorder?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Conversion / Functional Neurological Disorder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SANS and SAPS assess which symptom domains of schizophrenia?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Negative (SANS) and Positive (SAPS) symptoms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High 'expressed emotion' in families predicts relapse in which disorder?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Schizophrenia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Beck's cognitive triad consists of negative views of which three things?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Self, world, and future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In Erikson's stages, what is the central crisis of adolescence?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Identity vs. Role Confusion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'Folie à deux' corresponds to which DSM/ICD diagnosis?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Shared / Induced Delusional Disorder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NIMHANS Neuropsychological Battery primarily assesses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Higher cortical / neuropsychological functions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Q18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model explains vulnerability + trigger interaction (RCI Paper I, Unit IV)?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Stress-diathesis model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Q19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Vineland Social Maturity Scale measures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Social quotient / adaptive behaviour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3  •  Clinical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Q20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16PF personality questionnaire was developed by whom?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Raymond Cattell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title"/>
          <p:cNvSpPr>
            <a:spLocks noGrp="1"/>
          </p:cNvSpPr>
          <p:nvPr/>
        </p:nvSpPr>
        <p:spPr>
          <a:xfrm>
            <a:off x="548640" y="1828800"/>
            <a:ext cx="11064240" cy="320040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rgbClr val="4FD1C5"/>
                </a:solidFill>
                <a:latin typeface="Arial"/>
              </a:rPr>
              <a:t>ROUND 4</a:t>
            </a:r>
          </a:p>
          <a:p>
            <a:pPr algn="ctr">
              <a:spcAft>
                <a:spcPts val="600"/>
              </a:spcAft>
            </a:pPr>
            <a:r>
              <a:rPr lang="en-US" sz="5000" b="1" dirty="0">
                <a:solidFill>
                  <a:srgbClr val="FFC845"/>
                </a:solidFill>
                <a:latin typeface="Arial"/>
              </a:rPr>
              <a:t>Rapid Fire — Round Robin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s"/>
          <p:cNvSpPr>
            <a:spLocks noGrp="1"/>
          </p:cNvSpPr>
          <p:nvPr/>
        </p:nvSpPr>
        <p:spPr>
          <a:xfrm>
            <a:off x="822960" y="731520"/>
            <a:ext cx="10515600" cy="54864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1000"/>
              </a:spcAft>
            </a:pPr>
            <a:r>
              <a:rPr lang="en-US" sz="3200" b="1" dirty="0">
                <a:solidFill>
                  <a:srgbClr val="FFC845"/>
                </a:solidFill>
                <a:latin typeface="Arial"/>
              </a:rPr>
              <a:t>ROUND 4 — How It Works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RAPID FIRE — each team gets its OWN set in turn.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6 batches (one per team); 7 questions each.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No buzzer: the team on turn answers; pass if unsure.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1 point per correct answer. Fast pace — keep it moving!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Topics: Statistics, Research Methods, Biology, Therapies.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"/>
          <p:cNvSpPr>
            <a:spLocks noGrp="1"/>
          </p:cNvSpPr>
          <p:nvPr/>
        </p:nvSpPr>
        <p:spPr>
          <a:xfrm>
            <a:off x="548640" y="2377440"/>
            <a:ext cx="11064240" cy="2103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RAPID FIRE</a:t>
            </a:r>
          </a:p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Team 1's Turn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1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A Type I error means: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Rejecting a true null hypothesis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1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Mann-Whitney U test is the non-parametric equivalent of which test?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Independent-samples t-test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1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Cronbach's alpha measures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Internal consistency reliability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1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limbic structure is central to fear processing?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Amygdala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1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SSRIs act by blocking the reuptake of which neurotransmitter?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Serotonin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1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EMDR is an evidence-based therapy for which condition?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PTSD / trauma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1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sensitivity of a test refers to its: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True positive rate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"/>
          <p:cNvSpPr>
            <a:spLocks noGrp="1"/>
          </p:cNvSpPr>
          <p:nvPr/>
        </p:nvSpPr>
        <p:spPr>
          <a:xfrm>
            <a:off x="548640" y="2377440"/>
            <a:ext cx="11064240" cy="2103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RAPID FIRE</a:t>
            </a:r>
          </a:p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Team 2's Turn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2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A Type II error means: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Accepting a false null hypothesis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2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Kruskal-Wallis test is the non-parametric equivalent of which test?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One-way ANOVA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2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What is the conventional p-value threshold for significance?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0.05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2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Wernicke's area governs which function?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Language comprehension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2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Lithium is primarily used in which disorder?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Bipolar disorder (mood stabiliser)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2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Progressive Muscular Relaxation was developed by whom?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Jacobson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2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specificity of a test refers to its: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True negative rate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"/>
          <p:cNvSpPr>
            <a:spLocks noGrp="1"/>
          </p:cNvSpPr>
          <p:nvPr/>
        </p:nvSpPr>
        <p:spPr>
          <a:xfrm>
            <a:off x="548640" y="2377440"/>
            <a:ext cx="11064240" cy="2103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RAPID FIRE</a:t>
            </a:r>
          </a:p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Team 3's Turn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3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parametric test compares the means of 3 or more groups?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ANOVA (F-test)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3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Factor analysis is primarily used to do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Reduce data into underlying factors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3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Broca's area governs which function?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Speech production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3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Excess dopamine is implicated in which symptoms of schizophrenia?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Positive symptoms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3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token economy technique is based on which principle?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Operant conditioning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3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GSR biofeedback measures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Galvanic skin response (arousal)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3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odds ratio is typically used in which type of study?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Case-control / retrospective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"/>
          <p:cNvSpPr>
            <a:spLocks noGrp="1"/>
          </p:cNvSpPr>
          <p:nvPr/>
        </p:nvSpPr>
        <p:spPr>
          <a:xfrm>
            <a:off x="548640" y="2377440"/>
            <a:ext cx="11064240" cy="2103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RAPID FIRE</a:t>
            </a:r>
          </a:p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Team 4's Turn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4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measure of central tendency is most affected by outliers?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The mean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4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chi-square test is used for which type of data?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Categorical / nominal data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4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neurotransmitter is deficient in Alzheimer's disease?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Acetylcholine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4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Systematic desensitization was developed by whom?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Joseph Wolpe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4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HPA axis releases which stress hormone?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Cortisol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4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'Prevalence' refers to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Existing cases at a point / period in time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4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Frontal lobe syndrome primarily affects which function?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Executive function / self-regulation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"/>
          <p:cNvSpPr>
            <a:spLocks noGrp="1"/>
          </p:cNvSpPr>
          <p:nvPr/>
        </p:nvSpPr>
        <p:spPr>
          <a:xfrm>
            <a:off x="548640" y="2377440"/>
            <a:ext cx="11064240" cy="2103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RAPID FIRE</a:t>
            </a:r>
          </a:p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Team 5's Turn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5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A positively skewed distribution has its tail toward which side?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The right (higher values)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5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null hypothesis assumes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No difference / no effect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5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REM sleep is most associated with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Dreaming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5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'Flooding' is a technique under which therapy approach?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Exposure (extinction) therapy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5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Psychoneuroimmunology studies the link between which systems?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Mind, nervous, and immune systems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5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'Incidence' refers to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New cases arising over a period of time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5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Cerebrospinal fluid (CSF) is produced by which structure?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The choroid plexus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"/>
          <p:cNvSpPr>
            <a:spLocks noGrp="1"/>
          </p:cNvSpPr>
          <p:nvPr/>
        </p:nvSpPr>
        <p:spPr>
          <a:xfrm>
            <a:off x="548640" y="2377440"/>
            <a:ext cx="11064240" cy="2103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RAPID FIRE</a:t>
            </a:r>
          </a:p>
          <a:p>
            <a:pPr algn="ctr">
              <a:spcAft>
                <a:spcPts val="600"/>
              </a:spcAft>
            </a:pPr>
            <a:r>
              <a:rPr lang="en-US" sz="4400" b="1" dirty="0">
                <a:solidFill>
                  <a:srgbClr val="FFC845"/>
                </a:solidFill>
                <a:latin typeface="Arial"/>
              </a:rPr>
              <a:t>Team 6's Turn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6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A 95% confidence interval corresponds to which alpha level?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0.05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6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Test-retest reliability assesses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Stability of scores over time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6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Which neurotransmitter is reduced in Parkinson's disease?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Dopamine (substantia nigra)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6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Aversion therapy pairs a behaviour with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An unpleasant / aversive stimulus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6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Yoga and meditation fall under which RCI psychotherapy unit?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Indian approaches to psychotherapy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6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Standard deviation is the square root of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The variance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4  •  Team 6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hippocampus is essential for which process?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Memory consolidation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title"/>
          <p:cNvSpPr>
            <a:spLocks noGrp="1"/>
          </p:cNvSpPr>
          <p:nvPr/>
        </p:nvSpPr>
        <p:spPr>
          <a:xfrm>
            <a:off x="548640" y="1828800"/>
            <a:ext cx="11064240" cy="320040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rgbClr val="4FD1C5"/>
                </a:solidFill>
                <a:latin typeface="Arial"/>
              </a:rPr>
              <a:t>ROUND 5</a:t>
            </a:r>
          </a:p>
          <a:p>
            <a:pPr algn="ctr">
              <a:spcAft>
                <a:spcPts val="600"/>
              </a:spcAft>
            </a:pPr>
            <a:r>
              <a:rPr lang="en-US" sz="5000" b="1" dirty="0">
                <a:solidFill>
                  <a:srgbClr val="FFC845"/>
                </a:solidFill>
                <a:latin typeface="Arial"/>
              </a:rPr>
              <a:t>Visual / Identification Round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s"/>
          <p:cNvSpPr>
            <a:spLocks noGrp="1"/>
          </p:cNvSpPr>
          <p:nvPr/>
        </p:nvSpPr>
        <p:spPr>
          <a:xfrm>
            <a:off x="822960" y="731520"/>
            <a:ext cx="10515600" cy="54864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1000"/>
              </a:spcAft>
            </a:pPr>
            <a:r>
              <a:rPr lang="en-US" sz="3200" b="1" dirty="0">
                <a:solidFill>
                  <a:srgbClr val="FFC845"/>
                </a:solidFill>
                <a:latin typeface="Arial"/>
              </a:rPr>
              <a:t>ROUND 5 — How It Works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10 image-based questions.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REPLACE the [INSERT IMAGE] text with a picture before the event.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Buzzer round — first team to buzz answers.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1 point per correct answer.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Identify this pioneer of psychoanalysis.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Sigmund Freud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public-domain photo of Freud on the question slide.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Identify this founder of analytical psychology.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Carl Jung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public-domain photo of Jung.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Name this famous projective test (symmetrical inkblots).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The Rorschach Test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an inkblot image.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Name this projective test using ambiguous picture cards.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Thematic Apperception Test (TAT)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sample TAT-style card.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Identify this famous motivational pyramid.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Maslow's Hierarchy of Needs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pyramid diagram.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Q6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Name this test of selective attention (colour vs. word).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The Stroop Test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Stroop colour-word image.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Q7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Identify the founder of Cognitive Therapy.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Aaron T. Beck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photo of Aaron Beck.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Q8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Identify this pioneer of operant conditioning.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B.F. Skinner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photo of Skinner / Skinner box.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Q9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Name this brain system key to emotion and memory.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The Limbic System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labelled limbic system diagram.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ROUND 5  •  Visual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Q10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[INSERT IMAGE] Identify the founder of Logotherapy.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Viktor Frankl</a:t>
            </a:r>
          </a:p>
        </p:txBody>
      </p:sp>
      <p:sp>
        <p:nvSpPr>
          <p:cNvPr id="5" name="note"/>
          <p:cNvSpPr>
            <a:spLocks noGrp="1"/>
          </p:cNvSpPr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lang="en-US" sz="2000" b="0" i="1" dirty="0">
                <a:solidFill>
                  <a:srgbClr val="4FD1C5"/>
                </a:solidFill>
                <a:latin typeface="Arial"/>
              </a:rPr>
              <a:t>Host: paste a photo of Viktor Frankl.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title"/>
          <p:cNvSpPr>
            <a:spLocks noGrp="1"/>
          </p:cNvSpPr>
          <p:nvPr/>
        </p:nvSpPr>
        <p:spPr>
          <a:xfrm>
            <a:off x="548640" y="1828800"/>
            <a:ext cx="11064240" cy="320040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800" b="1" dirty="0">
                <a:solidFill>
                  <a:srgbClr val="4FD1C5"/>
                </a:solidFill>
                <a:latin typeface="Arial"/>
              </a:rPr>
              <a:t>FINAL</a:t>
            </a:r>
          </a:p>
          <a:p>
            <a:pPr algn="ctr">
              <a:spcAft>
                <a:spcPts val="600"/>
              </a:spcAft>
            </a:pPr>
            <a:r>
              <a:rPr lang="en-US" sz="5000" b="1" dirty="0">
                <a:solidFill>
                  <a:srgbClr val="FFC845"/>
                </a:solidFill>
                <a:latin typeface="Arial"/>
              </a:rPr>
              <a:t>Tie-Breaker (Sudden Death)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s"/>
          <p:cNvSpPr>
            <a:spLocks noGrp="1"/>
          </p:cNvSpPr>
          <p:nvPr/>
        </p:nvSpPr>
        <p:spPr>
          <a:xfrm>
            <a:off x="822960" y="731520"/>
            <a:ext cx="10515600" cy="5486400"/>
          </a:xfrm>
          <a:prstGeom prst="rect">
            <a:avLst/>
          </a:prstGeom>
        </p:spPr>
        <p:txBody>
          <a:bodyPr wrap="square" anchor="t"/>
          <a:lstStyle/>
          <a:p>
            <a:pPr algn="ctr">
              <a:spcAft>
                <a:spcPts val="1000"/>
              </a:spcAft>
            </a:pPr>
            <a:r>
              <a:rPr lang="en-US" sz="3200" b="1" dirty="0">
                <a:solidFill>
                  <a:srgbClr val="FFC845"/>
                </a:solidFill>
                <a:latin typeface="Arial"/>
              </a:rPr>
              <a:t>TIE-BREAKER — How It Works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Used only if two or more teams are tied.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One question at a time; fastest correct buzz wins.</a:t>
            </a:r>
          </a:p>
          <a:p>
            <a:pPr algn="l">
              <a:spcAft>
                <a:spcPts val="700"/>
              </a:spcAft>
            </a:pPr>
            <a:r>
              <a:rPr lang="en-US" sz="2200" b="0" dirty="0">
                <a:solidFill>
                  <a:srgbClr val="DCE6F2"/>
                </a:solidFill>
                <a:latin typeface="Arial"/>
              </a:rPr>
              <a:t>•  Host may add their own questions here.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TIE-BREAKER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Q1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Who coined the term 'schizophrenia'?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Eugen Bleuler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TIE-BREAKER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Q2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Who coined the term 'dementia praecox'?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Emil Kraepelin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TIE-BREAKER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Q3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'Dodo Bird Verdict' in psychotherapy suggests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All therapies are roughly equally effective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TIE-BREAKER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Q4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Who developed Rational Emotive Behaviour Therapy (REBT)?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Albert Ellis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>
            <a:spLocks noGrp="1"/>
          </p:cNvSpPr>
          <p:nvPr/>
        </p:nvSpPr>
        <p:spPr>
          <a:xfrm>
            <a:off x="457200" y="228600"/>
            <a:ext cx="8229600" cy="640080"/>
          </a:xfrm>
          <a:prstGeom prst="rect">
            <a:avLst/>
          </a:prstGeo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4FD1C5"/>
                </a:solidFill>
                <a:latin typeface="Arial"/>
              </a:rPr>
              <a:t>TIE-BREAKER</a:t>
            </a:r>
          </a:p>
        </p:txBody>
      </p:sp>
      <p:sp>
        <p:nvSpPr>
          <p:cNvPr id="3" name="qnum"/>
          <p:cNvSpPr>
            <a:spLocks noGrp="1"/>
          </p:cNvSpPr>
          <p:nvPr/>
        </p:nvSpPr>
        <p:spPr>
          <a:xfrm>
            <a:off x="9144000" y="228600"/>
            <a:ext cx="2560320" cy="731520"/>
          </a:xfrm>
          <a:prstGeom prst="rect">
            <a:avLst/>
          </a:prstGeom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lang="en-US" sz="1800" b="1" dirty="0">
                <a:solidFill>
                  <a:srgbClr val="FFC845"/>
                </a:solidFill>
                <a:latin typeface="Arial"/>
              </a:rPr>
              <a:t>Q5</a:t>
            </a:r>
          </a:p>
        </p:txBody>
      </p:sp>
      <p:sp>
        <p:nvSpPr>
          <p:cNvPr id="4" name="q"/>
          <p:cNvSpPr>
            <a:spLocks noGrp="1"/>
          </p:cNvSpPr>
          <p:nvPr/>
        </p:nvSpPr>
        <p:spPr>
          <a:xfrm>
            <a:off x="640080" y="1188720"/>
            <a:ext cx="10881360" cy="42062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The Yerkes-Dodson law relates arousal to what?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bl"/>
          <p:cNvSpPr>
            <a:spLocks noGrp="1"/>
          </p:cNvSpPr>
          <p:nvPr/>
        </p:nvSpPr>
        <p:spPr>
          <a:xfrm>
            <a:off x="548640" y="457200"/>
            <a:ext cx="11064240" cy="10058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6EE7A8"/>
                </a:solidFill>
                <a:latin typeface="Arial"/>
              </a:rPr>
              <a:t>✓ ANSWER</a:t>
            </a:r>
          </a:p>
        </p:txBody>
      </p:sp>
      <p:sp>
        <p:nvSpPr>
          <p:cNvPr id="4" name="ans"/>
          <p:cNvSpPr>
            <a:spLocks noGrp="1"/>
          </p:cNvSpPr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FC84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548640" y="1280160"/>
            <a:ext cx="11064240" cy="292608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5400" b="1" dirty="0">
                <a:solidFill>
                  <a:srgbClr val="FFC845"/>
                </a:solidFill>
                <a:latin typeface="Arial"/>
              </a:rPr>
              <a:t>THANK YOU!</a:t>
            </a:r>
          </a:p>
        </p:txBody>
      </p:sp>
      <p:sp>
        <p:nvSpPr>
          <p:cNvPr id="4" name="sub"/>
          <p:cNvSpPr>
            <a:spLocks noGrp="1"/>
          </p:cNvSpPr>
          <p:nvPr/>
        </p:nvSpPr>
        <p:spPr>
          <a:xfrm>
            <a:off x="548640" y="4114800"/>
            <a:ext cx="11064240" cy="146304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2600" b="0" dirty="0">
                <a:solidFill>
                  <a:srgbClr val="FFFFFF"/>
                </a:solidFill>
                <a:latin typeface="Arial"/>
              </a:rPr>
              <a:t>Let's keep the conversation about mental health going.</a:t>
            </a:r>
          </a:p>
        </p:txBody>
      </p:sp>
      <p:sp>
        <p:nvSpPr>
          <p:cNvPr id="5" name="foot"/>
          <p:cNvSpPr>
            <a:spLocks noGrp="1"/>
          </p:cNvSpPr>
          <p:nvPr/>
        </p:nvSpPr>
        <p:spPr>
          <a:xfrm>
            <a:off x="548640" y="5852160"/>
            <a:ext cx="11064240" cy="82296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lang="en-US" sz="1600" b="0" i="1" dirty="0">
                <a:solidFill>
                  <a:srgbClr val="4FD1C5"/>
                </a:solidFill>
                <a:latin typeface="Arial"/>
              </a:rPr>
              <a:t>World Mental Health Day 2026  •  You are not alone 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QuizTheme">
  <a:themeElements>
    <a:clrScheme name="Quiz">
      <a:dk1>
        <a:sysClr val="windowText" lastClr="000000"/>
      </a:dk1>
      <a:lt1>
        <a:sysClr val="window" lastClr="FFFFFF"/>
      </a:lt1>
      <a:dk2>
        <a:srgbClr val="0B1E3F"/>
      </a:dk2>
      <a:lt2>
        <a:srgbClr val="DCE6F2"/>
      </a:lt2>
      <a:accent1>
        <a:srgbClr val="FFC845"/>
      </a:accent1>
      <a:accent2>
        <a:srgbClr val="4FD1C5"/>
      </a:accent2>
      <a:accent3>
        <a:srgbClr val="6EE7A8"/>
      </a:accent3>
      <a:accent4>
        <a:srgbClr val="FF8FA3"/>
      </a:accent4>
      <a:accent5>
        <a:srgbClr val="1A1035"/>
      </a:accent5>
      <a:accent6>
        <a:srgbClr val="11213D"/>
      </a:accent6>
      <a:hlink>
        <a:srgbClr val="4FD1C5"/>
      </a:hlink>
      <a:folHlink>
        <a:srgbClr val="FF8FA3"/>
      </a:folHlink>
    </a:clrScheme>
    <a:fontScheme name="Quiz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uiz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255</Slides>
  <Application>Quiz Builder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Mental Health Day Quiz Competition 2026</dc:title>
  <dc:creator>Quiz Host</dc:creator>
  <cp:lastModifiedBy>Quiz Host</cp:lastModifiedBy>
</cp:coreProperties>
</file>