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Relationship Id="rId14" Type="http://schemas.openxmlformats.org/officeDocument/2006/relationships/slide" Target="slides/slide13.xml"/>
<Relationship Id="rId15" Type="http://schemas.openxmlformats.org/officeDocument/2006/relationships/slide" Target="slides/slide14.xml"/>
<Relationship Id="rId16" Type="http://schemas.openxmlformats.org/officeDocument/2006/relationships/slide" Target="slides/slide15.xml"/>
<Relationship Id="rId17" Type="http://schemas.openxmlformats.org/officeDocument/2006/relationships/slide" Target="slides/slide16.xml"/>
<Relationship Id="rId18" Type="http://schemas.openxmlformats.org/officeDocument/2006/relationships/slide" Target="slides/slide17.xml"/>
<Relationship Id="rId19" Type="http://schemas.openxmlformats.org/officeDocument/2006/relationships/slide" Target="slides/slide18.xml"/>
<Relationship Id="rId20" Type="http://schemas.openxmlformats.org/officeDocument/2006/relationships/slide" Target="slides/slide19.xml"/>
<Relationship Id="rId21" Type="http://schemas.openxmlformats.org/officeDocument/2006/relationships/slide" Target="slides/slide20.xml"/>
<Relationship Id="rId22" Type="http://schemas.openxmlformats.org/officeDocument/2006/relationships/slide" Target="slides/slide2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3"/>
          <p:cNvSpPr txBox="1"/>
          <p:nvPr/>
        </p:nvSpPr>
        <p:spPr>
          <a:xfrm>
            <a:off x="360000" y="108000"/>
            <a:ext cx="11472000" cy="5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spcBef>
                <a:spcPts val="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RESEARCH PROPOSAL</a:t>
            </a:r>
          </a:p>
        </p:txBody>
      </p:sp>
      <p:sp>
        <p:nvSpPr>
          <p:cNvPr id="4" name="T4"/>
          <p:cNvSpPr txBox="1"/>
          <p:nvPr/>
        </p:nvSpPr>
        <p:spPr>
          <a:xfrm>
            <a:off x="720000" y="1260000"/>
            <a:ext cx="10752000" cy="18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spcBef>
                <a:spcPts val="200"/>
              </a:spcBef>
            </a:pPr>
            <a:r>
              <a:rPr lang="en-US" sz="2200" b="1" dirty="0">
                <a:solidFill>
                  <a:srgbClr val="1A237E"/>
                </a:solidFill>
                <a:latin typeface="Calibri"/>
              </a:rPr>
              <a:t>Effect of Emotion-Focused Skills Training on Alexithymia in Opioid-Dependent Individuals With and Without HIV</a:t>
            </a:r>
          </a:p>
          <a:p>
            <a:pPr algn="ctr">
              <a:spcBef>
                <a:spcPts val="200"/>
              </a:spcBef>
            </a:pPr>
            <a:r>
              <a:rPr lang="en-US" sz="1500" dirty="0">
                <a:solidFill>
                  <a:srgbClr val="555555"/>
                </a:solidFill>
                <a:latin typeface="Calibri"/>
              </a:rPr>
              <a:t>A Pilot Pretest-Posttest Study Using Psychometric and Projective Assessment</a:t>
            </a:r>
          </a:p>
        </p:txBody>
      </p:sp>
      <p:sp>
        <p:nvSpPr>
          <p:cNvPr id="5" name="T5"/>
          <p:cNvSpPr txBox="1"/>
          <p:nvPr/>
        </p:nvSpPr>
        <p:spPr>
          <a:xfrm>
            <a:off x="720000" y="3600000"/>
            <a:ext cx="10752000" cy="25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MPhil Clinical Psychology Dissertation</a:t>
            </a:r>
          </a:p>
          <a:p>
            <a:pPr algn="ctr">
              <a:spcBef>
                <a:spcPts val="200"/>
              </a:spcBef>
            </a:pPr>
            <a:r>
              <a:rPr lang="en-US" sz="1300" dirty="0">
                <a:solidFill>
                  <a:srgbClr val="444444"/>
                </a:solidFill>
                <a:latin typeface="Calibri"/>
              </a:rPr>
              <a:t>Presented by: Avani Shah</a:t>
            </a:r>
          </a:p>
          <a:p>
            <a:pPr algn="ctr">
              <a:spcBef>
                <a:spcPts val="200"/>
              </a:spcBef>
            </a:pPr>
            <a:r>
              <a:rPr lang="en-US" sz="1300" dirty="0">
                <a:solidFill>
                  <a:srgbClr val="444444"/>
                </a:solidFill>
                <a:latin typeface="Calibri"/>
              </a:rPr>
              <a:t>Guide: Dr. Vasudha Singh</a:t>
            </a:r>
          </a:p>
          <a:p>
            <a:pPr algn="ctr">
              <a:spcBef>
                <a:spcPts val="200"/>
              </a:spcBef>
            </a:pPr>
            <a:r>
              <a:rPr lang="en-US" sz="1200" dirty="0">
                <a:solidFill>
                  <a:srgbClr val="666666"/>
                </a:solidFill>
                <a:latin typeface="Calibri"/>
              </a:rPr>
              <a:t>Man College of Special Education and Psychological Studies, Guna</a:t>
            </a:r>
          </a:p>
        </p:txBody>
      </p:sp>
      <p:sp>
        <p:nvSpPr>
          <p:cNvPr id="6" name="R6"/>
          <p:cNvSpPr/>
          <p:nvPr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3"/>
          <p:cNvSpPr txBox="1"/>
          <p:nvPr/>
        </p:nvSpPr>
        <p:spPr>
          <a:xfrm>
            <a:off x="360000" y="72000"/>
            <a:ext cx="11472000" cy="57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INTRODUCTION &amp; BACKGROUND</a:t>
            </a:r>
          </a:p>
        </p:txBody>
      </p:sp>
      <p:sp>
        <p:nvSpPr>
          <p:cNvPr id="4" name="T4"/>
          <p:cNvSpPr txBox="1"/>
          <p:nvPr/>
        </p:nvSpPr>
        <p:spPr>
          <a:xfrm>
            <a:off x="540000" y="1007999"/>
            <a:ext cx="11112000" cy="541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Opioid dependence: Major SUD globally; rising prevalence in India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22-28% of PWID in India are HIV-positive (NACO, 2022)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Dual burden: Opioid dependence + HIV = compounded psychological vulnerability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Alexithymia: Inability to identify, describe &amp; communicate emotions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Prevalence: 40-67% in opioid-dependent vs. 8-10% in general population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HIV neuropathology may independently worsen emotional processing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No study combines: alexithymia + intervention + HIV stratification + projective tools</a:t>
            </a:r>
          </a:p>
        </p:txBody>
      </p:sp>
      <p:sp>
        <p:nvSpPr>
          <p:cNvPr id="5" name="R5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3"/>
          <p:cNvSpPr txBox="1"/>
          <p:nvPr/>
        </p:nvSpPr>
        <p:spPr>
          <a:xfrm>
            <a:off x="360000" y="72000"/>
            <a:ext cx="11472000" cy="57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ALEXITHYMIA: THE VARIABLE</a:t>
            </a:r>
          </a:p>
        </p:txBody>
      </p:sp>
      <p:sp>
        <p:nvSpPr>
          <p:cNvPr id="4" name="T4"/>
          <p:cNvSpPr txBox="1"/>
          <p:nvPr/>
        </p:nvSpPr>
        <p:spPr>
          <a:xfrm>
            <a:off x="540000" y="1007999"/>
            <a:ext cx="11112000" cy="541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Greek: a (lack) + lexis (word) + thymos (emotion) = No words for feelings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Introduced by Sifneos (1973); 50+ years of research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Three core dimensions: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1. Difficulty Identifying Feelings (DIF)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2. Difficulty Describing Feelings (DDF)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3. Externally Oriented Thinking (EOT)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Gold standard: TAS-20 (alpha .81-.86; 25+ years; 20+ languages; Hindi available)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Cut-offs: &lt;=51 non-alexithymic | 52-60 possible | &gt;=61 alexithymic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Linked to: Substance use, HIV outcomes, medication non-adherence, relapse</a:t>
            </a:r>
          </a:p>
        </p:txBody>
      </p:sp>
      <p:sp>
        <p:nvSpPr>
          <p:cNvPr id="5" name="R5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3"/>
          <p:cNvSpPr txBox="1"/>
          <p:nvPr/>
        </p:nvSpPr>
        <p:spPr>
          <a:xfrm>
            <a:off x="360000" y="72000"/>
            <a:ext cx="11472000" cy="57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RESEARCH GAP</a:t>
            </a:r>
          </a:p>
        </p:txBody>
      </p:sp>
      <p:sp>
        <p:nvSpPr>
          <p:cNvPr id="4" name="T4"/>
          <p:cNvSpPr txBox="1"/>
          <p:nvPr/>
        </p:nvSpPr>
        <p:spPr>
          <a:xfrm>
            <a:off x="540000" y="1007999"/>
            <a:ext cx="11112000" cy="541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No comparative study of alexithymia: HIV+ vs HIV- opioid-dependent individuals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No intervention targeting alexithymia in opioid-HIV comorbidity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Over-reliance on self-report (TAS-20 alone); projective methods never used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No Indian study on alexithymia as intervention target in de-addiction settings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Inpatient 1-month de-addiction context never utilised for such intervention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No pilot/feasibility data for emotion-focused training in this population</a:t>
            </a:r>
          </a:p>
        </p:txBody>
      </p:sp>
      <p:sp>
        <p:nvSpPr>
          <p:cNvPr id="5" name="R5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3"/>
          <p:cNvSpPr txBox="1"/>
          <p:nvPr/>
        </p:nvSpPr>
        <p:spPr>
          <a:xfrm>
            <a:off x="360000" y="72000"/>
            <a:ext cx="11472000" cy="57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AIM &amp; OBJECTIVES</a:t>
            </a:r>
          </a:p>
        </p:txBody>
      </p:sp>
      <p:sp>
        <p:nvSpPr>
          <p:cNvPr id="4" name="T4"/>
          <p:cNvSpPr txBox="1"/>
          <p:nvPr/>
        </p:nvSpPr>
        <p:spPr>
          <a:xfrm>
            <a:off x="540000" y="1007999"/>
            <a:ext cx="11112000" cy="541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AIM: Evaluate effectiveness of EFST in reducing alexithymia;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examine if HIV status moderates treatment response</a:t>
            </a:r>
          </a:p>
          <a:p>
            <a:pPr>
              <a:spcBef>
                <a:spcPts val="200"/>
              </a:spcBef>
            </a:pPr>
            <a:endParaRPr lang="en-US"/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OBJECTIVES: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1. Compare baseline alexithymia (TAS-20) between HIV+ and HIV- groups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2. Evaluate pre-post change in alexithymia after 8-session EFST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3. Examine HIV status as moderator (interaction effect)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4. Assess alexithymia via projective methods (Rorschach, TAT)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5. Explore relationship: alexithymia, DERS, BDI-II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6. Establish pilot feasibility data (retention, attendance)</a:t>
            </a:r>
          </a:p>
        </p:txBody>
      </p:sp>
      <p:sp>
        <p:nvSpPr>
          <p:cNvPr id="5" name="R5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3"/>
          <p:cNvSpPr txBox="1"/>
          <p:nvPr/>
        </p:nvSpPr>
        <p:spPr>
          <a:xfrm>
            <a:off x="360000" y="72000"/>
            <a:ext cx="11472000" cy="57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HYPOTHESES</a:t>
            </a:r>
          </a:p>
        </p:txBody>
      </p:sp>
      <p:sp>
        <p:nvSpPr>
          <p:cNvPr id="4" name="T4"/>
          <p:cNvSpPr txBox="1"/>
          <p:nvPr/>
        </p:nvSpPr>
        <p:spPr>
          <a:xfrm>
            <a:off x="540000" y="1007999"/>
            <a:ext cx="11112000" cy="541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H1: HIV+ group will show higher baseline alexithymia than HIV- group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H2: Both groups will show significant TAS-20 reduction post-EFST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H3: Magnitude of change will differ between groups (Group x Time interaction)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H4: TAS-20 will correlate with Rorschach affect variables (Afr, Blends, WSumC)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H5: Higher alexithymia will associate with greater DERS scores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H6: Projective indicators will show significant pre-post improvement</a:t>
            </a:r>
          </a:p>
        </p:txBody>
      </p:sp>
      <p:sp>
        <p:nvSpPr>
          <p:cNvPr id="5" name="R5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3"/>
          <p:cNvSpPr txBox="1"/>
          <p:nvPr/>
        </p:nvSpPr>
        <p:spPr>
          <a:xfrm>
            <a:off x="360000" y="72000"/>
            <a:ext cx="11472000" cy="57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VARIABLES</a:t>
            </a:r>
          </a:p>
        </p:txBody>
      </p:sp>
      <p:sp>
        <p:nvSpPr>
          <p:cNvPr id="4" name="T4"/>
          <p:cNvSpPr txBox="1"/>
          <p:nvPr/>
        </p:nvSpPr>
        <p:spPr>
          <a:xfrm>
            <a:off x="540000" y="1007999"/>
            <a:ext cx="11112000" cy="541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INDEPENDENT VARIABLES: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HIV Status (Between-subjects): HIV+ vs HIV-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Time (Within-subjects): Pre-test vs Post-test</a:t>
            </a:r>
          </a:p>
          <a:p>
            <a:pPr>
              <a:spcBef>
                <a:spcPts val="200"/>
              </a:spcBef>
            </a:pPr>
            <a:endParaRPr lang="en-US"/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DEPENDENT VARIABLES: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Alexithymia - TAS-20 total + 3 subscales (DIF, DDF, EOT)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Rorschach Affect Variables - Afr, FC:CF+C, WSumC, Blends, Lambda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TAT Emotional Narrative - SCORS-G Affective Quality (1-7 scale)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Emotion Regulation - DERS total + 6 subscales</a:t>
            </a:r>
          </a:p>
          <a:p>
            <a:pPr>
              <a:spcBef>
                <a:spcPts val="200"/>
              </a:spcBef>
            </a:pPr>
            <a:endParaRPr lang="en-US"/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CONTROL VARIABLES: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Age, Education, Duration of dependence, Route of use, BDI-II, SDS, CD4</a:t>
            </a:r>
          </a:p>
        </p:txBody>
      </p:sp>
      <p:sp>
        <p:nvSpPr>
          <p:cNvPr id="5" name="R5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3"/>
          <p:cNvSpPr txBox="1"/>
          <p:nvPr/>
        </p:nvSpPr>
        <p:spPr>
          <a:xfrm>
            <a:off x="360000" y="72000"/>
            <a:ext cx="11472000" cy="57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RESEARCH DESIGN</a:t>
            </a:r>
          </a:p>
        </p:txBody>
      </p:sp>
      <p:sp>
        <p:nvSpPr>
          <p:cNvPr id="4" name="T4"/>
          <p:cNvSpPr txBox="1"/>
          <p:nvPr/>
        </p:nvSpPr>
        <p:spPr>
          <a:xfrm>
            <a:off x="540000" y="1007999"/>
            <a:ext cx="11112000" cy="541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Design: Pilot Pretest-Posttest with between-group comparison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Type: Quasi-experimental, mixed design (within x between subjects)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Nature: Quantitative, applied, interventional pilot study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Population: Male opioid-dependent inpatients in de-addiction facility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Sample: N = 60 (n=30 HIV+, n=30 HIV-)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Setting: Inpatient de-addiction ward (1-month rehabilitation programme)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Sampling: Purposive, consecutive enrollment post-detoxification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Timeline: Week 1 Pre-test | Weeks 2-3 Intervention | Week 4 Post-test</a:t>
            </a:r>
          </a:p>
        </p:txBody>
      </p:sp>
      <p:sp>
        <p:nvSpPr>
          <p:cNvPr id="5" name="R5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3"/>
          <p:cNvSpPr txBox="1"/>
          <p:nvPr/>
        </p:nvSpPr>
        <p:spPr>
          <a:xfrm>
            <a:off x="360000" y="72000"/>
            <a:ext cx="11472000" cy="57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INCLUSION &amp; EXCLUSION CRITERIA</a:t>
            </a:r>
          </a:p>
        </p:txBody>
      </p:sp>
      <p:sp>
        <p:nvSpPr>
          <p:cNvPr id="4" name="T4"/>
          <p:cNvSpPr txBox="1"/>
          <p:nvPr/>
        </p:nvSpPr>
        <p:spPr>
          <a:xfrm>
            <a:off x="540000" y="1007999"/>
            <a:ext cx="11112000" cy="541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INCLUSION: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Opioid Dependence Syndrome (ICD-11 / DSM-5 Moderate-Severe)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Male | Age 18-50 years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Inpatient for minimum 1 month | Detox completed (&gt;7 days)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HIV status documented (ELISA confirmed)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Literate | Informed consent given</a:t>
            </a:r>
          </a:p>
          <a:p>
            <a:pPr>
              <a:spcBef>
                <a:spcPts val="200"/>
              </a:spcBef>
            </a:pPr>
            <a:endParaRPr lang="en-US"/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EXCLUSION: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Comorbid psychotic disorders | Intellectual disability (IQ&lt;70)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Neurological disorders / TBI | HIV-associated dementia (HAD 3-4)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Primary non-opioid dependence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Prior emotion regulation training within 6 months</a:t>
            </a:r>
          </a:p>
        </p:txBody>
      </p:sp>
      <p:sp>
        <p:nvSpPr>
          <p:cNvPr id="5" name="R5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3"/>
          <p:cNvSpPr txBox="1"/>
          <p:nvPr/>
        </p:nvSpPr>
        <p:spPr>
          <a:xfrm>
            <a:off x="360000" y="72000"/>
            <a:ext cx="11472000" cy="57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ASSESSMENT TOOLS</a:t>
            </a:r>
          </a:p>
        </p:txBody>
      </p:sp>
      <p:sp>
        <p:nvSpPr>
          <p:cNvPr id="4" name="T4"/>
          <p:cNvSpPr txBox="1"/>
          <p:nvPr/>
        </p:nvSpPr>
        <p:spPr>
          <a:xfrm>
            <a:off x="540000" y="1007999"/>
            <a:ext cx="11112000" cy="541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PRIMARY: TAS-20 (Toronto Alexithymia Scale-20)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20 items, Likert 1-5, alpha=.81-.86, Hindi adaptation available</a:t>
            </a:r>
          </a:p>
          <a:p>
            <a:pPr>
              <a:spcBef>
                <a:spcPts val="200"/>
              </a:spcBef>
            </a:pPr>
            <a:endParaRPr lang="en-US"/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PROJECTIVE: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Rorschach Inkblot Test (Exner CS / R-PAS)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Variables: Afr, FC:CF+C, WSumC, Blends, Lambda, SumShading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TAT - SCORS-G Affective Quality dimension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Cards: 1, 2, 3BM, 4, 6BM, 13MF, 14, 16</a:t>
            </a:r>
          </a:p>
          <a:p>
            <a:pPr>
              <a:spcBef>
                <a:spcPts val="200"/>
              </a:spcBef>
            </a:pPr>
            <a:endParaRPr lang="en-US"/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SECONDARY: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DERS (alpha=.93) | BDI-II (depression) | SDS (dependence severity)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Sociodemographic &amp; Clinical Data Sheet</a:t>
            </a:r>
          </a:p>
        </p:txBody>
      </p:sp>
      <p:sp>
        <p:nvSpPr>
          <p:cNvPr id="5" name="R5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3"/>
          <p:cNvSpPr txBox="1"/>
          <p:nvPr/>
        </p:nvSpPr>
        <p:spPr>
          <a:xfrm>
            <a:off x="360000" y="72000"/>
            <a:ext cx="11472000" cy="57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INTERVENTION: EFST (8 Sessions)</a:t>
            </a:r>
          </a:p>
        </p:txBody>
      </p:sp>
      <p:sp>
        <p:nvSpPr>
          <p:cNvPr id="4" name="T4"/>
          <p:cNvSpPr txBox="1"/>
          <p:nvPr/>
        </p:nvSpPr>
        <p:spPr>
          <a:xfrm>
            <a:off x="540000" y="1007999"/>
            <a:ext cx="11112000" cy="541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Format: 8 sessions | 2x per week | 4 weeks | 60 min | Individual</a:t>
            </a:r>
          </a:p>
          <a:p>
            <a:pPr>
              <a:spcBef>
                <a:spcPts val="200"/>
              </a:spcBef>
            </a:pPr>
            <a:endParaRPr lang="en-US"/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Session 1: Psychoeducation - What are Emotions?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Session 2: Body-Emotion Connection (interoceptive awareness)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Session 3: Emotion Vocabulary Building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Session 4: Identifying Feelings in Daily Life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Session 5: Describing Feelings to Others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Session 6: Understanding Others Emotions (empathy skills)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Session 7: Emotions and the Addiction Cycle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Session 8: Integration and Maintenance Planning</a:t>
            </a:r>
          </a:p>
        </p:txBody>
      </p:sp>
      <p:sp>
        <p:nvSpPr>
          <p:cNvPr id="5" name="R5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3"/>
          <p:cNvSpPr txBox="1"/>
          <p:nvPr/>
        </p:nvSpPr>
        <p:spPr>
          <a:xfrm>
            <a:off x="360000" y="72000"/>
            <a:ext cx="11472000" cy="57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PROCEDURE</a:t>
            </a:r>
          </a:p>
        </p:txBody>
      </p:sp>
      <p:sp>
        <p:nvSpPr>
          <p:cNvPr id="4" name="T4"/>
          <p:cNvSpPr txBox="1"/>
          <p:nvPr/>
        </p:nvSpPr>
        <p:spPr>
          <a:xfrm>
            <a:off x="540000" y="1007999"/>
            <a:ext cx="11112000" cy="541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Phase 1 (Days 7-10): Screening, enrollment, consent, HIV confirmation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Phase 2 (Days 8-12): PRE-TEST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Administer TAS-20, DERS, BDI-II, SDS, Rorschach, TAT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Phase 3 (Weeks 2-3): INTERVENTION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Deliver 8 EFST sessions to both groups (same protocol)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Phase 4 (Days 25-28): POST-TEST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Re-administer full assessment battery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Phase 5: Scoring, inter-rater reliability, statistical analysis</a:t>
            </a:r>
          </a:p>
          <a:p>
            <a:pPr>
              <a:spcBef>
                <a:spcPts val="200"/>
              </a:spcBef>
            </a:pPr>
            <a:endParaRPr lang="en-US"/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Both groups receive standard de-addiction treatment throughout</a:t>
            </a:r>
          </a:p>
        </p:txBody>
      </p:sp>
      <p:sp>
        <p:nvSpPr>
          <p:cNvPr id="5" name="R5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3"/>
          <p:cNvSpPr txBox="1"/>
          <p:nvPr/>
        </p:nvSpPr>
        <p:spPr>
          <a:xfrm>
            <a:off x="360000" y="72000"/>
            <a:ext cx="11472000" cy="57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STATISTICAL ANALYSIS</a:t>
            </a:r>
          </a:p>
        </p:txBody>
      </p:sp>
      <p:sp>
        <p:nvSpPr>
          <p:cNvPr id="4" name="T4"/>
          <p:cNvSpPr txBox="1"/>
          <p:nvPr/>
        </p:nvSpPr>
        <p:spPr>
          <a:xfrm>
            <a:off x="540000" y="1007999"/>
            <a:ext cx="11112000" cy="541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Independent t-test: Compare baseline TAS-20 between HIV+ and HIV-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2x2 Mixed ANOVA (PRIMARY):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Between factor: Group (HIV+ vs HIV-)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Within factor: Time (Pre vs Post)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Key: Interaction effect (Group x Time)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ANCOVA: Controlling for BDI-II, SDS if baseline differences exist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Paired t-test: Within-group pre-post change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Effect size: Cohens d for clinical significance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Pearson correlation: TAS-20 with Rorschach/TAT variables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Software: SPSS v.26 / JASP | Alpha = .05 (two-tailed)</a:t>
            </a:r>
          </a:p>
        </p:txBody>
      </p:sp>
      <p:sp>
        <p:nvSpPr>
          <p:cNvPr id="5" name="R5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3"/>
          <p:cNvSpPr txBox="1"/>
          <p:nvPr/>
        </p:nvSpPr>
        <p:spPr>
          <a:xfrm>
            <a:off x="360000" y="72000"/>
            <a:ext cx="11472000" cy="57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THEORETICAL FRAMEWORK</a:t>
            </a:r>
          </a:p>
        </p:txBody>
      </p:sp>
      <p:sp>
        <p:nvSpPr>
          <p:cNvPr id="4" name="T4"/>
          <p:cNvSpPr txBox="1"/>
          <p:nvPr/>
        </p:nvSpPr>
        <p:spPr>
          <a:xfrm>
            <a:off x="540000" y="1007999"/>
            <a:ext cx="11112000" cy="541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1. Khantzians Self-Medication Hypothesis (1985, 1997)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Addiction = self-regulation disorder; opioids manage undifferentiated affect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Reducing alexithymia reduces need for chemical regulation</a:t>
            </a:r>
          </a:p>
          <a:p>
            <a:pPr>
              <a:spcBef>
                <a:spcPts val="200"/>
              </a:spcBef>
            </a:pPr>
            <a:endParaRPr lang="en-US"/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2. Lane and Schwartz Levels of Emotional Awareness (1987)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5 levels: body sensations to complex differentiated emotions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EFST targets progressive movement through these levels</a:t>
            </a:r>
          </a:p>
          <a:p>
            <a:pPr>
              <a:spcBef>
                <a:spcPts val="200"/>
              </a:spcBef>
            </a:pPr>
            <a:endParaRPr lang="en-US"/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3. HIV-Opioid Synergistic Neurotoxicity Model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Both damage prefrontal/insula/ACC emotional processing circuits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Predicts additive impairment in comorbid (HIV+) group</a:t>
            </a:r>
          </a:p>
        </p:txBody>
      </p:sp>
      <p:sp>
        <p:nvSpPr>
          <p:cNvPr id="5" name="R5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3"/>
          <p:cNvSpPr txBox="1"/>
          <p:nvPr/>
        </p:nvSpPr>
        <p:spPr>
          <a:xfrm>
            <a:off x="360000" y="72000"/>
            <a:ext cx="11472000" cy="57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REVIEW OF LITERATURE (Key Findings)</a:t>
            </a:r>
          </a:p>
        </p:txBody>
      </p:sp>
      <p:sp>
        <p:nvSpPr>
          <p:cNvPr id="4" name="T4"/>
          <p:cNvSpPr txBox="1"/>
          <p:nvPr/>
        </p:nvSpPr>
        <p:spPr>
          <a:xfrm>
            <a:off x="540000" y="1007999"/>
            <a:ext cx="11112000" cy="541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Alexithymia rates: 40-67% in opioid-dependent (Thorberg, 2009)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Heroin addicts: Impaired emotion recognition (Ferrari et al., 2016)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HIV + Alexithymia: Linked to neuroimmune dysfunction (Tull et al., 2013)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HIV + Alexithymia: Predicts poor ART adherence (Berger et al., 2015)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Interventions can reduce TAS-20 scores (Systematic Review, MDPI, 2024)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CBT effective for high-alexithymic SUD patients (de Haan et al., 2011)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Rorschach Alexithymia Scale validated (Porcelli &amp; Mihura, 2010)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Indian PWID: 6.26% HIV prevalence, limited psych research (NACO, 2022)</a:t>
            </a:r>
          </a:p>
        </p:txBody>
      </p:sp>
      <p:sp>
        <p:nvSpPr>
          <p:cNvPr id="5" name="R5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3"/>
          <p:cNvSpPr txBox="1"/>
          <p:nvPr/>
        </p:nvSpPr>
        <p:spPr>
          <a:xfrm>
            <a:off x="360000" y="72000"/>
            <a:ext cx="11472000" cy="57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EXPECTED OUTCOMES</a:t>
            </a:r>
          </a:p>
        </p:txBody>
      </p:sp>
      <p:sp>
        <p:nvSpPr>
          <p:cNvPr id="4" name="T4"/>
          <p:cNvSpPr txBox="1"/>
          <p:nvPr/>
        </p:nvSpPr>
        <p:spPr>
          <a:xfrm>
            <a:off x="540000" y="1007999"/>
            <a:ext cx="11112000" cy="541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HIV+ group: Higher baseline alexithymia than HIV- group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Both groups: Significant TAS-20 reduction post-EFST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HIV- group may show greater improvement magnitude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Rorschach variables (Afr, WSumC, Blends) will show positive change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TAT narratives: Increased emotional complexity and feeling words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TAS-20 change will correlate with projective measure change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Feasibility: &gt;=80% retention, &gt;=75% session attendance</a:t>
            </a:r>
          </a:p>
        </p:txBody>
      </p:sp>
      <p:sp>
        <p:nvSpPr>
          <p:cNvPr id="5" name="R5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3"/>
          <p:cNvSpPr txBox="1"/>
          <p:nvPr/>
        </p:nvSpPr>
        <p:spPr>
          <a:xfrm>
            <a:off x="360000" y="72000"/>
            <a:ext cx="11472000" cy="57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SIGNIFICANCE OF THE STUDY</a:t>
            </a:r>
          </a:p>
        </p:txBody>
      </p:sp>
      <p:sp>
        <p:nvSpPr>
          <p:cNvPr id="4" name="T4"/>
          <p:cNvSpPr txBox="1"/>
          <p:nvPr/>
        </p:nvSpPr>
        <p:spPr>
          <a:xfrm>
            <a:off x="540000" y="1007999"/>
            <a:ext cx="11112000" cy="541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CLINICAL: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EFST can be integrated into standard 1-month de-addiction programmes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Personalised intervention based on HIV status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Improved emotional processing may reduce relapse risk</a:t>
            </a:r>
          </a:p>
          <a:p>
            <a:pPr>
              <a:spcBef>
                <a:spcPts val="200"/>
              </a:spcBef>
            </a:pPr>
            <a:endParaRPr lang="en-US"/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ACADEMIC: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First HIV-stratified alexithymia intervention study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First multi-method (psychometric + projective) assessment in this population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Pilot data for future RCT</a:t>
            </a:r>
          </a:p>
          <a:p>
            <a:pPr>
              <a:spcBef>
                <a:spcPts val="200"/>
              </a:spcBef>
            </a:pPr>
            <a:endParaRPr lang="en-US"/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INDIAN CONTEXT: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Addresses neglected psychological dimension of Indias opioid-HIV epidemic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Calibri"/>
              </a:rPr>
              <a:t>Low-cost, implementable in resource-limited de-addiction settings</a:t>
            </a:r>
          </a:p>
        </p:txBody>
      </p:sp>
      <p:sp>
        <p:nvSpPr>
          <p:cNvPr id="5" name="R5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3"/>
          <p:cNvSpPr txBox="1"/>
          <p:nvPr/>
        </p:nvSpPr>
        <p:spPr>
          <a:xfrm>
            <a:off x="360000" y="72000"/>
            <a:ext cx="11472000" cy="57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4" name="T4"/>
          <p:cNvSpPr txBox="1"/>
          <p:nvPr/>
        </p:nvSpPr>
        <p:spPr>
          <a:xfrm>
            <a:off x="540000" y="1007999"/>
            <a:ext cx="11112000" cy="541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No true no-intervention control group (ethical consideration)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Small sample (N=60) - appropriate for pilot but limits generalisability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Short intervention (8 sessions / 4 weeks)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No follow-up assessment post-discharge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Medication confounds (OST, ART, psychotropics)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Male-only sample; purposive sampling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Rorschach/TAT retest within 4 weeks (practice effects possible)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Single-centre design</a:t>
            </a:r>
          </a:p>
        </p:txBody>
      </p:sp>
      <p:sp>
        <p:nvSpPr>
          <p:cNvPr id="5" name="R5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3"/>
          <p:cNvSpPr txBox="1"/>
          <p:nvPr/>
        </p:nvSpPr>
        <p:spPr>
          <a:xfrm>
            <a:off x="360000" y="72000"/>
            <a:ext cx="11472000" cy="57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FUTURE RESEARCH DIRECTIONS</a:t>
            </a:r>
          </a:p>
        </p:txBody>
      </p:sp>
      <p:sp>
        <p:nvSpPr>
          <p:cNvPr id="4" name="T4"/>
          <p:cNvSpPr txBox="1"/>
          <p:nvPr/>
        </p:nvSpPr>
        <p:spPr>
          <a:xfrm>
            <a:off x="540000" y="1007999"/>
            <a:ext cx="11112000" cy="541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Full-scale RCT with active control and multi-site recruitment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Longitudinal follow-up (3 and 6 months post-discharge)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Neuroimaging (fMRI/EEG) correlates of intervention-induced change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Female opioid-dependent / HIV+ populations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Dose-response studies: 8 vs 12 vs 16 sessions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Mediator analysis: Does alexithymia reduction prevent relapse?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Digital/app-based EFST for post-discharge maintenance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Cross-cultural replication across Indian states</a:t>
            </a:r>
          </a:p>
        </p:txBody>
      </p:sp>
      <p:sp>
        <p:nvSpPr>
          <p:cNvPr id="5" name="R5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3"/>
          <p:cNvSpPr txBox="1"/>
          <p:nvPr/>
        </p:nvSpPr>
        <p:spPr>
          <a:xfrm>
            <a:off x="360000" y="72000"/>
            <a:ext cx="11472000" cy="57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KEY REFERENCES</a:t>
            </a:r>
          </a:p>
        </p:txBody>
      </p:sp>
      <p:sp>
        <p:nvSpPr>
          <p:cNvPr id="4" name="T4"/>
          <p:cNvSpPr txBox="1"/>
          <p:nvPr/>
        </p:nvSpPr>
        <p:spPr>
          <a:xfrm>
            <a:off x="540000" y="1007999"/>
            <a:ext cx="11112000" cy="541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Bagby, Parker &amp; Taylor (1994, 2020) - TAS-20 development &amp; review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Khantzian (1997) - Self-medication hypothesis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Lane &amp; Schwartz (1987) - Levels of emotional awareness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Tull et al. (2013) - Alexithymia &amp; dysfunction in HIV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Berger et al. (2015) - Alexithymia &amp; HIV psychosocial functioning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Ferrari et al. (2016) - Emotion recognition in heroin addicts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Porcelli &amp; Mihura (2010) - Rorschach Alexithymia Scale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Hosseinzadeh Zoroufchi et al. (2018) - Alexithymia in opioid males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Gratz &amp; Roemer (2004) - DERS development</a:t>
            </a:r>
          </a:p>
          <a:p>
            <a:pPr marL="457200" indent="-22860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Sifneos (1973) - Original alexithymia construct</a:t>
            </a:r>
          </a:p>
        </p:txBody>
      </p:sp>
      <p:sp>
        <p:nvSpPr>
          <p:cNvPr id="5" name="R5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3"/>
          <p:cNvSpPr txBox="1"/>
          <p:nvPr/>
        </p:nvSpPr>
        <p:spPr>
          <a:xfrm>
            <a:off x="720000" y="1440000"/>
            <a:ext cx="10752000" cy="4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spcBef>
                <a:spcPts val="0"/>
              </a:spcBef>
            </a:pPr>
            <a:r>
              <a:rPr lang="en-US" sz="4000" b="1" dirty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>
              <a:spcBef>
                <a:spcPts val="400"/>
              </a:spcBef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Bef>
                <a:spcPts val="400"/>
              </a:spcBef>
            </a:pPr>
            <a:r>
              <a:rPr lang="en-US" sz="2200" dirty="0">
                <a:solidFill>
                  <a:srgbClr val="FFD54F"/>
                </a:solidFill>
                <a:latin typeface="Calibri"/>
              </a:rPr>
              <a:t>Questions &amp; Discussion</a:t>
            </a:r>
          </a:p>
          <a:p>
            <a:pPr algn="ctr">
              <a:spcBef>
                <a:spcPts val="200"/>
              </a:spcBef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Bef>
                <a:spcPts val="400"/>
              </a:spcBef>
            </a:pPr>
            <a:r>
              <a:rPr lang="en-US" sz="1600" dirty="0">
                <a:solidFill>
                  <a:srgbClr val="FFFFFF"/>
                </a:solidFill>
                <a:latin typeface="Calibri"/>
              </a:rPr>
              <a:t>Avani Shah</a:t>
            </a:r>
          </a:p>
          <a:p>
            <a:pPr algn="ctr">
              <a:spcBef>
                <a:spcPts val="200"/>
              </a:spcBef>
            </a:pPr>
            <a:r>
              <a:rPr lang="en-US" sz="1400" dirty="0">
                <a:solidFill>
                  <a:srgbClr val="B0BEC5"/>
                </a:solidFill>
                <a:latin typeface="Calibri"/>
              </a:rPr>
              <a:t>MPhil Clinical Psychology</a:t>
            </a:r>
          </a:p>
          <a:p>
            <a:pPr algn="ctr">
              <a:spcBef>
                <a:spcPts val="200"/>
              </a:spcBef>
            </a:pPr>
            <a:r>
              <a:rPr lang="en-US" sz="1300" dirty="0">
                <a:solidFill>
                  <a:srgbClr val="B0BEC5"/>
                </a:solidFill>
                <a:latin typeface="Calibri"/>
              </a:rPr>
              <a:t>Man College of Special Education and Psychological Studies, Guna</a:t>
            </a:r>
          </a:p>
          <a:p>
            <a:pPr algn="ctr">
              <a:spcBef>
                <a:spcPts val="200"/>
              </a:spcBef>
            </a:pPr>
            <a:r>
              <a:rPr lang="en-US" sz="1300" dirty="0">
                <a:solidFill>
                  <a:srgbClr val="B0BEC5"/>
                </a:solidFill>
                <a:latin typeface="Calibri"/>
              </a:rPr>
              <a:t>Guide: Dr. Vasudha Singh</a:t>
            </a:r>
          </a:p>
        </p:txBody>
      </p:sp>
    </p:spTree>
  </p:cSld>
</p:sld>
</file>