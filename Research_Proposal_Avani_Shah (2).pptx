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10.xml" ContentType="application/vnd.openxmlformats-officedocument.presentationml.comments+xml"/>
  <Override PartName="/ppt/comments/comment11.xml" ContentType="application/vnd.openxmlformats-officedocument.presentationml.comments+xml"/>
  <Override PartName="/ppt/comments/comment12.xml" ContentType="application/vnd.openxmlformats-officedocument.presentationml.comments+xml"/>
  <Override PartName="/ppt/comments/comment13.xml" ContentType="application/vnd.openxmlformats-officedocument.presentationml.comments+xml"/>
  <Override PartName="/ppt/comments/comment14.xml" ContentType="application/vnd.openxmlformats-officedocument.presentationml.comments+xml"/>
  <Override PartName="/ppt/comments/comment15.xml" ContentType="application/vnd.openxmlformats-officedocument.presentationml.comments+xml"/>
  <Override PartName="/ppt/comments/comment16.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comments/comment9.xml" ContentType="application/vnd.openxmlformats-officedocument.presentationml.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73" r:id="rId6"/>
    <p:sldId id="259" r:id="rId7"/>
    <p:sldId id="274" r:id="rId8"/>
    <p:sldId id="258" r:id="rId9"/>
    <p:sldId id="260" r:id="rId10"/>
    <p:sldId id="261" r:id="rId11"/>
    <p:sldId id="262" r:id="rId12"/>
    <p:sldId id="263" r:id="rId13"/>
    <p:sldId id="264" r:id="rId14"/>
    <p:sldId id="265" r:id="rId15"/>
    <p:sldId id="266" r:id="rId16"/>
    <p:sldId id="267" r:id="rId17"/>
    <p:sldId id="275" r:id="rId18"/>
    <p:sldId id="268" r:id="rId19"/>
    <p:sldId id="269" r:id="rId20"/>
    <p:sldId id="270" r:id="rId21"/>
    <p:sldId id="271" r:id="rId22"/>
    <p:sldId id="272" r:id="rId23"/>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asudha Singh" initials="authorId_567104948547" lastIdx="4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7" Type="http://schemas.openxmlformats.org/officeDocument/2006/relationships/commentAuthors" Target="commentAuthors.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7-09T15:23:35.457" idx="1">
    <p:pos x="10" y="10"/>
    <p:text>Effect of Emotion-Focused Skills Training on Alexithymia among Opioid-Dependent Individuals With and Without HIV</p:text>
  </p:cm>
  <p:cm authorId="1" dt="2026-07-09T15:26:45.449" idx="2">
    <p:pos x="10" y="10"/>
    <p:text>According to APA 7 GUIDELINES U Need to include only the clear objective and avoid pilot suty unless your sample is very less.</p:text>
    <p:extLst>
      <p:ext uri="{C676402C-5697-4E1C-873F-D02D1690AC5C}">
        <p15:threadingInfo xmlns:p15="http://schemas.microsoft.com/office/powerpoint/2012/main" timeZoneBias="-480">
          <p15:parentCm authorId="1" idx="1"/>
        </p15:threadingInfo>
      </p:ext>
    </p:extLst>
  </p:cm>
  <p:cm authorId="1" dt="2026-07-09T15:27:42.671" idx="3">
    <p:pos x="166" y="166"/>
    <p:text>Test are part of methodlogy not included in title</p:text>
    <p:extLst>
      <p:ext uri="{C676402C-5697-4E1C-873F-D02D1690AC5C}">
        <p15:threadingInfo xmlns:p15="http://schemas.microsoft.com/office/powerpoint/2012/main" timeZoneBias="-480">
          <p15:parentCm authorId="1" idx="1"/>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6-07-09T15:31:48.871" idx="4">
    <p:pos x="10" y="10"/>
    <p:text>Write full forms in the first slide with abbrevation in the brackets</p:text>
  </p:cm>
  <p:cm authorId="1" dt="2026-07-09T15:36:21.519" idx="5">
    <p:pos x="330" y="645"/>
    <p:text>Opioid dependence is a major public health concern and contributes substantially to the global burden of substance use disorders, with an increasing prevalence in India.
People Who Inject Drugs (PWID) are at high risk of HIV infection. In India, approximately 22–28% of PWID are living with HIV, making opioid dependence and HIV a significant dual health challenge (NACO, 2022).
The co-occurrence of opioid dependence and HIV is associated with greater psychological distress, neurocognitive impairment, emotional dysregulation, and poorer treatment outcomes than either condition alone.
Alexithymia, characterized by difficulty identifying, describing, and communicating emotions, is highly prevalent among individuals with opioid dependence (approximately 40–67%) compared with the general population (approximately 8–10%).
HIV-related neuroinflammatory and neurocognitive changes may further impair emotional awareness and processing, potentially increasing the severity of alexithymia.
Alexithymia is associated with increased craving, relapse risk, poor treatment adherence, impaired interpersonal functioning, and reduced quality of life in substance-dependent populations.
Emotion-Focused Skills Training (EFST) aims to enhance emotional awareness, identification, expression, and regulation, making it a promising intervention for reducing alexithymia.
Research Gap: To date, few studies have examined the effect of Emotion-Focused Skills Training on alexithymia among opioid-dependent individuals, and there is a lack of comparative research evaluating treatment response in individuals with and without HIV. Furthermore, little is known about changes in underlying emotional processing using both standardized psychometric and projective assessment methods.</p:text>
  </p:cm>
  <p:cm authorId="1" dt="2026-07-09T15:42:08.677" idx="6">
    <p:pos x="10" y="10"/>
    <p:text>"A review of the available literature indicates a paucity of studies examining the effect of Emotion-Focused Skills Training on alexithymia among opioid-dependent individuals while comparing individuals with and without HIV, particularly using a combination of psychometric and projective assessments."</p:text>
    <p:extLst>
      <p:ext uri="{C676402C-5697-4E1C-873F-D02D1690AC5C}">
        <p15:threadingInfo xmlns:p15="http://schemas.microsoft.com/office/powerpoint/2012/main" timeZoneBias="-480">
          <p15:parentCm authorId="1" idx="5"/>
        </p15:threadingInfo>
      </p:ext>
    </p:extLst>
  </p:cm>
  <p:cm authorId="1" dt="2026-07-09T15:45:26.632" idx="7">
    <p:pos x="166" y="166"/>
    <p:text>I think including psychometric assessment is not a feasable choice.As you are planning a intervention study assessment is not required when the validity and reliability of the test is good enough.</p:text>
  </p:cm>
</p:cmLst>
</file>

<file path=ppt/comments/comment3.xml><?xml version="1.0" encoding="utf-8"?>
<p:cmLst xmlns:a="http://schemas.openxmlformats.org/drawingml/2006/main" xmlns:r="http://schemas.openxmlformats.org/officeDocument/2006/relationships" xmlns:p="http://schemas.openxmlformats.org/presentationml/2006/main">
  <p:cm authorId="1" dt="2026-07-09T16:43:23.545" idx="8">
    <p:pos x="10" y="10"/>
    <p:text>Add a slide brief review of literature What is already known?
A. Alexithymia and Substance Use Disorders</p:text>
  </p:cm>
  <p:cm authorId="1" dt="2026-07-09T16:44:09.760" idx="9">
    <p:pos x="10" y="10"/>
    <p:text>Gap Most studies are observational and do not evaluate interventions targeting alexithymia.</p:text>
    <p:extLst>
      <p:ext uri="{C676402C-5697-4E1C-873F-D02D1690AC5C}">
        <p15:threadingInfo xmlns:p15="http://schemas.microsoft.com/office/powerpoint/2012/main" timeZoneBias="-480">
          <p15:parentCm authorId="1" idx="8"/>
        </p15:threadingInfo>
      </p:ext>
    </p:extLst>
  </p:cm>
  <p:cm authorId="1" dt="2026-07-09T16:45:29.728" idx="10">
    <p:pos x="166" y="166"/>
    <p:text>2.Alexithymia in HIV</p:text>
    <p:extLst>
      <p:ext uri="{C676402C-5697-4E1C-873F-D02D1690AC5C}">
        <p15:threadingInfo xmlns:p15="http://schemas.microsoft.com/office/powerpoint/2012/main" timeZoneBias="-480">
          <p15:parentCm authorId="1" idx="8"/>
        </p15:threadingInfo>
      </p:ext>
    </p:extLst>
  </p:cm>
  <p:cm authorId="1" dt="2026-07-09T16:46:22.122" idx="11">
    <p:pos x="166" y="166"/>
    <p:text>gap:studies primarily involve general HIV populations rather than individuals with opioid dependence.</p:text>
  </p:cm>
  <p:cm authorId="1" dt="2026-07-09T16:47:37.579" idx="12">
    <p:pos x="322" y="322"/>
    <p:text>Psychological Treatment of Alexithymia
A 2024 systematic review found that psychological interventions can reduce alexithymia, but the evidence remains heterogeneous and the methodological quality is generally low. Most interventions studied were CBT, psychodynamic therapy, mindfulness-based approaches, or emotion-focused interventions in non-addiction populations.</p:text>
  </p:cm>
  <p:cm authorId="1" dt="2026-07-09T16:49:15.769" idx="13">
    <p:pos x="478" y="478"/>
    <p:text>https://doi.org/10.3390/bs14121173</p:text>
  </p:cm>
  <p:cm authorId="1" dt="2026-07-09T16:51:02.462" idx="14">
    <p:pos x="634" y="634"/>
    <p:text>A recent 2025 case report also demonstrated improvement in alexithymia after Emotion-Focused Therapy, but it involved a single adolescent with depression, not addiction.</p:text>
  </p:cm>
  <p:cm authorId="1" dt="2026-07-09T16:51:38.977" idx="15">
    <p:pos x="790" y="790"/>
    <p:text>https://www.frontiersin.org/journals/psychiatry/articles/10.3389/fpsyt.2025.1715173/full?utm_source=chatgpt.com</p:text>
  </p:cm>
  <p:cm authorId="1" dt="2026-07-09T16:53:01.839" idx="16">
    <p:pos x="946" y="946"/>
    <p:text>Gap: Very few intervention studies specifically target alexithymia in opioid dependence.
Virtually no work evaluates Emotion-Focused Skills Training in opioid-dependent adults.</p:text>
  </p:cm>
  <p:cm authorId="1" dt="2026-07-09T17:03:47.900" idx="17">
    <p:pos x="1102" y="1102"/>
    <p:text>https://link.springer.com/article/10.1186/s40359-025-02638-8?utm_source=chatgpt.com</p:text>
  </p:cm>
  <p:cm authorId="1" dt="2026-07-09T17:08:55.356" idx="21">
    <p:pos x="1258" y="1258"/>
    <p:text>Although alexithymia has been extensively associated with opioid dependence and psychological interventions have shown promise in improving emotional functioning, there is limited evidence regarding intervention-based reduction of alexithymia among opioid-dependent individuals. Furthermore, little is known about whether HIV status influences response to emotion-focused interventions. Comparative studies integrating psychometric and projective assessment of emotional functioning before and after intervention are notably scarce.</p:text>
  </p:cm>
  <p:cm authorId="1" dt="2026-07-09T17:11:13.970" idx="22">
    <p:pos x="1414" y="1414"/>
    <p:text>https://pmc.ncbi.nlm.nih.gov/articles/PMC11673933/?utm_source=chatgpt.com</p:text>
  </p:cm>
</p:cmLst>
</file>

<file path=ppt/comments/comment4.xml><?xml version="1.0" encoding="utf-8"?>
<p:cmLst xmlns:a="http://schemas.openxmlformats.org/drawingml/2006/main" xmlns:r="http://schemas.openxmlformats.org/officeDocument/2006/relationships" xmlns:p="http://schemas.openxmlformats.org/presentationml/2006/main">
  <p:cm authorId="1" dt="2026-07-09T17:05:39.092" idx="18">
    <p:pos x="10" y="10"/>
    <p:text>Consise from the review of studies the gap slide</p:text>
  </p:cm>
</p:cmLst>
</file>

<file path=ppt/comments/comment5.xml><?xml version="1.0" encoding="utf-8"?>
<p:cmLst xmlns:a="http://schemas.openxmlformats.org/drawingml/2006/main" xmlns:r="http://schemas.openxmlformats.org/officeDocument/2006/relationships" xmlns:p="http://schemas.openxmlformats.org/presentationml/2006/main">
  <p:cm authorId="1" dt="2026-07-09T17:06:49.123" idx="19">
    <p:pos x="10" y="10"/>
    <p:text>Methodology slide</p:text>
  </p:cm>
  <p:cm authorId="1" dt="2026-07-09T17:07:17.689" idx="20">
    <p:pos x="166" y="166"/>
    <p:text>Aiims and objective</p:text>
  </p:cm>
</p:cmLst>
</file>

<file path=ppt/comments/comment6.xml><?xml version="1.0" encoding="utf-8"?>
<p:cmLst xmlns:a="http://schemas.openxmlformats.org/drawingml/2006/main" xmlns:r="http://schemas.openxmlformats.org/officeDocument/2006/relationships" xmlns:p="http://schemas.openxmlformats.org/presentationml/2006/main">
  <p:cm authorId="1" dt="2026-07-09T17:14:57.075" idx="24">
    <p:pos x="10" y="10"/>
    <p:text>Aim:To examine whether HIV status influences the change in alexithymia following Emotion-Focused Skills Training among opioid-dependent individuals.</p:text>
  </p:cm>
  <p:cm authorId="1" dt="2026-07-09T17:15:42.775" idx="25">
    <p:pos x="166" y="166"/>
    <p:text>Primary Objective
To evaluate changes in alexithymia following Emotion-Focused Skills Training among opioid-dependent individuals.</p:text>
  </p:cm>
  <p:cm authorId="1" dt="2026-07-09T17:16:54.630" idx="26">
    <p:pos x="322" y="322"/>
    <p:text>Secondary Objectives
To compare baseline alexithymia between opioid-dependent individuals with and without HIV.
To compare post-intervention alexithymia between the two groups.
To determine whether HIV status moderates the change in alexithymia following Emotion-Focused Skills Training.</p:text>
  </p:cm>
  <p:cm authorId="1" dt="2026-07-09T17:18:01.502" idx="27">
    <p:pos x="478" y="478"/>
    <p:text>Please leave the assessment part to your phd thesis as its a long time</p:text>
  </p:cm>
  <p:cm authorId="1" dt="2026-07-09T17:19:06.220" idx="28">
    <p:pos x="634" y="634"/>
    <p:text>If you are taking 30 sample in each group it is not a pilot study</p:text>
  </p:cm>
</p:cmLst>
</file>

<file path=ppt/comments/comment7.xml><?xml version="1.0" encoding="utf-8"?>
<p:cmLst xmlns:a="http://schemas.openxmlformats.org/drawingml/2006/main" xmlns:r="http://schemas.openxmlformats.org/officeDocument/2006/relationships" xmlns:p="http://schemas.openxmlformats.org/presentationml/2006/main">
  <p:cm authorId="1" dt="2026-07-09T17:22:10.436" idx="29">
    <p:pos x="10" y="10"/>
    <p:text>Hypotheses
Null Hypothesis (H₀)
There will be no significant difference in the change in alexithymia following Emotion-Focused Skills Training between opioid-dependent individuals with HIV and those without HIV.
Alternative Hypothesis (H₁)
The change in alexithymia following Emotion-Focused Skills Training will differ significantly between opioid-dependent individuals with HIV and those without HIV.</p:text>
  </p:cm>
</p:cmLst>
</file>

<file path=ppt/comments/comment8.xml><?xml version="1.0" encoding="utf-8"?>
<p:cmLst xmlns:a="http://schemas.openxmlformats.org/drawingml/2006/main" xmlns:r="http://schemas.openxmlformats.org/officeDocument/2006/relationships" xmlns:p="http://schemas.openxmlformats.org/presentationml/2006/main">
  <p:cm authorId="1" dt="2026-07-09T17:27:17.199" idx="30">
    <p:pos x="10" y="10"/>
    <p:text>Independent Variable (IV)	Emotion-Focused Skills Training (EFST)
Dependent Variable (DV)	Alexithymia (measured using a validated scale such as the Toronto Alexithymia Scale-20)
Grouping Variable (Between-Subject Variable)	HIV Status (HIV-positive vs. HIV-negative)
Within-Subject Variable	Time (Pre-intervention and Post-intervention)
Covariates (Optional)	Age, duration of opioid dependence, duration of HIV infection, education, depression/anxiety scores, ART status, etc.</p:text>
  </p:cm>
  <p:cm authorId="1" dt="2026-07-09T17:27:47.168" idx="31">
    <p:pos x="166" y="166"/>
    <p:text>Please go through it carefully</p:text>
  </p:cm>
</p:cmLst>
</file>

<file path=ppt/comments/comment9.xml><?xml version="1.0" encoding="utf-8"?>
<p:cmLst xmlns:a="http://schemas.openxmlformats.org/drawingml/2006/main" xmlns:r="http://schemas.openxmlformats.org/officeDocument/2006/relationships" xmlns:p="http://schemas.openxmlformats.org/presentationml/2006/main">
  <p:cm authorId="1" dt="2026-07-09T17:29:12.422" idx="32">
    <p:pos x="10" y="10"/>
    <p:text>Since both groups receive the intervention and are assessed before and after treatment, the design is best described as:
A quasi-experimental, comparative, pretest–posttest intervention study.
More specifically:
Intervention design: Single-arm intervention in each group
Comparison: HIV-positive vs. HIV-negative opioid-dependent individuals
Assessment: Before and after EFST</p:text>
  </p:cm>
  <p:cm authorId="1" dt="2026-07-09T17:29:42.509" idx="33">
    <p:pos x="166" y="166"/>
    <p:text>Make it short for presentation its for your understanding</p:text>
  </p:cm>
</p:cmLst>
</file>

<file path=ppt/comments/comment10.xml><?xml version="1.0" encoding="utf-8"?>
<p:cmLst xmlns:a="http://schemas.openxmlformats.org/drawingml/2006/main" xmlns:r="http://schemas.openxmlformats.org/officeDocument/2006/relationships" xmlns:p="http://schemas.openxmlformats.org/presentationml/2006/main">
  <p:cm authorId="1" dt="2026-07-09T17:31:11.268" idx="34">
    <p:pos x="10" y="10"/>
    <p:text>Age according to the test specifications</p:text>
  </p:cm>
</p:cmLst>
</file>

<file path=ppt/comments/comment11.xml><?xml version="1.0" encoding="utf-8"?>
<p:cmLst xmlns:a="http://schemas.openxmlformats.org/drawingml/2006/main" xmlns:r="http://schemas.openxmlformats.org/officeDocument/2006/relationships" xmlns:p="http://schemas.openxmlformats.org/presentationml/2006/main">
  <p:cm authorId="1" dt="2026-07-09T17:32:30.685" idx="35">
    <p:pos x="10" y="10"/>
    <p:text>Projective not required just add one or two in secondary which is short</p:text>
  </p:cm>
</p:cmLst>
</file>

<file path=ppt/comments/comment12.xml><?xml version="1.0" encoding="utf-8"?>
<p:cmLst xmlns:a="http://schemas.openxmlformats.org/drawingml/2006/main" xmlns:r="http://schemas.openxmlformats.org/officeDocument/2006/relationships" xmlns:p="http://schemas.openxmlformats.org/presentationml/2006/main">
  <p:cm authorId="1" dt="2026-07-09T17:42:06.863" idx="36">
    <p:pos x="10" y="10"/>
    <p:text>You should have details of EFST WHO PROPOSED IT and reference of  each these steps</p:text>
  </p:cm>
</p:cmLst>
</file>

<file path=ppt/comments/comment13.xml><?xml version="1.0" encoding="utf-8"?>
<p:cmLst xmlns:a="http://schemas.openxmlformats.org/drawingml/2006/main" xmlns:r="http://schemas.openxmlformats.org/officeDocument/2006/relationships" xmlns:p="http://schemas.openxmlformats.org/presentationml/2006/main">
  <p:cm authorId="1" dt="2026-07-09T17:42:40.995" idx="37">
    <p:pos x="10" y="10"/>
    <p:text>Make a flow chart to explain the steps</p:text>
  </p:cm>
</p:cmLst>
</file>

<file path=ppt/comments/comment14.xml><?xml version="1.0" encoding="utf-8"?>
<p:cmLst xmlns:a="http://schemas.openxmlformats.org/drawingml/2006/main" xmlns:r="http://schemas.openxmlformats.org/officeDocument/2006/relationships" xmlns:p="http://schemas.openxmlformats.org/presentationml/2006/main">
  <p:cm authorId="1" dt="2026-07-09T17:43:53.137" idx="38">
    <p:pos x="10" y="10"/>
    <p:text>Add a slide of proposed stats and ethical consideration the next</p:text>
  </p:cm>
</p:cmLst>
</file>

<file path=ppt/comments/comment15.xml><?xml version="1.0" encoding="utf-8"?>
<p:cmLst xmlns:a="http://schemas.openxmlformats.org/drawingml/2006/main" xmlns:r="http://schemas.openxmlformats.org/officeDocument/2006/relationships" xmlns:p="http://schemas.openxmlformats.org/presentationml/2006/main">
  <p:cm authorId="1" dt="2026-07-09T17:44:34.053" idx="39">
    <p:pos x="10" y="10"/>
    <p:text>Work on it again now as the aim has shortened</p:text>
  </p:cm>
</p:cmLst>
</file>

<file path=ppt/comments/comment16.xml><?xml version="1.0" encoding="utf-8"?>
<p:cmLst xmlns:a="http://schemas.openxmlformats.org/drawingml/2006/main" xmlns:r="http://schemas.openxmlformats.org/officeDocument/2006/relationships" xmlns:p="http://schemas.openxmlformats.org/presentationml/2006/main">
  <p:cm authorId="1" dt="2026-07-09T17:44:54.456" idx="40">
    <p:pos x="330" y="645"/>
    <p:text>Reframe this slide accordingly</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7" name="Shape 7"/>
        <p:cNvGrpSpPr/>
        <p:nvPr/>
      </p:nvGrpSpPr>
      <p:grpSpPr>
        <a:xfrm>
          <a:off x="0" y="0"/>
          <a:ext cx="0" cy="0"/>
          <a:chOff x="0" y="0"/>
          <a:chExt cx="0" cy="0"/>
        </a:xfrm>
      </p:grpSpPr>
      <p:sp>
        <p:nvSpPr>
          <p:cNvPr id="8" name="Google Shape;8;p1: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 name="Google Shape;9;p1: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 name="Shape 16"/>
        <p:cNvGrpSpPr/>
        <p:nvPr/>
      </p:nvGrpSpPr>
      <p:grpSpPr>
        <a:xfrm>
          <a:off x="0" y="0"/>
          <a:ext cx="0" cy="0"/>
          <a:chOff x="0" y="0"/>
          <a:chExt cx="0" cy="0"/>
        </a:xfrm>
      </p:grpSpPr>
      <p:sp>
        <p:nvSpPr>
          <p:cNvPr id="17" name="Google Shape;17;p2: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8" name="Google Shape;18;p2: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 name="Shape 32"/>
        <p:cNvGrpSpPr/>
        <p:nvPr/>
      </p:nvGrpSpPr>
      <p:grpSpPr>
        <a:xfrm>
          <a:off x="0" y="0"/>
          <a:ext cx="0" cy="0"/>
          <a:chOff x="0" y="0"/>
          <a:chExt cx="0" cy="0"/>
        </a:xfrm>
      </p:grpSpPr>
      <p:sp>
        <p:nvSpPr>
          <p:cNvPr id="33" name="Google Shape;33;p4: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34" name="Google Shape;34;p4: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 name="Shape 24"/>
        <p:cNvGrpSpPr/>
        <p:nvPr/>
      </p:nvGrpSpPr>
      <p:grpSpPr>
        <a:xfrm>
          <a:off x="0" y="0"/>
          <a:ext cx="0" cy="0"/>
          <a:chOff x="0" y="0"/>
          <a:chExt cx="0" cy="0"/>
        </a:xfrm>
      </p:grpSpPr>
      <p:sp>
        <p:nvSpPr>
          <p:cNvPr id="25" name="Google Shape;25;p3: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26" name="Google Shape;26;p3: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40" name="Shape 40"/>
        <p:cNvGrpSpPr/>
        <p:nvPr/>
      </p:nvGrpSpPr>
      <p:grpSpPr>
        <a:xfrm>
          <a:off x="0" y="0"/>
          <a:ext cx="0" cy="0"/>
          <a:chOff x="0" y="0"/>
          <a:chExt cx="0" cy="0"/>
        </a:xfrm>
      </p:grpSpPr>
      <p:sp>
        <p:nvSpPr>
          <p:cNvPr id="41" name="Google Shape;41;p5: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42" name="Google Shape;42;p5: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48" name="Shape 48"/>
        <p:cNvGrpSpPr/>
        <p:nvPr/>
      </p:nvGrpSpPr>
      <p:grpSpPr>
        <a:xfrm>
          <a:off x="0" y="0"/>
          <a:ext cx="0" cy="0"/>
          <a:chOff x="0" y="0"/>
          <a:chExt cx="0" cy="0"/>
        </a:xfrm>
      </p:grpSpPr>
      <p:sp>
        <p:nvSpPr>
          <p:cNvPr id="49" name="Google Shape;49;p6: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0" name="Google Shape;50;p6: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6" name="Shape 56"/>
        <p:cNvGrpSpPr/>
        <p:nvPr/>
      </p:nvGrpSpPr>
      <p:grpSpPr>
        <a:xfrm>
          <a:off x="0" y="0"/>
          <a:ext cx="0" cy="0"/>
          <a:chOff x="0" y="0"/>
          <a:chExt cx="0" cy="0"/>
        </a:xfrm>
      </p:grpSpPr>
      <p:sp>
        <p:nvSpPr>
          <p:cNvPr id="57" name="Google Shape;57;p7: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58" name="Google Shape;58;p7: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64" name="Shape 64"/>
        <p:cNvGrpSpPr/>
        <p:nvPr/>
      </p:nvGrpSpPr>
      <p:grpSpPr>
        <a:xfrm>
          <a:off x="0" y="0"/>
          <a:ext cx="0" cy="0"/>
          <a:chOff x="0" y="0"/>
          <a:chExt cx="0" cy="0"/>
        </a:xfrm>
      </p:grpSpPr>
      <p:sp>
        <p:nvSpPr>
          <p:cNvPr id="65" name="Google Shape;65;p8: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66" name="Google Shape;66;p8: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72" name="Shape 72"/>
        <p:cNvGrpSpPr/>
        <p:nvPr/>
      </p:nvGrpSpPr>
      <p:grpSpPr>
        <a:xfrm>
          <a:off x="0" y="0"/>
          <a:ext cx="0" cy="0"/>
          <a:chOff x="0" y="0"/>
          <a:chExt cx="0" cy="0"/>
        </a:xfrm>
      </p:grpSpPr>
      <p:sp>
        <p:nvSpPr>
          <p:cNvPr id="73" name="Google Shape;73;p9: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74" name="Google Shape;74;p9: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80" name="Shape 80"/>
        <p:cNvGrpSpPr/>
        <p:nvPr/>
      </p:nvGrpSpPr>
      <p:grpSpPr>
        <a:xfrm>
          <a:off x="0" y="0"/>
          <a:ext cx="0" cy="0"/>
          <a:chOff x="0" y="0"/>
          <a:chExt cx="0" cy="0"/>
        </a:xfrm>
      </p:grpSpPr>
      <p:sp>
        <p:nvSpPr>
          <p:cNvPr id="81" name="Google Shape;81;p10: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82" name="Google Shape;82;p10: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8" name="Shape 88"/>
        <p:cNvGrpSpPr/>
        <p:nvPr/>
      </p:nvGrpSpPr>
      <p:grpSpPr>
        <a:xfrm>
          <a:off x="0" y="0"/>
          <a:ext cx="0" cy="0"/>
          <a:chOff x="0" y="0"/>
          <a:chExt cx="0" cy="0"/>
        </a:xfrm>
      </p:grpSpPr>
      <p:sp>
        <p:nvSpPr>
          <p:cNvPr id="89" name="Google Shape;89;p11: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0" name="Google Shape;90;p11: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6" name="Shape 96"/>
        <p:cNvGrpSpPr/>
        <p:nvPr/>
      </p:nvGrpSpPr>
      <p:grpSpPr>
        <a:xfrm>
          <a:off x="0" y="0"/>
          <a:ext cx="0" cy="0"/>
          <a:chOff x="0" y="0"/>
          <a:chExt cx="0" cy="0"/>
        </a:xfrm>
      </p:grpSpPr>
      <p:sp>
        <p:nvSpPr>
          <p:cNvPr id="97" name="Google Shape;97;p12: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98" name="Google Shape;98;p12: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p14: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06" name="Google Shape;106;p14: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2" name="Shape 112"/>
        <p:cNvGrpSpPr/>
        <p:nvPr/>
      </p:nvGrpSpPr>
      <p:grpSpPr>
        <a:xfrm>
          <a:off x="0" y="0"/>
          <a:ext cx="0" cy="0"/>
          <a:chOff x="0" y="0"/>
          <a:chExt cx="0" cy="0"/>
        </a:xfrm>
      </p:grpSpPr>
      <p:sp>
        <p:nvSpPr>
          <p:cNvPr id="113" name="Google Shape;113;p17: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14" name="Google Shape;114;p17: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0" name="Shape 120"/>
        <p:cNvGrpSpPr/>
        <p:nvPr/>
      </p:nvGrpSpPr>
      <p:grpSpPr>
        <a:xfrm>
          <a:off x="0" y="0"/>
          <a:ext cx="0" cy="0"/>
          <a:chOff x="0" y="0"/>
          <a:chExt cx="0" cy="0"/>
        </a:xfrm>
      </p:grpSpPr>
      <p:sp>
        <p:nvSpPr>
          <p:cNvPr id="121" name="Google Shape;121;p18: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22" name="Google Shape;122;p18: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9" name="Shape 129"/>
        <p:cNvGrpSpPr/>
        <p:nvPr/>
      </p:nvGrpSpPr>
      <p:grpSpPr>
        <a:xfrm>
          <a:off x="0" y="0"/>
          <a:ext cx="0" cy="0"/>
          <a:chOff x="0" y="0"/>
          <a:chExt cx="0" cy="0"/>
        </a:xfrm>
      </p:grpSpPr>
      <p:sp>
        <p:nvSpPr>
          <p:cNvPr id="130" name="Google Shape;130;p20: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1" name="Google Shape;131;p20: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7" name="Shape 137"/>
        <p:cNvGrpSpPr/>
        <p:nvPr/>
      </p:nvGrpSpPr>
      <p:grpSpPr>
        <a:xfrm>
          <a:off x="0" y="0"/>
          <a:ext cx="0" cy="0"/>
          <a:chOff x="0" y="0"/>
          <a:chExt cx="0" cy="0"/>
        </a:xfrm>
      </p:grpSpPr>
      <p:sp>
        <p:nvSpPr>
          <p:cNvPr id="138" name="Google Shape;138;p21:notes"/>
          <p:cNvSpPr txBox="1"/>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
        <p:nvSpPr>
          <p:cNvPr id="139" name="Google Shape;139;p21:notes"/>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comments" Target="../comments/comment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omments" Target="../comments/comment6.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omments" Target="../comments/comment7.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omments" Target="../comments/comment8.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omments" Target="../comments/comment9.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omments" Target="../comments/comment10.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omments" Target="../comments/comment11.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omments" Target="../comments/comment12.xm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omments" Target="../comments/comment13.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comments" Target="../comments/comment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comments" Target="../comments/comment15.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comments" Target="../comments/comment16.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0" name="Shape 10"/>
        <p:cNvGrpSpPr/>
        <p:nvPr/>
      </p:nvGrpSpPr>
      <p:grpSpPr>
        <a:xfrm>
          <a:off x="0" y="0"/>
          <a:ext cx="0" cy="0"/>
          <a:chOff x="0" y="0"/>
          <a:chExt cx="0" cy="0"/>
        </a:xfrm>
      </p:grpSpPr>
      <p:sp>
        <p:nvSpPr>
          <p:cNvPr id="11" name="Google Shape;11;p1"/>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12" name="Google Shape;12;p1"/>
          <p:cNvSpPr txBox="1"/>
          <p:nvPr/>
        </p:nvSpPr>
        <p:spPr>
          <a:xfrm>
            <a:off x="360000" y="108000"/>
            <a:ext cx="11472000" cy="540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b="1">
                <a:solidFill>
                  <a:srgbClr val="FFFFFF"/>
                </a:solidFill>
                <a:latin typeface="Calibri"/>
                <a:ea typeface="Calibri"/>
                <a:cs typeface="Calibri"/>
                <a:sym typeface="Calibri"/>
              </a:rPr>
              <a:t>RESEARCH PROPOSAL</a:t>
            </a:r>
            <a:endParaRPr lang="en-US" sz="1400" b="1">
              <a:solidFill>
                <a:srgbClr val="FFFFFF"/>
              </a:solidFill>
              <a:latin typeface="Calibri"/>
              <a:ea typeface="Calibri"/>
              <a:cs typeface="Calibri"/>
              <a:sym typeface="Calibri"/>
            </a:endParaRPr>
          </a:p>
        </p:txBody>
      </p:sp>
      <p:sp>
        <p:nvSpPr>
          <p:cNvPr id="13" name="Google Shape;13;p1"/>
          <p:cNvSpPr txBox="1"/>
          <p:nvPr/>
        </p:nvSpPr>
        <p:spPr>
          <a:xfrm>
            <a:off x="720000" y="1260000"/>
            <a:ext cx="10752000" cy="1800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200" b="1">
                <a:solidFill>
                  <a:srgbClr val="1A237E"/>
                </a:solidFill>
                <a:latin typeface="Calibri"/>
                <a:ea typeface="Calibri"/>
                <a:cs typeface="Calibri"/>
                <a:sym typeface="Calibri"/>
              </a:rPr>
              <a:t>Effect of Emotion-Focused Skills Training on Alexithymia </a:t>
            </a:r>
            <a:r>
              <a:rPr lang="en-US" sz="2200" b="1">
                <a:solidFill>
                  <a:srgbClr val="FF0000"/>
                </a:solidFill>
                <a:latin typeface="Calibri"/>
                <a:ea typeface="Calibri"/>
                <a:cs typeface="Calibri"/>
                <a:sym typeface="Calibri"/>
              </a:rPr>
              <a:t>in </a:t>
            </a:r>
            <a:r>
              <a:rPr lang="en-US" sz="2200" b="1">
                <a:solidFill>
                  <a:srgbClr val="1A237E"/>
                </a:solidFill>
                <a:latin typeface="Calibri"/>
                <a:ea typeface="Calibri"/>
                <a:cs typeface="Calibri"/>
                <a:sym typeface="Calibri"/>
              </a:rPr>
              <a:t>Opioid-Dependent Individuals With and Without HIV</a:t>
            </a:r>
            <a:endParaRPr lang="en-US" sz="2200" b="1">
              <a:solidFill>
                <a:srgbClr val="1A237E"/>
              </a:solidFill>
              <a:latin typeface="Calibri"/>
              <a:ea typeface="Calibri"/>
              <a:cs typeface="Calibri"/>
              <a:sym typeface="Calibri"/>
            </a:endParaRPr>
          </a:p>
          <a:p>
            <a:pPr marL="0" marR="0" lvl="0" indent="0" algn="ctr" rtl="0">
              <a:spcBef>
                <a:spcPts val="200"/>
              </a:spcBef>
              <a:spcAft>
                <a:spcPts val="0"/>
              </a:spcAft>
              <a:buNone/>
            </a:pPr>
            <a:r>
              <a:rPr lang="en-US" sz="1500">
                <a:solidFill>
                  <a:srgbClr val="FF0000"/>
                </a:solidFill>
                <a:latin typeface="Calibri"/>
                <a:ea typeface="Calibri"/>
                <a:cs typeface="Calibri"/>
                <a:sym typeface="Calibri"/>
              </a:rPr>
              <a:t>A Pilot Pretest-Posttest Study Using Psychometric and Projective Assessment</a:t>
            </a:r>
            <a:endParaRPr lang="en-US" sz="1500">
              <a:solidFill>
                <a:srgbClr val="FF0000"/>
              </a:solidFill>
              <a:latin typeface="Calibri"/>
              <a:ea typeface="Calibri"/>
              <a:cs typeface="Calibri"/>
              <a:sym typeface="Calibri"/>
            </a:endParaRPr>
          </a:p>
        </p:txBody>
      </p:sp>
      <p:sp>
        <p:nvSpPr>
          <p:cNvPr id="14" name="Google Shape;14;p1"/>
          <p:cNvSpPr txBox="1"/>
          <p:nvPr/>
        </p:nvSpPr>
        <p:spPr>
          <a:xfrm>
            <a:off x="720000" y="3600000"/>
            <a:ext cx="10752000" cy="2520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400">
                <a:solidFill>
                  <a:srgbClr val="333333"/>
                </a:solidFill>
                <a:latin typeface="Calibri"/>
                <a:ea typeface="Calibri"/>
                <a:cs typeface="Calibri"/>
                <a:sym typeface="Calibri"/>
              </a:rPr>
              <a:t>MPhil Clinical Psychology Dissertation</a:t>
            </a:r>
            <a:endParaRPr lang="en-US" sz="1400">
              <a:solidFill>
                <a:srgbClr val="333333"/>
              </a:solidFill>
              <a:latin typeface="Calibri"/>
              <a:ea typeface="Calibri"/>
              <a:cs typeface="Calibri"/>
              <a:sym typeface="Calibri"/>
            </a:endParaRPr>
          </a:p>
          <a:p>
            <a:pPr marL="0" marR="0" lvl="0" indent="0" algn="ctr" rtl="0">
              <a:spcBef>
                <a:spcPts val="200"/>
              </a:spcBef>
              <a:spcAft>
                <a:spcPts val="0"/>
              </a:spcAft>
              <a:buNone/>
            </a:pPr>
            <a:r>
              <a:rPr lang="en-US" sz="1300">
                <a:solidFill>
                  <a:srgbClr val="444444"/>
                </a:solidFill>
                <a:latin typeface="Calibri"/>
                <a:ea typeface="Calibri"/>
                <a:cs typeface="Calibri"/>
                <a:sym typeface="Calibri"/>
              </a:rPr>
              <a:t>Presented by: Avani Shah</a:t>
            </a:r>
            <a:endParaRPr lang="en-US" sz="1300">
              <a:solidFill>
                <a:srgbClr val="444444"/>
              </a:solidFill>
              <a:latin typeface="Calibri"/>
              <a:ea typeface="Calibri"/>
              <a:cs typeface="Calibri"/>
              <a:sym typeface="Calibri"/>
            </a:endParaRPr>
          </a:p>
          <a:p>
            <a:pPr marL="0" marR="0" lvl="0" indent="0" algn="ctr" rtl="0">
              <a:spcBef>
                <a:spcPts val="200"/>
              </a:spcBef>
              <a:spcAft>
                <a:spcPts val="0"/>
              </a:spcAft>
              <a:buNone/>
            </a:pPr>
            <a:r>
              <a:rPr lang="en-US" sz="1300">
                <a:solidFill>
                  <a:srgbClr val="444444"/>
                </a:solidFill>
                <a:latin typeface="Calibri"/>
                <a:ea typeface="Calibri"/>
                <a:cs typeface="Calibri"/>
                <a:sym typeface="Calibri"/>
              </a:rPr>
              <a:t>Guide: Dr. Vasudha Singh</a:t>
            </a:r>
            <a:endParaRPr lang="en-US" sz="1300">
              <a:solidFill>
                <a:srgbClr val="444444"/>
              </a:solidFill>
              <a:latin typeface="Calibri"/>
              <a:ea typeface="Calibri"/>
              <a:cs typeface="Calibri"/>
              <a:sym typeface="Calibri"/>
            </a:endParaRPr>
          </a:p>
          <a:p>
            <a:pPr marL="0" marR="0" lvl="0" indent="0" algn="ctr" rtl="0">
              <a:spcBef>
                <a:spcPts val="200"/>
              </a:spcBef>
              <a:spcAft>
                <a:spcPts val="0"/>
              </a:spcAft>
              <a:buNone/>
            </a:pPr>
            <a:r>
              <a:rPr lang="en-US" sz="1300">
                <a:solidFill>
                  <a:srgbClr val="FF0000"/>
                </a:solidFill>
                <a:latin typeface="Calibri"/>
                <a:ea typeface="Calibri"/>
                <a:cs typeface="Calibri"/>
                <a:sym typeface="Calibri"/>
              </a:rPr>
              <a:t>Associate Professor,Maan</a:t>
            </a:r>
            <a:endParaRPr lang="en-US" sz="1300">
              <a:solidFill>
                <a:srgbClr val="FF0000"/>
              </a:solidFill>
              <a:latin typeface="Calibri"/>
              <a:ea typeface="Calibri"/>
              <a:cs typeface="Calibri"/>
              <a:sym typeface="Calibri"/>
            </a:endParaRPr>
          </a:p>
          <a:p>
            <a:pPr marL="0" marR="0" lvl="0" indent="0" algn="ctr" rtl="0">
              <a:spcBef>
                <a:spcPts val="200"/>
              </a:spcBef>
              <a:spcAft>
                <a:spcPts val="0"/>
              </a:spcAft>
              <a:buNone/>
            </a:pPr>
            <a:r>
              <a:rPr lang="en-US" sz="1200">
                <a:solidFill>
                  <a:srgbClr val="666666"/>
                </a:solidFill>
                <a:latin typeface="Calibri"/>
                <a:ea typeface="Calibri"/>
                <a:cs typeface="Calibri"/>
                <a:sym typeface="Calibri"/>
              </a:rPr>
              <a:t>Man College of Special Education and Psychological Studies, Guna</a:t>
            </a:r>
            <a:endParaRPr lang="en-US" sz="1200">
              <a:solidFill>
                <a:srgbClr val="666666"/>
              </a:solidFill>
              <a:latin typeface="Calibri"/>
              <a:ea typeface="Calibri"/>
              <a:cs typeface="Calibri"/>
              <a:sym typeface="Calibri"/>
            </a:endParaRPr>
          </a:p>
        </p:txBody>
      </p:sp>
      <p:sp>
        <p:nvSpPr>
          <p:cNvPr id="15" name="Google Shape;15;p1"/>
          <p:cNvSpPr/>
          <p:nvPr/>
        </p:nvSpPr>
        <p:spPr>
          <a:xfrm>
            <a:off x="0" y="6714000"/>
            <a:ext cx="12192000" cy="144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9" name="Shape 19"/>
        <p:cNvGrpSpPr/>
        <p:nvPr/>
      </p:nvGrpSpPr>
      <p:grpSpPr>
        <a:xfrm>
          <a:off x="0" y="0"/>
          <a:ext cx="0" cy="0"/>
          <a:chOff x="0" y="0"/>
          <a:chExt cx="0" cy="0"/>
        </a:xfrm>
      </p:grpSpPr>
      <p:sp>
        <p:nvSpPr>
          <p:cNvPr id="20" name="Google Shape;20;p2"/>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21" name="Google Shape;21;p2"/>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INTRODUCTION &amp; BACKGROUND</a:t>
            </a:r>
            <a:endParaRPr lang="en-US" sz="2200" b="1">
              <a:solidFill>
                <a:srgbClr val="FFFFFF"/>
              </a:solidFill>
              <a:latin typeface="Calibri"/>
              <a:ea typeface="Calibri"/>
              <a:cs typeface="Calibri"/>
              <a:sym typeface="Calibri"/>
            </a:endParaRPr>
          </a:p>
        </p:txBody>
      </p:sp>
      <p:sp>
        <p:nvSpPr>
          <p:cNvPr id="22" name="Google Shape;22;p2"/>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Opioid dependence: Major SUD globally; rising prevalence in India</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22-28% of PWID in India are HIV-positive (NACO, 2022)</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Dual burden: Opioid dependence + HIV = compounded psychological vulnerability</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Alexithymia: Inability to identify, describe &amp; communicate emotions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Prevalence: 40-67% in opioid-dependent vs. 8-10% in general population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HIV neuropathology may independently worsen emotional processing</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No study combines: alexithymia + intervention + HIV stratification + projective tools</a:t>
            </a:r>
            <a:endParaRPr lang="en-US" sz="1400">
              <a:solidFill>
                <a:srgbClr val="333333"/>
              </a:solidFill>
              <a:latin typeface="Calibri"/>
              <a:ea typeface="Calibri"/>
              <a:cs typeface="Calibri"/>
              <a:sym typeface="Calibri"/>
            </a:endParaRPr>
          </a:p>
        </p:txBody>
      </p:sp>
      <p:sp>
        <p:nvSpPr>
          <p:cNvPr id="23" name="Google Shape;23;p2"/>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5" name="Shape 35"/>
        <p:cNvGrpSpPr/>
        <p:nvPr/>
      </p:nvGrpSpPr>
      <p:grpSpPr>
        <a:xfrm>
          <a:off x="0" y="0"/>
          <a:ext cx="0" cy="0"/>
          <a:chOff x="0" y="0"/>
          <a:chExt cx="0" cy="0"/>
        </a:xfrm>
      </p:grpSpPr>
      <p:sp>
        <p:nvSpPr>
          <p:cNvPr id="36" name="Google Shape;36;p4"/>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37" name="Google Shape;37;p4"/>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RESEARCH GAP</a:t>
            </a:r>
            <a:endParaRPr lang="en-US" sz="2200" b="1">
              <a:solidFill>
                <a:srgbClr val="FFFFFF"/>
              </a:solidFill>
              <a:latin typeface="Calibri"/>
              <a:ea typeface="Calibri"/>
              <a:cs typeface="Calibri"/>
              <a:sym typeface="Calibri"/>
            </a:endParaRPr>
          </a:p>
        </p:txBody>
      </p:sp>
      <p:sp>
        <p:nvSpPr>
          <p:cNvPr id="38" name="Google Shape;38;p4"/>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No comparative study of alexithymia: HIV+ vs HIV- opioid-dependent individuals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No intervention targeting alexithymia in opioid-HIV comorbidity</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Over-reliance on self-report (TAS-20 alone); projective methods never used</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No Indian study on alexithymia as intervention target in de-addiction settings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Inpatient 1-month de-addiction context never utilised for such intervention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No pilot/feasibility data for emotion-focused training in this population</a:t>
            </a:r>
            <a:endParaRPr lang="en-US" sz="1400">
              <a:solidFill>
                <a:srgbClr val="333333"/>
              </a:solidFill>
              <a:latin typeface="Calibri"/>
              <a:ea typeface="Calibri"/>
              <a:cs typeface="Calibri"/>
              <a:sym typeface="Calibri"/>
            </a:endParaRPr>
          </a:p>
        </p:txBody>
      </p:sp>
      <p:sp>
        <p:nvSpPr>
          <p:cNvPr id="39" name="Google Shape;39;p4"/>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27" name="Shape 27"/>
        <p:cNvGrpSpPr/>
        <p:nvPr/>
      </p:nvGrpSpPr>
      <p:grpSpPr>
        <a:xfrm>
          <a:off x="0" y="0"/>
          <a:ext cx="0" cy="0"/>
          <a:chOff x="0" y="0"/>
          <a:chExt cx="0" cy="0"/>
        </a:xfrm>
      </p:grpSpPr>
      <p:sp>
        <p:nvSpPr>
          <p:cNvPr id="28" name="Google Shape;28;p3"/>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29" name="Google Shape;29;p3"/>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ALEXITHYMIA: THE VARIABLE</a:t>
            </a:r>
            <a:endParaRPr lang="en-US" sz="2200" b="1">
              <a:solidFill>
                <a:srgbClr val="FFFFFF"/>
              </a:solidFill>
              <a:latin typeface="Calibri"/>
              <a:ea typeface="Calibri"/>
              <a:cs typeface="Calibri"/>
              <a:sym typeface="Calibri"/>
            </a:endParaRPr>
          </a:p>
        </p:txBody>
      </p:sp>
      <p:sp>
        <p:nvSpPr>
          <p:cNvPr id="30" name="Google Shape;30;p3"/>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Greek: a (lack) + lexis (word) + thymos (emotion) = No words for feelings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Introduced by Sifneos (1973); 50+ years of research</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Three core dimensions: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1. Difficulty Identifying Feelings (DIF)</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2. Difficulty Describing Feelings (DDF)</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3. Externally Oriented Thinking (EOT)</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Gold standard: TAS-20 (alpha .81-.86; 25+ years; 20+ languages; Hindi available)</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Cut-offs: &lt;=51 non-alexithymic | 52-60 possible | &gt;=61 alexithymic</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Linked to: Substance use, HIV outcomes, medication non-adherence, relapse</a:t>
            </a:r>
            <a:endParaRPr lang="en-US" sz="1400">
              <a:solidFill>
                <a:srgbClr val="333333"/>
              </a:solidFill>
              <a:latin typeface="Calibri"/>
              <a:ea typeface="Calibri"/>
              <a:cs typeface="Calibri"/>
              <a:sym typeface="Calibri"/>
            </a:endParaRPr>
          </a:p>
        </p:txBody>
      </p:sp>
      <p:sp>
        <p:nvSpPr>
          <p:cNvPr id="31" name="Google Shape;31;p3"/>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43" name="Shape 43"/>
        <p:cNvGrpSpPr/>
        <p:nvPr/>
      </p:nvGrpSpPr>
      <p:grpSpPr>
        <a:xfrm>
          <a:off x="0" y="0"/>
          <a:ext cx="0" cy="0"/>
          <a:chOff x="0" y="0"/>
          <a:chExt cx="0" cy="0"/>
        </a:xfrm>
      </p:grpSpPr>
      <p:sp>
        <p:nvSpPr>
          <p:cNvPr id="44" name="Google Shape;44;p5"/>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45" name="Google Shape;45;p5"/>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AIM &amp; OBJECTIVES</a:t>
            </a:r>
            <a:endParaRPr lang="en-US" sz="2200" b="1">
              <a:solidFill>
                <a:srgbClr val="FFFFFF"/>
              </a:solidFill>
              <a:latin typeface="Calibri"/>
              <a:ea typeface="Calibri"/>
              <a:cs typeface="Calibri"/>
              <a:sym typeface="Calibri"/>
            </a:endParaRPr>
          </a:p>
        </p:txBody>
      </p:sp>
      <p:sp>
        <p:nvSpPr>
          <p:cNvPr id="46" name="Google Shape;46;p5"/>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AIM: Evaluate effectiveness of EFST in reducing alexithymia;</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examine if HIV status moderates treatment response</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OBJECTIVES: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1. Compare baseline alexithymia (TAS-20) between HIV+ and HIV- groups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2. Evaluate pre-post change in alexithymia after 8-session EFST</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3. Examine HIV status as moderator (interaction effect)</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4. Assess alexithymia via projective methods (Rorschach, TAT)</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5. Explore relationship: alexithymia, DERS, BDI-II</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6. Establish pilot feasibility data (retention, attendance)</a:t>
            </a:r>
            <a:endParaRPr lang="en-US" sz="1400">
              <a:solidFill>
                <a:srgbClr val="333333"/>
              </a:solidFill>
              <a:latin typeface="Calibri"/>
              <a:ea typeface="Calibri"/>
              <a:cs typeface="Calibri"/>
              <a:sym typeface="Calibri"/>
            </a:endParaRPr>
          </a:p>
        </p:txBody>
      </p:sp>
      <p:sp>
        <p:nvSpPr>
          <p:cNvPr id="47" name="Google Shape;47;p5"/>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51" name="Shape 51"/>
        <p:cNvGrpSpPr/>
        <p:nvPr/>
      </p:nvGrpSpPr>
      <p:grpSpPr>
        <a:xfrm>
          <a:off x="0" y="0"/>
          <a:ext cx="0" cy="0"/>
          <a:chOff x="0" y="0"/>
          <a:chExt cx="0" cy="0"/>
        </a:xfrm>
      </p:grpSpPr>
      <p:sp>
        <p:nvSpPr>
          <p:cNvPr id="52" name="Google Shape;52;p6"/>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53" name="Google Shape;53;p6"/>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HYPOTHESES</a:t>
            </a:r>
            <a:endParaRPr lang="en-US" sz="2200" b="1">
              <a:solidFill>
                <a:srgbClr val="FFFFFF"/>
              </a:solidFill>
              <a:latin typeface="Calibri"/>
              <a:ea typeface="Calibri"/>
              <a:cs typeface="Calibri"/>
              <a:sym typeface="Calibri"/>
            </a:endParaRPr>
          </a:p>
        </p:txBody>
      </p:sp>
      <p:sp>
        <p:nvSpPr>
          <p:cNvPr id="54" name="Google Shape;54;p6"/>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H1: HIV+ group will show higher baseline alexithymia than HIV- group</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H2: Both groups will show significant TAS-20 reduction post-EFST</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H3: Magnitude of change will differ between groups (Group x Time interaction)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H4: TAS-20 will correlate with Rorschach affect variables (Afr, Blends, WSumC)</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H5: Higher alexithymia will associate with greater DERS scores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H6: Projective indicators will show significant pre-post improvement</a:t>
            </a:r>
            <a:endParaRPr lang="en-US" sz="1400">
              <a:solidFill>
                <a:srgbClr val="333333"/>
              </a:solidFill>
              <a:latin typeface="Calibri"/>
              <a:ea typeface="Calibri"/>
              <a:cs typeface="Calibri"/>
              <a:sym typeface="Calibri"/>
            </a:endParaRPr>
          </a:p>
        </p:txBody>
      </p:sp>
      <p:sp>
        <p:nvSpPr>
          <p:cNvPr id="55" name="Google Shape;55;p6"/>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9" name="Shape 59"/>
        <p:cNvGrpSpPr/>
        <p:nvPr/>
      </p:nvGrpSpPr>
      <p:grpSpPr>
        <a:xfrm>
          <a:off x="0" y="0"/>
          <a:ext cx="0" cy="0"/>
          <a:chOff x="0" y="0"/>
          <a:chExt cx="0" cy="0"/>
        </a:xfrm>
      </p:grpSpPr>
      <p:sp>
        <p:nvSpPr>
          <p:cNvPr id="60" name="Google Shape;60;p7"/>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61" name="Google Shape;61;p7"/>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VARIABLES</a:t>
            </a:r>
            <a:endParaRPr lang="en-US" sz="2200" b="1">
              <a:solidFill>
                <a:srgbClr val="FFFFFF"/>
              </a:solidFill>
              <a:latin typeface="Calibri"/>
              <a:ea typeface="Calibri"/>
              <a:cs typeface="Calibri"/>
              <a:sym typeface="Calibri"/>
            </a:endParaRPr>
          </a:p>
        </p:txBody>
      </p:sp>
      <p:sp>
        <p:nvSpPr>
          <p:cNvPr id="62" name="Google Shape;62;p7"/>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INDEPENDENT VARIABLES: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HIV Status (Between-subjects): HIV+ vs HIV-</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Time (Within-subjects): Pre-test vs Post-test</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DEPENDENT VARIABLES: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Alexithymia - TAS-20 total + 3 subscales (DIF, DDF, EOT)</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Rorschach Affect Variables - Afr, FC:CF+C, WSumC, Blends, Lambda</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TAT Emotional Narrative - SCORS-G Affective Quality (1-7 scale)</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Emotion Regulation - DERS total + 6 subscales</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CONTROL VARIABLES: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Age, Education, Duration of dependence, Route of use, BDI-II, SDS, CD4</a:t>
            </a:r>
            <a:endParaRPr lang="en-US" sz="1300">
              <a:solidFill>
                <a:srgbClr val="555555"/>
              </a:solidFill>
              <a:latin typeface="Calibri"/>
              <a:ea typeface="Calibri"/>
              <a:cs typeface="Calibri"/>
              <a:sym typeface="Calibri"/>
            </a:endParaRPr>
          </a:p>
        </p:txBody>
      </p:sp>
      <p:sp>
        <p:nvSpPr>
          <p:cNvPr id="63" name="Google Shape;63;p7"/>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7" name="Shape 67"/>
        <p:cNvGrpSpPr/>
        <p:nvPr/>
      </p:nvGrpSpPr>
      <p:grpSpPr>
        <a:xfrm>
          <a:off x="0" y="0"/>
          <a:ext cx="0" cy="0"/>
          <a:chOff x="0" y="0"/>
          <a:chExt cx="0" cy="0"/>
        </a:xfrm>
      </p:grpSpPr>
      <p:sp>
        <p:nvSpPr>
          <p:cNvPr id="68" name="Google Shape;68;p8"/>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69" name="Google Shape;69;p8"/>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RESEARCH DESIGN</a:t>
            </a:r>
            <a:endParaRPr lang="en-US" sz="2200" b="1">
              <a:solidFill>
                <a:srgbClr val="FFFFFF"/>
              </a:solidFill>
              <a:latin typeface="Calibri"/>
              <a:ea typeface="Calibri"/>
              <a:cs typeface="Calibri"/>
              <a:sym typeface="Calibri"/>
            </a:endParaRPr>
          </a:p>
        </p:txBody>
      </p:sp>
      <p:sp>
        <p:nvSpPr>
          <p:cNvPr id="70" name="Google Shape;70;p8"/>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Design: Pilot Pretest-Posttest with between-group comparison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Type: Quasi-experimental, mixed design (within x between subjects)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Nature: Quantitative, applied, interventional pilot study</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Population: Male opioid-dependent inpatients in de-addiction facility</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Sample: N = 60 (n=30 HIV+, n=30 HIV-)</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Setting: Inpatient de-addiction ward (1-month rehabilitation programme)</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Sampling: Purposive, consecutive enrollment post-detoxification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Timeline: Week 1 Pre-test | Weeks 2-3 Intervention | Week 4 Post-test</a:t>
            </a:r>
            <a:endParaRPr lang="en-US" sz="1400">
              <a:solidFill>
                <a:srgbClr val="333333"/>
              </a:solidFill>
              <a:latin typeface="Calibri"/>
              <a:ea typeface="Calibri"/>
              <a:cs typeface="Calibri"/>
              <a:sym typeface="Calibri"/>
            </a:endParaRPr>
          </a:p>
        </p:txBody>
      </p:sp>
      <p:sp>
        <p:nvSpPr>
          <p:cNvPr id="71" name="Google Shape;71;p8"/>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75" name="Shape 75"/>
        <p:cNvGrpSpPr/>
        <p:nvPr/>
      </p:nvGrpSpPr>
      <p:grpSpPr>
        <a:xfrm>
          <a:off x="0" y="0"/>
          <a:ext cx="0" cy="0"/>
          <a:chOff x="0" y="0"/>
          <a:chExt cx="0" cy="0"/>
        </a:xfrm>
      </p:grpSpPr>
      <p:sp>
        <p:nvSpPr>
          <p:cNvPr id="76" name="Google Shape;76;p9"/>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77" name="Google Shape;77;p9"/>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INCLUSION &amp; EXCLUSION CRITERIA</a:t>
            </a:r>
            <a:endParaRPr lang="en-US" sz="2200" b="1">
              <a:solidFill>
                <a:srgbClr val="FFFFFF"/>
              </a:solidFill>
              <a:latin typeface="Calibri"/>
              <a:ea typeface="Calibri"/>
              <a:cs typeface="Calibri"/>
              <a:sym typeface="Calibri"/>
            </a:endParaRPr>
          </a:p>
        </p:txBody>
      </p:sp>
      <p:sp>
        <p:nvSpPr>
          <p:cNvPr id="78" name="Google Shape;78;p9"/>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INCLUSION: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Opioid Dependence Syndrome (ICD-11 / DSM-5 Moderate-Severe)</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Male | Age 18-50 years</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Inpatient for minimum 1 month | Detox completed (&gt;7 days)</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HIV status documented (ELISA confirmed)</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Literate | Informed consent given</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EXCLUSION: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Comorbid psychotic disorders | Intellectual disability (IQ&lt;70)</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Neurological disorders / TBI | HIV-associated dementia (HAD 3-4)</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Primary non-opioid dependence</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Prior emotion regulation training within 6 months</a:t>
            </a:r>
            <a:endParaRPr lang="en-US" sz="1300">
              <a:solidFill>
                <a:srgbClr val="555555"/>
              </a:solidFill>
              <a:latin typeface="Calibri"/>
              <a:ea typeface="Calibri"/>
              <a:cs typeface="Calibri"/>
              <a:sym typeface="Calibri"/>
            </a:endParaRPr>
          </a:p>
        </p:txBody>
      </p:sp>
      <p:sp>
        <p:nvSpPr>
          <p:cNvPr id="79" name="Google Shape;79;p9"/>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83" name="Shape 83"/>
        <p:cNvGrpSpPr/>
        <p:nvPr/>
      </p:nvGrpSpPr>
      <p:grpSpPr>
        <a:xfrm>
          <a:off x="0" y="0"/>
          <a:ext cx="0" cy="0"/>
          <a:chOff x="0" y="0"/>
          <a:chExt cx="0" cy="0"/>
        </a:xfrm>
      </p:grpSpPr>
      <p:sp>
        <p:nvSpPr>
          <p:cNvPr id="84" name="Google Shape;84;p10"/>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85" name="Google Shape;85;p10"/>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ASSESSMENT TOOLS</a:t>
            </a:r>
            <a:endParaRPr lang="en-US" sz="2200" b="1">
              <a:solidFill>
                <a:srgbClr val="FFFFFF"/>
              </a:solidFill>
              <a:latin typeface="Calibri"/>
              <a:ea typeface="Calibri"/>
              <a:cs typeface="Calibri"/>
              <a:sym typeface="Calibri"/>
            </a:endParaRPr>
          </a:p>
        </p:txBody>
      </p:sp>
      <p:sp>
        <p:nvSpPr>
          <p:cNvPr id="86" name="Google Shape;86;p10"/>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PRIMARY: TAS-20 (Toronto Alexithymia Scale-20)</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20 items, Likert 1-5, alpha=.81-.86, Hindi adaptation available</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PROJECTIVE:</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Rorschach Inkblot Test (Exner CS / R-PAS)</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Variables: Afr, FC:CF+C, WSumC, Blends, Lambda, SumShading</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TAT - SCORS-G Affective Quality dimension</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Cards: 1, 2, 3BM, 4, 6BM, 13MF, 14, 16</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SECONDARY:</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DERS (alpha=.93) | BDI-II (depression) | SDS (dependence severity)</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Sociodemographic &amp; Clinical Data Sheet</a:t>
            </a:r>
            <a:endParaRPr lang="en-US" sz="1300">
              <a:solidFill>
                <a:srgbClr val="555555"/>
              </a:solidFill>
              <a:latin typeface="Calibri"/>
              <a:ea typeface="Calibri"/>
              <a:cs typeface="Calibri"/>
              <a:sym typeface="Calibri"/>
            </a:endParaRPr>
          </a:p>
        </p:txBody>
      </p:sp>
      <p:sp>
        <p:nvSpPr>
          <p:cNvPr id="87" name="Google Shape;87;p10"/>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91" name="Shape 91"/>
        <p:cNvGrpSpPr/>
        <p:nvPr/>
      </p:nvGrpSpPr>
      <p:grpSpPr>
        <a:xfrm>
          <a:off x="0" y="0"/>
          <a:ext cx="0" cy="0"/>
          <a:chOff x="0" y="0"/>
          <a:chExt cx="0" cy="0"/>
        </a:xfrm>
      </p:grpSpPr>
      <p:sp>
        <p:nvSpPr>
          <p:cNvPr id="92" name="Google Shape;92;p11"/>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93" name="Google Shape;93;p11"/>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INTERVENTION: EFST (8 Sessions)</a:t>
            </a:r>
            <a:endParaRPr lang="en-US" sz="2200" b="1">
              <a:solidFill>
                <a:srgbClr val="FFFFFF"/>
              </a:solidFill>
              <a:latin typeface="Calibri"/>
              <a:ea typeface="Calibri"/>
              <a:cs typeface="Calibri"/>
              <a:sym typeface="Calibri"/>
            </a:endParaRPr>
          </a:p>
        </p:txBody>
      </p:sp>
      <p:sp>
        <p:nvSpPr>
          <p:cNvPr id="94" name="Google Shape;94;p11"/>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Format: 8 sessions | 2x per week | 4 weeks | 60 min | Individual</a:t>
            </a:r>
            <a:endParaRPr lang="en-US" sz="1400">
              <a:solidFill>
                <a:srgbClr val="333333"/>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Session 1: Psychoeducation - What are Emotions?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Session 2: Body-Emotion Connection (interoceptive awareness)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Session 3: Emotion Vocabulary Building</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Session 4: Identifying Feelings in Daily Life</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Session 5: Describing Feelings to Others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Session 6: Understanding Others Emotions (empathy skills)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Session 7: Emotions and the Addiction Cycle</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Session 8: Integration and Maintenance Planning</a:t>
            </a:r>
            <a:endParaRPr lang="en-US" sz="1400">
              <a:solidFill>
                <a:srgbClr val="333333"/>
              </a:solidFill>
              <a:latin typeface="Calibri"/>
              <a:ea typeface="Calibri"/>
              <a:cs typeface="Calibri"/>
              <a:sym typeface="Calibri"/>
            </a:endParaRPr>
          </a:p>
        </p:txBody>
      </p:sp>
      <p:sp>
        <p:nvSpPr>
          <p:cNvPr id="95" name="Google Shape;95;p11"/>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99" name="Shape 99"/>
        <p:cNvGrpSpPr/>
        <p:nvPr/>
      </p:nvGrpSpPr>
      <p:grpSpPr>
        <a:xfrm>
          <a:off x="0" y="0"/>
          <a:ext cx="0" cy="0"/>
          <a:chOff x="0" y="0"/>
          <a:chExt cx="0" cy="0"/>
        </a:xfrm>
      </p:grpSpPr>
      <p:sp>
        <p:nvSpPr>
          <p:cNvPr id="100" name="Google Shape;100;p12"/>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101" name="Google Shape;101;p12"/>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PROCEDURE</a:t>
            </a:r>
            <a:endParaRPr lang="en-US" sz="2200" b="1">
              <a:solidFill>
                <a:srgbClr val="FFFFFF"/>
              </a:solidFill>
              <a:latin typeface="Calibri"/>
              <a:ea typeface="Calibri"/>
              <a:cs typeface="Calibri"/>
              <a:sym typeface="Calibri"/>
            </a:endParaRPr>
          </a:p>
        </p:txBody>
      </p:sp>
      <p:sp>
        <p:nvSpPr>
          <p:cNvPr id="102" name="Google Shape;102;p12"/>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Phase 1 (Days 7-10): Screening, enrollment, consent, HIV confirmation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Phase 2 (Days 8-12): PRE-TEST</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Administer TAS-20, DERS, BDI-II, SDS, Rorschach, TAT</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Phase 3 (Weeks 2-3): INTERVENTION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Deliver 8 EFST sessions to both groups (same protocol)</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Phase 4 (Days 25-28): POST-TEST</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Re-administer full assessment battery</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Phase 5: Scoring, inter-rater reliability, statistical analysis</a:t>
            </a:r>
            <a:endParaRPr lang="en-US" sz="1400">
              <a:solidFill>
                <a:srgbClr val="333333"/>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Both groups receive standard de-addiction treatment throughout</a:t>
            </a:r>
            <a:endParaRPr lang="en-US" sz="1400">
              <a:solidFill>
                <a:srgbClr val="333333"/>
              </a:solidFill>
              <a:latin typeface="Calibri"/>
              <a:ea typeface="Calibri"/>
              <a:cs typeface="Calibri"/>
              <a:sym typeface="Calibri"/>
            </a:endParaRPr>
          </a:p>
        </p:txBody>
      </p:sp>
      <p:sp>
        <p:nvSpPr>
          <p:cNvPr id="103" name="Google Shape;103;p12"/>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14"/>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109" name="Google Shape;109;p14"/>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THEORETICAL FRAMEWORK</a:t>
            </a:r>
            <a:endParaRPr lang="en-US" sz="2200" b="1">
              <a:solidFill>
                <a:srgbClr val="FFFFFF"/>
              </a:solidFill>
              <a:latin typeface="Calibri"/>
              <a:ea typeface="Calibri"/>
              <a:cs typeface="Calibri"/>
              <a:sym typeface="Calibri"/>
            </a:endParaRPr>
          </a:p>
        </p:txBody>
      </p:sp>
      <p:sp>
        <p:nvSpPr>
          <p:cNvPr id="110" name="Google Shape;110;p14"/>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1. Khantzians Self-Medication Hypothesis (1985, 1997)</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Addiction = self-regulation disorder; opioids manage undifferentiated affect</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Reducing alexithymia reduces need for chemical regulation</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2. Lane and Schwartz Levels of Emotional Awareness (1987)</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5 levels: body sensations to complex differentiated emotions</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EFST targets progressive movement through these levels</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3. HIV-Opioid Synergistic Neurotoxicity Model</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Both damage prefrontal/insula/ACC emotional processing circuits</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Predicts additive impairment in comorbid (HIV+) group</a:t>
            </a:r>
            <a:endParaRPr lang="en-US" sz="1300">
              <a:solidFill>
                <a:srgbClr val="555555"/>
              </a:solidFill>
              <a:latin typeface="Calibri"/>
              <a:ea typeface="Calibri"/>
              <a:cs typeface="Calibri"/>
              <a:sym typeface="Calibri"/>
            </a:endParaRPr>
          </a:p>
        </p:txBody>
      </p:sp>
      <p:sp>
        <p:nvSpPr>
          <p:cNvPr id="111" name="Google Shape;111;p14"/>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15" name="Shape 115"/>
        <p:cNvGrpSpPr/>
        <p:nvPr/>
      </p:nvGrpSpPr>
      <p:grpSpPr>
        <a:xfrm>
          <a:off x="0" y="0"/>
          <a:ext cx="0" cy="0"/>
          <a:chOff x="0" y="0"/>
          <a:chExt cx="0" cy="0"/>
        </a:xfrm>
      </p:grpSpPr>
      <p:sp>
        <p:nvSpPr>
          <p:cNvPr id="116" name="Google Shape;116;p17"/>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117" name="Google Shape;117;p17"/>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SIGNIFICANCE OF THE STUDY</a:t>
            </a:r>
            <a:endParaRPr lang="en-US" sz="2200" b="1">
              <a:solidFill>
                <a:srgbClr val="FFFFFF"/>
              </a:solidFill>
              <a:latin typeface="Calibri"/>
              <a:ea typeface="Calibri"/>
              <a:cs typeface="Calibri"/>
              <a:sym typeface="Calibri"/>
            </a:endParaRPr>
          </a:p>
        </p:txBody>
      </p:sp>
      <p:sp>
        <p:nvSpPr>
          <p:cNvPr id="118" name="Google Shape;118;p17"/>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CLINICAL:</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EFST can be integrated into standard 1-month de-addiction programmes</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Personalised intervention based on HIV status</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Improved emotional processing may reduce relapse risk</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ACADEMIC:</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First HIV-stratified alexithymia intervention study</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First multi-method (psychometric + projective) assessment in this population</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Pilot data for future RCT</a:t>
            </a:r>
            <a:endParaRPr lang="en-US" sz="1300">
              <a:solidFill>
                <a:srgbClr val="555555"/>
              </a:solidFill>
              <a:latin typeface="Calibri"/>
              <a:ea typeface="Calibri"/>
              <a:cs typeface="Calibri"/>
              <a:sym typeface="Calibri"/>
            </a:endParaRPr>
          </a:p>
          <a:p>
            <a:pPr marL="0" marR="0" lvl="0" indent="0" algn="l" rtl="0">
              <a:spcBef>
                <a:spcPts val="200"/>
              </a:spcBef>
              <a:spcAft>
                <a:spcPts val="0"/>
              </a:spcAft>
              <a:buNone/>
            </a:pPr>
            <a:endParaRPr sz="1800"/>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INDIAN CONTEXT:</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Addresses neglected psychological dimension of Indias opioid-HIV epidemic</a:t>
            </a:r>
            <a:endParaRPr lang="en-US" sz="1300">
              <a:solidFill>
                <a:srgbClr val="555555"/>
              </a:solidFill>
              <a:latin typeface="Calibri"/>
              <a:ea typeface="Calibri"/>
              <a:cs typeface="Calibri"/>
              <a:sym typeface="Calibri"/>
            </a:endParaRPr>
          </a:p>
          <a:p>
            <a:pPr marL="457200" marR="0" lvl="0" indent="-228600" algn="l" rtl="0">
              <a:spcBef>
                <a:spcPts val="400"/>
              </a:spcBef>
              <a:spcAft>
                <a:spcPts val="0"/>
              </a:spcAft>
              <a:buClr>
                <a:srgbClr val="555555"/>
              </a:buClr>
              <a:buSzPts val="1300"/>
              <a:buFont typeface="Calibri"/>
              <a:buChar char="•"/>
            </a:pPr>
            <a:r>
              <a:rPr lang="en-US" sz="1300">
                <a:solidFill>
                  <a:srgbClr val="555555"/>
                </a:solidFill>
                <a:latin typeface="Calibri"/>
                <a:ea typeface="Calibri"/>
                <a:cs typeface="Calibri"/>
                <a:sym typeface="Calibri"/>
              </a:rPr>
              <a:t>Low-cost, implementable in resource-limited de-addiction settings</a:t>
            </a:r>
            <a:endParaRPr lang="en-US" sz="1300">
              <a:solidFill>
                <a:srgbClr val="555555"/>
              </a:solidFill>
              <a:latin typeface="Calibri"/>
              <a:ea typeface="Calibri"/>
              <a:cs typeface="Calibri"/>
              <a:sym typeface="Calibri"/>
            </a:endParaRPr>
          </a:p>
        </p:txBody>
      </p:sp>
      <p:sp>
        <p:nvSpPr>
          <p:cNvPr id="119" name="Google Shape;119;p17"/>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23" name="Shape 123"/>
        <p:cNvGrpSpPr/>
        <p:nvPr/>
      </p:nvGrpSpPr>
      <p:grpSpPr>
        <a:xfrm>
          <a:off x="0" y="0"/>
          <a:ext cx="0" cy="0"/>
          <a:chOff x="0" y="0"/>
          <a:chExt cx="0" cy="0"/>
        </a:xfrm>
      </p:grpSpPr>
      <p:sp>
        <p:nvSpPr>
          <p:cNvPr id="124" name="Google Shape;124;p18"/>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125" name="Google Shape;125;p18"/>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LIMITATIONS</a:t>
            </a:r>
            <a:endParaRPr lang="en-US" sz="2200" b="1">
              <a:solidFill>
                <a:srgbClr val="FFFFFF"/>
              </a:solidFill>
              <a:latin typeface="Calibri"/>
              <a:ea typeface="Calibri"/>
              <a:cs typeface="Calibri"/>
              <a:sym typeface="Calibri"/>
            </a:endParaRPr>
          </a:p>
        </p:txBody>
      </p:sp>
      <p:sp>
        <p:nvSpPr>
          <p:cNvPr id="126" name="Google Shape;126;p18"/>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No true no-intervention control group (ethical consideration)</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Small sample (N=60) - appropriate for pilot but limits generalisability</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Short intervention (8 sessions / 4 weeks)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No follow-up assessment post-discharge</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Medication confounds (OST, ART, psychotropics)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Male-only sample; purposive sampling</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Rorschach/TAT retest within 4 weeks (practice effects possible)</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Single-centre design</a:t>
            </a:r>
            <a:endParaRPr lang="en-US" sz="1400">
              <a:solidFill>
                <a:srgbClr val="333333"/>
              </a:solidFill>
              <a:latin typeface="Calibri"/>
              <a:ea typeface="Calibri"/>
              <a:cs typeface="Calibri"/>
              <a:sym typeface="Calibri"/>
            </a:endParaRPr>
          </a:p>
        </p:txBody>
      </p:sp>
      <p:sp>
        <p:nvSpPr>
          <p:cNvPr id="127" name="Google Shape;127;p18"/>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128" name="Google Shape;128;p18"/>
          <p:cNvSpPr txBox="1"/>
          <p:nvPr/>
        </p:nvSpPr>
        <p:spPr>
          <a:xfrm>
            <a:off x="0" y="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32" name="Shape 132"/>
        <p:cNvGrpSpPr/>
        <p:nvPr/>
      </p:nvGrpSpPr>
      <p:grpSpPr>
        <a:xfrm>
          <a:off x="0" y="0"/>
          <a:ext cx="0" cy="0"/>
          <a:chOff x="0" y="0"/>
          <a:chExt cx="0" cy="0"/>
        </a:xfrm>
      </p:grpSpPr>
      <p:sp>
        <p:nvSpPr>
          <p:cNvPr id="133" name="Google Shape;133;p20"/>
          <p:cNvSpPr/>
          <p:nvPr/>
        </p:nvSpPr>
        <p:spPr>
          <a:xfrm>
            <a:off x="0" y="0"/>
            <a:ext cx="12192000" cy="720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134" name="Google Shape;134;p20"/>
          <p:cNvSpPr txBox="1"/>
          <p:nvPr/>
        </p:nvSpPr>
        <p:spPr>
          <a:xfrm>
            <a:off x="360000" y="72000"/>
            <a:ext cx="11472000" cy="576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2200" b="1">
                <a:solidFill>
                  <a:srgbClr val="FFFFFF"/>
                </a:solidFill>
                <a:latin typeface="Calibri"/>
                <a:ea typeface="Calibri"/>
                <a:cs typeface="Calibri"/>
                <a:sym typeface="Calibri"/>
              </a:rPr>
              <a:t>KEY REFERENCES</a:t>
            </a:r>
            <a:endParaRPr lang="en-US" sz="2200" b="1">
              <a:solidFill>
                <a:srgbClr val="FFFFFF"/>
              </a:solidFill>
              <a:latin typeface="Calibri"/>
              <a:ea typeface="Calibri"/>
              <a:cs typeface="Calibri"/>
              <a:sym typeface="Calibri"/>
            </a:endParaRPr>
          </a:p>
        </p:txBody>
      </p:sp>
      <p:sp>
        <p:nvSpPr>
          <p:cNvPr id="135" name="Google Shape;135;p20"/>
          <p:cNvSpPr txBox="1"/>
          <p:nvPr/>
        </p:nvSpPr>
        <p:spPr>
          <a:xfrm>
            <a:off x="540000" y="1007999"/>
            <a:ext cx="11112000" cy="5418000"/>
          </a:xfrm>
          <a:prstGeom prst="rect">
            <a:avLst/>
          </a:prstGeom>
          <a:noFill/>
          <a:ln>
            <a:noFill/>
          </a:ln>
        </p:spPr>
        <p:txBody>
          <a:bodyPr spcFirstLastPara="1" wrap="square" lIns="91425" tIns="45700" rIns="91425" bIns="45700" anchor="t" anchorCtr="0">
            <a:noAutofit/>
          </a:bodyPr>
          <a:lstStyle/>
          <a:p>
            <a:pPr marL="457200" marR="0" lvl="0" indent="-228600" algn="l" rtl="0">
              <a:spcBef>
                <a:spcPts val="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Bagby, Parker &amp; Taylor (1994, 2020) - TAS-20 development &amp; review</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Khantzian (1997) - Self-medication hypothesis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Lane &amp; Schwartz (1987) - Levels of emotional awareness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Tull et al. (2013) - Alexithymia &amp; dysfunction in HIV</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Berger et al. (2015) - Alexithymia &amp; HIV psychosocial functioning</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Ferrari et al. (2016) - Emotion recognition in heroin addicts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Porcelli &amp; Mihura (2010) - Rorschach Alexithymia Scale</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Hosseinzadeh Zoroufchi et al. (2018) - Alexithymia in opioid males</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Gratz &amp; Roemer (2004) - DERS development</a:t>
            </a:r>
            <a:endParaRPr lang="en-US" sz="1400">
              <a:solidFill>
                <a:srgbClr val="333333"/>
              </a:solidFill>
              <a:latin typeface="Calibri"/>
              <a:ea typeface="Calibri"/>
              <a:cs typeface="Calibri"/>
              <a:sym typeface="Calibri"/>
            </a:endParaRPr>
          </a:p>
          <a:p>
            <a:pPr marL="457200" marR="0" lvl="0" indent="-228600" algn="l" rtl="0">
              <a:spcBef>
                <a:spcPts val="400"/>
              </a:spcBef>
              <a:spcAft>
                <a:spcPts val="0"/>
              </a:spcAft>
              <a:buClr>
                <a:srgbClr val="333333"/>
              </a:buClr>
              <a:buSzPts val="1400"/>
              <a:buFont typeface="Calibri"/>
              <a:buChar char="•"/>
            </a:pPr>
            <a:r>
              <a:rPr lang="en-US" sz="1400">
                <a:solidFill>
                  <a:srgbClr val="333333"/>
                </a:solidFill>
                <a:latin typeface="Calibri"/>
                <a:ea typeface="Calibri"/>
                <a:cs typeface="Calibri"/>
                <a:sym typeface="Calibri"/>
              </a:rPr>
              <a:t>Sifneos (1973) - Original alexithymia construct</a:t>
            </a:r>
            <a:endParaRPr lang="en-US" sz="1400">
              <a:solidFill>
                <a:srgbClr val="333333"/>
              </a:solidFill>
              <a:latin typeface="Calibri"/>
              <a:ea typeface="Calibri"/>
              <a:cs typeface="Calibri"/>
              <a:sym typeface="Calibri"/>
            </a:endParaRPr>
          </a:p>
        </p:txBody>
      </p:sp>
      <p:sp>
        <p:nvSpPr>
          <p:cNvPr id="136" name="Google Shape;136;p20"/>
          <p:cNvSpPr/>
          <p:nvPr/>
        </p:nvSpPr>
        <p:spPr>
          <a:xfrm>
            <a:off x="0" y="6768000"/>
            <a:ext cx="12192000" cy="90000"/>
          </a:xfrm>
          <a:prstGeom prst="rect">
            <a:avLst/>
          </a:prstGeom>
          <a:solidFill>
            <a:srgbClr val="FF980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40" name="Shape 140"/>
        <p:cNvGrpSpPr/>
        <p:nvPr/>
      </p:nvGrpSpPr>
      <p:grpSpPr>
        <a:xfrm>
          <a:off x="0" y="0"/>
          <a:ext cx="0" cy="0"/>
          <a:chOff x="0" y="0"/>
          <a:chExt cx="0" cy="0"/>
        </a:xfrm>
      </p:grpSpPr>
      <p:sp>
        <p:nvSpPr>
          <p:cNvPr id="141" name="Google Shape;141;p21"/>
          <p:cNvSpPr/>
          <p:nvPr/>
        </p:nvSpPr>
        <p:spPr>
          <a:xfrm>
            <a:off x="0" y="0"/>
            <a:ext cx="12192000" cy="6858000"/>
          </a:xfrm>
          <a:prstGeom prst="rect">
            <a:avLst/>
          </a:prstGeom>
          <a:solidFill>
            <a:srgbClr val="1A237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p>
        </p:txBody>
      </p:sp>
      <p:sp>
        <p:nvSpPr>
          <p:cNvPr id="142" name="Google Shape;142;p21"/>
          <p:cNvSpPr txBox="1"/>
          <p:nvPr/>
        </p:nvSpPr>
        <p:spPr>
          <a:xfrm>
            <a:off x="720000" y="1440000"/>
            <a:ext cx="10752000" cy="43200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4000" b="1">
                <a:solidFill>
                  <a:srgbClr val="FFFFFF"/>
                </a:solidFill>
                <a:latin typeface="Calibri"/>
                <a:ea typeface="Calibri"/>
                <a:cs typeface="Calibri"/>
                <a:sym typeface="Calibri"/>
              </a:rPr>
              <a:t>Thank You</a:t>
            </a:r>
            <a:endParaRPr lang="en-US" sz="4000" b="1">
              <a:solidFill>
                <a:srgbClr val="FFFFFF"/>
              </a:solidFill>
              <a:latin typeface="Calibri"/>
              <a:ea typeface="Calibri"/>
              <a:cs typeface="Calibri"/>
              <a:sym typeface="Calibri"/>
            </a:endParaRPr>
          </a:p>
          <a:p>
            <a:pPr marL="0" marR="0" lvl="0" indent="0" algn="ctr" rtl="0">
              <a:spcBef>
                <a:spcPts val="400"/>
              </a:spcBef>
              <a:spcAft>
                <a:spcPts val="0"/>
              </a:spcAft>
              <a:buNone/>
            </a:pPr>
            <a:endParaRPr sz="4000" b="1">
              <a:solidFill>
                <a:srgbClr val="FFFFFF"/>
              </a:solidFill>
              <a:latin typeface="Calibri"/>
              <a:ea typeface="Calibri"/>
              <a:cs typeface="Calibri"/>
              <a:sym typeface="Calibri"/>
            </a:endParaRPr>
          </a:p>
          <a:p>
            <a:pPr marL="0" marR="0" lvl="0" indent="0" algn="l" rtl="0">
              <a:spcBef>
                <a:spcPts val="200"/>
              </a:spcBef>
              <a:spcAft>
                <a:spcPts val="0"/>
              </a:spcAft>
              <a:buNone/>
            </a:pPr>
            <a:endParaRPr sz="2200">
              <a:solidFill>
                <a:srgbClr val="FFD54F"/>
              </a:solidFill>
              <a:latin typeface="Calibri"/>
              <a:ea typeface="Calibri"/>
              <a:cs typeface="Calibri"/>
              <a:sym typeface="Calibri"/>
            </a:endParaRPr>
          </a:p>
          <a:p>
            <a:pPr marL="0" marR="0" lvl="0" indent="0" algn="ctr" rtl="0">
              <a:spcBef>
                <a:spcPts val="400"/>
              </a:spcBef>
              <a:spcAft>
                <a:spcPts val="0"/>
              </a:spcAft>
              <a:buNone/>
            </a:pPr>
            <a:r>
              <a:rPr lang="en-US" sz="1600">
                <a:solidFill>
                  <a:srgbClr val="FFFFFF"/>
                </a:solidFill>
                <a:latin typeface="Calibri"/>
                <a:ea typeface="Calibri"/>
                <a:cs typeface="Calibri"/>
                <a:sym typeface="Calibri"/>
              </a:rPr>
              <a:t>Avani Shah</a:t>
            </a:r>
            <a:endParaRPr lang="en-US" sz="1600">
              <a:solidFill>
                <a:srgbClr val="FFFFFF"/>
              </a:solidFill>
              <a:latin typeface="Calibri"/>
              <a:ea typeface="Calibri"/>
              <a:cs typeface="Calibri"/>
              <a:sym typeface="Calibri"/>
            </a:endParaRPr>
          </a:p>
          <a:p>
            <a:pPr marL="0" marR="0" lvl="0" indent="0" algn="ctr" rtl="0">
              <a:spcBef>
                <a:spcPts val="200"/>
              </a:spcBef>
              <a:spcAft>
                <a:spcPts val="0"/>
              </a:spcAft>
              <a:buNone/>
            </a:pPr>
            <a:r>
              <a:rPr lang="en-US" sz="1400">
                <a:solidFill>
                  <a:srgbClr val="B0BEC5"/>
                </a:solidFill>
                <a:latin typeface="Calibri"/>
                <a:ea typeface="Calibri"/>
                <a:cs typeface="Calibri"/>
                <a:sym typeface="Calibri"/>
              </a:rPr>
              <a:t>MPhil Clinical Psychology</a:t>
            </a:r>
            <a:endParaRPr lang="en-US" sz="1400">
              <a:solidFill>
                <a:srgbClr val="B0BEC5"/>
              </a:solidFill>
              <a:latin typeface="Calibri"/>
              <a:ea typeface="Calibri"/>
              <a:cs typeface="Calibri"/>
              <a:sym typeface="Calibri"/>
            </a:endParaRPr>
          </a:p>
          <a:p>
            <a:pPr marL="0" marR="0" lvl="0" indent="0" algn="ctr" rtl="0">
              <a:spcBef>
                <a:spcPts val="200"/>
              </a:spcBef>
              <a:spcAft>
                <a:spcPts val="0"/>
              </a:spcAft>
              <a:buNone/>
            </a:pPr>
            <a:r>
              <a:rPr lang="en-US" sz="1300">
                <a:solidFill>
                  <a:srgbClr val="B0BEC5"/>
                </a:solidFill>
                <a:latin typeface="Calibri"/>
                <a:ea typeface="Calibri"/>
                <a:cs typeface="Calibri"/>
                <a:sym typeface="Calibri"/>
              </a:rPr>
              <a:t>Man College of Special Education and Psychological Studies, Guna</a:t>
            </a:r>
            <a:endParaRPr lang="en-US" sz="1300">
              <a:solidFill>
                <a:srgbClr val="B0BEC5"/>
              </a:solidFill>
              <a:latin typeface="Calibri"/>
              <a:ea typeface="Calibri"/>
              <a:cs typeface="Calibri"/>
              <a:sym typeface="Calibri"/>
            </a:endParaRPr>
          </a:p>
          <a:p>
            <a:pPr marL="0" marR="0" lvl="0" indent="0" algn="ctr" rtl="0">
              <a:spcBef>
                <a:spcPts val="200"/>
              </a:spcBef>
              <a:spcAft>
                <a:spcPts val="0"/>
              </a:spcAft>
              <a:buNone/>
            </a:pPr>
            <a:r>
              <a:rPr lang="en-US" sz="1300">
                <a:solidFill>
                  <a:srgbClr val="B0BEC5"/>
                </a:solidFill>
                <a:latin typeface="Calibri"/>
                <a:ea typeface="Calibri"/>
                <a:cs typeface="Calibri"/>
                <a:sym typeface="Calibri"/>
              </a:rPr>
              <a:t>Guide: Dr. Vasudha Singh</a:t>
            </a:r>
            <a:endParaRPr lang="en-US" sz="1300">
              <a:solidFill>
                <a:srgbClr val="B0BEC5"/>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Custom">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7662</Words>
  <Application>WPS Presentation</Application>
  <PresentationFormat/>
  <Paragraphs>208</Paragraphs>
  <Slides>20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20</vt:i4>
      </vt:variant>
    </vt:vector>
  </HeadingPairs>
  <TitlesOfParts>
    <vt:vector size="31" baseType="lpstr">
      <vt:lpstr>Arial</vt:lpstr>
      <vt:lpstr>SimSun</vt:lpstr>
      <vt:lpstr>Wingdings</vt:lpstr>
      <vt:lpstr>Arial</vt:lpstr>
      <vt:lpstr>Calibri</vt:lpstr>
      <vt:lpstr>Helvetica Neue</vt:lpstr>
      <vt:lpstr>Microsoft YaHei</vt:lpstr>
      <vt:lpstr>汉仪旗黑</vt:lpstr>
      <vt:lpstr>Arial Unicode MS</vt:lpstr>
      <vt:lpstr>宋体-简</vt:lpstr>
      <vt:lpstr>Custom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Vasudha Singh</cp:lastModifiedBy>
  <cp:revision>2</cp:revision>
  <dcterms:created xsi:type="dcterms:W3CDTF">2026-07-09T12:16:11Z</dcterms:created>
  <dcterms:modified xsi:type="dcterms:W3CDTF">2026-07-09T12:16:11Z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1033-12.1.25897.25897</vt:lpwstr>
  </property>
  <property fmtid="{D5CDD505-2E9C-101B-9397-08002B2CF9AE}" pid="3" name="ICV">
    <vt:lpwstr>9D3FAB4E8F9F1FA20B914F6AFAB05AC3_43</vt:lpwstr>
  </property>
</Properties>
</file>