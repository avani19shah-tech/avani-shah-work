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
<Relationship Id="rIdM" Type="http://schemas.openxmlformats.org/officeDocument/2006/relationships/slideMaster" Target="slideMasters/slideMaster1.xml"/>
<Relationship Id="rIdT" Type="http://schemas.openxmlformats.org/officeDocument/2006/relationships/theme" Target="theme/theme1.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T"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3"/>
          <p:cNvSpPr txBox="1"/>
          <p:nvPr/>
        </p:nvSpPr>
        <p:spPr>
          <a:xfrm>
            <a:off x="640080" y="1500000"/>
            <a:ext cx="10911840" cy="1500000"/>
          </a:xfrm>
          <a:prstGeom prst="rect">
            <a:avLst/>
          </a:prstGeom>
          <a:noFill/>
        </p:spPr>
        <p:txBody>
          <a:bodyPr wrap="square" rtlCol="0" anchor="t">
            <a:normAutofit/>
          </a:bodyPr>
          <a:p>
            <a:pPr lvl="0" algn="l">
              <a:lnSpc>
                <a:spcPct val="110000"/>
              </a:lnSpc>
              <a:spcAft>
                <a:spcPts val="0"/>
              </a:spcAft>
              <a:buNone/>
            </a:pPr>
            <a:r>
              <a:rPr lang="en-US" sz="2800" b="1" i="0" u="sng" dirty="0">
                <a:solidFill>
                  <a:srgbClr val="000000"/>
                </a:solidFill>
                <a:latin typeface="Times New Roman"/>
                <a:cs typeface="Times New Roman"/>
              </a:rPr>
              <a:t>Validating the Effectiveness of a Gottman Method Couples Therapy Intervention, the Trust Revival Method, for Affair Recovery: A Randomized Control Trial</a:t>
            </a:r>
          </a:p>
        </p:txBody>
      </p:sp>
      <p:sp>
        <p:nvSpPr>
          <p:cNvPr id="5" name="TextBox 5"/>
          <p:cNvSpPr txBox="1"/>
          <p:nvPr/>
        </p:nvSpPr>
        <p:spPr>
          <a:xfrm>
            <a:off x="640080" y="3150000"/>
            <a:ext cx="10911840" cy="36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Journal Club Presentation</a:t>
            </a:r>
          </a:p>
        </p:txBody>
      </p:sp>
      <p:sp>
        <p:nvSpPr>
          <p:cNvPr id="6" name="TextBox 6"/>
          <p:cNvSpPr txBox="1"/>
          <p:nvPr/>
        </p:nvSpPr>
        <p:spPr>
          <a:xfrm>
            <a:off x="640080" y="4050000"/>
            <a:ext cx="10911840" cy="500000"/>
          </a:xfrm>
          <a:prstGeom prst="rect">
            <a:avLst/>
          </a:prstGeom>
          <a:noFill/>
        </p:spPr>
        <p:txBody>
          <a:bodyPr wrap="square" rtlCol="0" anchor="t">
            <a:normAutofit/>
          </a:bodyPr>
          <a:p>
            <a:pPr lvl="0" algn="l">
              <a:spcAft>
                <a:spcPts val="200"/>
              </a:spcAft>
              <a:buNone/>
            </a:pPr>
            <a:r>
              <a:rPr lang="en-US" sz="1400" b="1" i="0" u="none" dirty="0">
                <a:solidFill>
                  <a:srgbClr val="000000"/>
                </a:solidFill>
                <a:latin typeface="Times New Roman"/>
                <a:cs typeface="Times New Roman"/>
              </a:rPr>
              <a:t>Original Study: </a:t>
            </a:r>
            <a:r>
              <a:rPr lang="en-US" sz="1400" b="0" i="0" u="none" dirty="0">
                <a:solidFill>
                  <a:srgbClr val="000000"/>
                </a:solidFill>
                <a:latin typeface="Times New Roman"/>
                <a:cs typeface="Times New Roman"/>
              </a:rPr>
              <a:t>Irvine, T. J. (2022). Doctoral dissertation, Florida Atlantic University. Dissertation Advisor: Dr. Paul R. Peluso.</a:t>
            </a:r>
          </a:p>
        </p:txBody>
      </p:sp>
      <p:sp>
        <p:nvSpPr>
          <p:cNvPr id="7" name="TextBox 7"/>
          <p:cNvSpPr txBox="1"/>
          <p:nvPr/>
        </p:nvSpPr>
        <p:spPr>
          <a:xfrm>
            <a:off x="640080" y="4700000"/>
            <a:ext cx="10911840" cy="900000"/>
          </a:xfrm>
          <a:prstGeom prst="rect">
            <a:avLst/>
          </a:prstGeom>
          <a:noFill/>
        </p:spPr>
        <p:txBody>
          <a:bodyPr wrap="square" rtlCol="0" anchor="t">
            <a:normAutofit/>
          </a:bodyPr>
          <a:p>
            <a:pPr lvl="0" algn="l">
              <a:spcAft>
                <a:spcPts val="100"/>
              </a:spcAft>
              <a:buNone/>
            </a:pPr>
            <a:r>
              <a:rPr lang="en-US" sz="1400" b="1" i="0" u="none" dirty="0">
                <a:solidFill>
                  <a:srgbClr val="000000"/>
                </a:solidFill>
                <a:latin typeface="Times New Roman"/>
                <a:cs typeface="Times New Roman"/>
              </a:rPr>
              <a:t>Presented by:</a:t>
            </a:r>
          </a:p>
          <a:p>
            <a:pPr lvl="0" algn="l">
              <a:spcAft>
                <a:spcPts val="200"/>
              </a:spcAft>
              <a:buNone/>
            </a:pPr>
            <a:r>
              <a:rPr lang="en-US" sz="1400" b="0" i="0" u="none" dirty="0">
                <a:solidFill>
                  <a:srgbClr val="000000"/>
                </a:solidFill>
                <a:latin typeface="Times New Roman"/>
                <a:cs typeface="Times New Roman"/>
              </a:rPr>
              <a:t>[Your Name], M.Phil. Clinical Psychology Trainee</a:t>
            </a:r>
          </a:p>
          <a:p>
            <a:pPr lvl="0" algn="l">
              <a:spcAft>
                <a:spcPts val="100"/>
              </a:spcAft>
              <a:buNone/>
            </a:pPr>
            <a:r>
              <a:rPr lang="en-US" sz="1400" b="1" i="0" u="none" dirty="0">
                <a:solidFill>
                  <a:srgbClr val="000000"/>
                </a:solidFill>
                <a:latin typeface="Times New Roman"/>
                <a:cs typeface="Times New Roman"/>
              </a:rPr>
              <a:t>Supervised by:</a:t>
            </a:r>
          </a:p>
          <a:p>
            <a:pPr lvl="0" algn="l">
              <a:spcAft>
                <a:spcPts val="0"/>
              </a:spcAft>
              <a:buNone/>
            </a:pPr>
            <a:r>
              <a:rPr lang="en-US" sz="1400" b="0" i="0" u="none" dirty="0">
                <a:solidFill>
                  <a:srgbClr val="000000"/>
                </a:solidFill>
                <a:latin typeface="Times New Roman"/>
                <a:cs typeface="Times New Roman"/>
              </a:rPr>
              <a:t>[Supervisor Name], Department of Clinical Psychology</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Paper at a glance</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02</a:t>
            </a:r>
          </a:p>
        </p:txBody>
      </p:sp>
      <p:sp>
        <p:nvSpPr>
          <p:cNvPr id="30" name="RoundRect 30"/>
          <p:cNvSpPr/>
          <p:nvPr/>
        </p:nvSpPr>
        <p:spPr>
          <a:xfrm>
            <a:off x="640080" y="1150000"/>
            <a:ext cx="6900000" cy="4650000"/>
          </a:xfrm>
          <a:prstGeom prst="roundRect">
            <a:avLst>
              <a:gd name="adj" fmla="val 6000"/>
            </a:avLst>
          </a:prstGeom>
          <a:solidFill>
            <a:srgbClr val="F2F2F2"/>
          </a:solidFill>
          <a:ln w="12700">
            <a:solidFill>
              <a:srgbClr val="BFBFBF"/>
            </a:solidFill>
          </a:ln>
        </p:spPr>
        <p:txBody>
          <a:bodyPr/>
          <a:p>
            <a:endParaRPr lang="en-US"/>
          </a:p>
        </p:txBody>
      </p:sp>
      <p:sp>
        <p:nvSpPr>
          <p:cNvPr id="31" name="TextBox 31"/>
          <p:cNvSpPr txBox="1"/>
          <p:nvPr/>
        </p:nvSpPr>
        <p:spPr>
          <a:xfrm>
            <a:off x="910080" y="1350000"/>
            <a:ext cx="6400000" cy="340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Irvine, T. J. &amp; Peluso, P. R. (2022)</a:t>
            </a:r>
          </a:p>
          <a:p>
            <a:pPr lvl="0" algn="l">
              <a:lnSpc>
                <a:spcPct val="120000"/>
              </a:lnSpc>
              <a:spcAft>
                <a:spcPts val="300"/>
              </a:spcAft>
              <a:buNone/>
            </a:pPr>
            <a:r>
              <a:rPr lang="en-US" sz="1400" b="0" i="0" u="none" dirty="0">
                <a:solidFill>
                  <a:srgbClr val="000000"/>
                </a:solidFill>
                <a:latin typeface="Times New Roman"/>
                <a:cs typeface="Times New Roman"/>
              </a:rPr>
              <a:t>Validating the Effectiveness of a Gottman Method Couples Therapy Intervention, the Trust Revival Method, for Affair Recovery: A Randomized Control Trial</a:t>
            </a:r>
          </a:p>
          <a:p>
            <a:pPr lvl="0" algn="l">
              <a:spcAft>
                <a:spcPts val="150"/>
              </a:spcAft>
              <a:buNone/>
            </a:pPr>
            <a:r>
              <a:rPr lang="en-US" sz="1400" b="1" i="0" u="none" dirty="0">
                <a:solidFill>
                  <a:srgbClr val="000000"/>
                </a:solidFill>
                <a:latin typeface="Times New Roman"/>
                <a:cs typeface="Times New Roman"/>
              </a:rPr>
              <a:t>Source: </a:t>
            </a:r>
            <a:r>
              <a:rPr lang="en-US" sz="1400" b="0" i="0" u="none" dirty="0">
                <a:solidFill>
                  <a:srgbClr val="000000"/>
                </a:solidFill>
                <a:latin typeface="Times New Roman"/>
                <a:cs typeface="Times New Roman"/>
              </a:rPr>
              <a:t>Doctoral Dissertation, Florida Atlantic University (2022)</a:t>
            </a:r>
          </a:p>
          <a:p>
            <a:pPr lvl="0" algn="l">
              <a:spcAft>
                <a:spcPts val="150"/>
              </a:spcAft>
              <a:buNone/>
            </a:pPr>
            <a:r>
              <a:rPr lang="en-US" sz="1400" b="1" i="0" u="none" dirty="0">
                <a:solidFill>
                  <a:srgbClr val="000000"/>
                </a:solidFill>
                <a:latin typeface="Times New Roman"/>
                <a:cs typeface="Times New Roman"/>
              </a:rPr>
              <a:t>Design: </a:t>
            </a:r>
            <a:r>
              <a:rPr lang="en-US" sz="1400" b="0" i="0" u="none" dirty="0">
                <a:solidFill>
                  <a:srgbClr val="000000"/>
                </a:solidFill>
                <a:latin typeface="Times New Roman"/>
                <a:cs typeface="Times New Roman"/>
              </a:rPr>
              <a:t>International randomized control waitlist trial (RCT)</a:t>
            </a:r>
          </a:p>
          <a:p>
            <a:pPr lvl="0" algn="l">
              <a:spcAft>
                <a:spcPts val="0"/>
              </a:spcAft>
              <a:buNone/>
            </a:pPr>
            <a:r>
              <a:rPr lang="en-US" sz="1400" b="1" i="0" u="none" dirty="0">
                <a:solidFill>
                  <a:srgbClr val="000000"/>
                </a:solidFill>
                <a:latin typeface="Times New Roman"/>
                <a:cs typeface="Times New Roman"/>
              </a:rPr>
              <a:t>Committee incl.: </a:t>
            </a:r>
            <a:r>
              <a:rPr lang="en-US" sz="1400" b="0" i="0" u="none" dirty="0">
                <a:solidFill>
                  <a:srgbClr val="000000"/>
                </a:solidFill>
                <a:latin typeface="Times New Roman"/>
                <a:cs typeface="Times New Roman"/>
              </a:rPr>
              <a:t>Dr. John M. Gottman</a:t>
            </a:r>
          </a:p>
        </p:txBody>
      </p:sp>
      <p:sp>
        <p:nvSpPr>
          <p:cNvPr id="32" name="RoundRect 32"/>
          <p:cNvSpPr/>
          <p:nvPr/>
        </p:nvSpPr>
        <p:spPr>
          <a:xfrm>
            <a:off x="7750000" y="1150000"/>
            <a:ext cx="3800000" cy="4650000"/>
          </a:xfrm>
          <a:prstGeom prst="roundRect">
            <a:avLst>
              <a:gd name="adj" fmla="val 6000"/>
            </a:avLst>
          </a:prstGeom>
          <a:solidFill>
            <a:srgbClr val="F2F2F2"/>
          </a:solidFill>
          <a:ln w="12700">
            <a:solidFill>
              <a:srgbClr val="BFBFBF"/>
            </a:solidFill>
          </a:ln>
        </p:spPr>
        <p:txBody>
          <a:bodyPr/>
          <a:p>
            <a:endParaRPr lang="en-US"/>
          </a:p>
        </p:txBody>
      </p:sp>
      <p:sp>
        <p:nvSpPr>
          <p:cNvPr id="33" name="Sub 33"/>
          <p:cNvSpPr txBox="1"/>
          <p:nvPr/>
        </p:nvSpPr>
        <p:spPr>
          <a:xfrm>
            <a:off x="8020000" y="1350000"/>
            <a:ext cx="335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The Research Question</a:t>
            </a:r>
          </a:p>
        </p:txBody>
      </p:sp>
      <p:sp>
        <p:nvSpPr>
          <p:cNvPr id="34" name="TextBox 34"/>
          <p:cNvSpPr txBox="1"/>
          <p:nvPr/>
        </p:nvSpPr>
        <p:spPr>
          <a:xfrm>
            <a:off x="8020000" y="1820000"/>
            <a:ext cx="3300000" cy="3800000"/>
          </a:xfrm>
          <a:prstGeom prst="rect">
            <a:avLst/>
          </a:prstGeom>
          <a:noFill/>
        </p:spPr>
        <p:txBody>
          <a:bodyPr wrap="square" rtlCol="0" anchor="t">
            <a:normAutofit/>
          </a:bodyPr>
          <a:p>
            <a:pPr lvl="0" algn="l">
              <a:lnSpc>
                <a:spcPct val="130000"/>
              </a:lnSpc>
              <a:spcAft>
                <a:spcPts val="0"/>
              </a:spcAft>
              <a:buNone/>
            </a:pPr>
            <a:r>
              <a:rPr lang="en-US" sz="1400" b="0" i="0" u="none" dirty="0">
                <a:solidFill>
                  <a:srgbClr val="000000"/>
                </a:solidFill>
                <a:latin typeface="Times New Roman"/>
                <a:cs typeface="Times New Roman"/>
              </a:rPr>
              <a:t>Is the Trust Revival Method (TRM), a Gottman Method Couples Therapy (GMCT) intervention, effective in helping couples recover from an affair and improve relationship quality?</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Rationale of the study</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03</a:t>
            </a:r>
          </a:p>
        </p:txBody>
      </p:sp>
      <p:sp>
        <p:nvSpPr>
          <p:cNvPr id="10" name="Sub 10"/>
          <p:cNvSpPr txBox="1"/>
          <p:nvPr/>
        </p:nvSpPr>
        <p:spPr>
          <a:xfrm>
            <a:off x="640080" y="1200000"/>
            <a:ext cx="510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The Clinical Gap</a:t>
            </a:r>
          </a:p>
        </p:txBody>
      </p:sp>
      <p:sp>
        <p:nvSpPr>
          <p:cNvPr id="20" name="Body 20"/>
          <p:cNvSpPr txBox="1"/>
          <p:nvPr/>
        </p:nvSpPr>
        <p:spPr>
          <a:xfrm>
            <a:off x="640080" y="1650000"/>
            <a:ext cx="5100000" cy="3900000"/>
          </a:xfrm>
          <a:prstGeom prst="rect">
            <a:avLst/>
          </a:prstGeom>
          <a:noFill/>
        </p:spPr>
        <p:txBody>
          <a:bodyPr wrap="square" rtlCol="0" anchor="t">
            <a:normAutofit/>
          </a:bodyPr>
          <a:p>
            <a:pPr marL="228600" indent="-228600" lvl="0" algn="l">
              <a:spcAft>
                <a:spcPts val="600"/>
              </a:spcAft>
              <a:buFont typeface="Arial"/>
              <a:buChar char="•"/>
            </a:pPr>
            <a:r>
              <a:rPr lang="en-US" sz="1400" b="0" i="0" u="none" dirty="0">
                <a:solidFill>
                  <a:srgbClr val="000000"/>
                </a:solidFill>
                <a:latin typeface="Times New Roman"/>
                <a:cs typeface="Times New Roman"/>
              </a:rPr>
              <a:t>Infidelity is one of the most common presenting problems in couple therapy (25% present for a revealed affair; ~20-40% of couples affected in their lifetime).</a:t>
            </a:r>
          </a:p>
          <a:p>
            <a:pPr marL="228600" indent="-228600" lvl="0" algn="l">
              <a:spcAft>
                <a:spcPts val="600"/>
              </a:spcAft>
              <a:buFont typeface="Arial"/>
              <a:buChar char="•"/>
            </a:pPr>
            <a:r>
              <a:rPr lang="en-US" sz="1400" b="0" i="0" u="none" dirty="0">
                <a:solidFill>
                  <a:srgbClr val="000000"/>
                </a:solidFill>
                <a:latin typeface="Times New Roman"/>
                <a:cs typeface="Times New Roman"/>
              </a:rPr>
              <a:t>It is a leading cause of relationship dissolution and diminished mental health.</a:t>
            </a:r>
          </a:p>
          <a:p>
            <a:pPr marL="228600" indent="-228600" lvl="0" algn="l">
              <a:spcAft>
                <a:spcPts val="600"/>
              </a:spcAft>
              <a:buFont typeface="Arial"/>
              <a:buChar char="•"/>
            </a:pPr>
            <a:r>
              <a:rPr lang="en-US" sz="1400" b="0" i="0" u="none" dirty="0">
                <a:solidFill>
                  <a:srgbClr val="000000"/>
                </a:solidFill>
                <a:latin typeface="Times New Roman"/>
                <a:cs typeface="Times New Roman"/>
              </a:rPr>
              <a:t>Yet fewer than 10 RCTs in ~2 decades have tested infidelity treatments.</a:t>
            </a:r>
          </a:p>
          <a:p>
            <a:pPr marL="228600" indent="-228600" lvl="0" algn="l">
              <a:spcAft>
                <a:spcPts val="600"/>
              </a:spcAft>
              <a:buFont typeface="Arial"/>
              <a:buChar char="•"/>
            </a:pPr>
            <a:r>
              <a:rPr lang="en-US" sz="1400" b="0" i="0" u="none" dirty="0">
                <a:solidFill>
                  <a:srgbClr val="000000"/>
                </a:solidFill>
                <a:latin typeface="Times New Roman"/>
                <a:cs typeface="Times New Roman"/>
              </a:rPr>
              <a:t>~90% of clinicians never received infidelity-specific training and rate it as the issue they feel least prepared to treat.</a:t>
            </a:r>
          </a:p>
        </p:txBody>
      </p:sp>
      <p:sp>
        <p:nvSpPr>
          <p:cNvPr id="30" name="RoundRect 30"/>
          <p:cNvSpPr/>
          <p:nvPr/>
        </p:nvSpPr>
        <p:spPr>
          <a:xfrm>
            <a:off x="6250000" y="1120000"/>
            <a:ext cx="5300000" cy="4550000"/>
          </a:xfrm>
          <a:prstGeom prst="roundRect">
            <a:avLst>
              <a:gd name="adj" fmla="val 6000"/>
            </a:avLst>
          </a:prstGeom>
          <a:solidFill>
            <a:srgbClr val="F2F2F2"/>
          </a:solidFill>
          <a:ln w="12700">
            <a:solidFill>
              <a:srgbClr val="BFBFBF"/>
            </a:solidFill>
          </a:ln>
        </p:spPr>
        <p:txBody>
          <a:bodyPr/>
          <a:p>
            <a:endParaRPr lang="en-US"/>
          </a:p>
        </p:txBody>
      </p:sp>
      <p:sp>
        <p:nvSpPr>
          <p:cNvPr id="11" name="Sub 11"/>
          <p:cNvSpPr txBox="1"/>
          <p:nvPr/>
        </p:nvSpPr>
        <p:spPr>
          <a:xfrm>
            <a:off x="6520000" y="1320000"/>
            <a:ext cx="480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The Proposed Solution</a:t>
            </a:r>
          </a:p>
        </p:txBody>
      </p:sp>
      <p:sp>
        <p:nvSpPr>
          <p:cNvPr id="21" name="Body 21"/>
          <p:cNvSpPr txBox="1"/>
          <p:nvPr/>
        </p:nvSpPr>
        <p:spPr>
          <a:xfrm>
            <a:off x="6520000" y="1770000"/>
            <a:ext cx="4800000" cy="3700000"/>
          </a:xfrm>
          <a:prstGeom prst="rect">
            <a:avLst/>
          </a:prstGeom>
          <a:noFill/>
        </p:spPr>
        <p:txBody>
          <a:bodyPr wrap="square" rtlCol="0" anchor="t">
            <a:normAutofit/>
          </a:bodyPr>
          <a:p>
            <a:pPr marL="228600" indent="-228600" lvl="0" algn="l">
              <a:spcAft>
                <a:spcPts val="600"/>
              </a:spcAft>
              <a:buFont typeface="Arial"/>
              <a:buChar char="•"/>
            </a:pPr>
            <a:r>
              <a:rPr lang="en-US" sz="1400" b="0" i="0" u="none" dirty="0">
                <a:solidFill>
                  <a:srgbClr val="000000"/>
                </a:solidFill>
                <a:latin typeface="Times New Roman"/>
                <a:cs typeface="Times New Roman"/>
              </a:rPr>
              <a:t>The Trust Revival Method (TRM), derived from the evidence-based Gottman Method (GMCT), targets betrayal, PTSD-like symptoms and trust repair.</a:t>
            </a:r>
          </a:p>
          <a:p>
            <a:pPr marL="228600" indent="-228600" lvl="0" algn="l">
              <a:spcAft>
                <a:spcPts val="600"/>
              </a:spcAft>
              <a:buFont typeface="Arial"/>
              <a:buChar char="•"/>
            </a:pPr>
            <a:r>
              <a:rPr lang="en-US" sz="1400" b="0" i="0" u="none" dirty="0">
                <a:solidFill>
                  <a:srgbClr val="000000"/>
                </a:solidFill>
                <a:latin typeface="Times New Roman"/>
                <a:cs typeface="Times New Roman"/>
              </a:rPr>
              <a:t>GMCT had never been empirically tested for affair recovery.</a:t>
            </a:r>
          </a:p>
          <a:p>
            <a:pPr marL="228600" indent="-228600" lvl="0" algn="l">
              <a:spcAft>
                <a:spcPts val="600"/>
              </a:spcAft>
              <a:buFont typeface="Arial"/>
              <a:buChar char="•"/>
            </a:pPr>
            <a:r>
              <a:rPr lang="en-US" sz="1400" b="0" i="0" u="none" dirty="0">
                <a:solidFill>
                  <a:srgbClr val="000000"/>
                </a:solidFill>
                <a:latin typeface="Times New Roman"/>
                <a:cs typeface="Times New Roman"/>
              </a:rPr>
              <a:t>This is the FIRST international RCT to validate GMCT (via TRM) for infidelity, recruiting a diverse, cross-cultural sample.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Objectives and hypotheses</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04</a:t>
            </a:r>
          </a:p>
        </p:txBody>
      </p:sp>
      <p:sp>
        <p:nvSpPr>
          <p:cNvPr id="10" name="Sub 10"/>
          <p:cNvSpPr txBox="1"/>
          <p:nvPr/>
        </p:nvSpPr>
        <p:spPr>
          <a:xfrm>
            <a:off x="640080" y="1180000"/>
            <a:ext cx="1091184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Research Questions</a:t>
            </a:r>
          </a:p>
        </p:txBody>
      </p:sp>
      <p:sp>
        <p:nvSpPr>
          <p:cNvPr id="20" name="Body 20"/>
          <p:cNvSpPr txBox="1"/>
          <p:nvPr/>
        </p:nvSpPr>
        <p:spPr>
          <a:xfrm>
            <a:off x="640080" y="1620000"/>
            <a:ext cx="10911840" cy="1700000"/>
          </a:xfrm>
          <a:prstGeom prst="rect">
            <a:avLst/>
          </a:prstGeom>
          <a:noFill/>
        </p:spPr>
        <p:txBody>
          <a:bodyPr wrap="square" rtlCol="0" anchor="t">
            <a:normAutofit/>
          </a:bodyPr>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1. Do treatment effects differ between the immediate-treatment group and the 3-week waitlist control group?</a:t>
            </a:r>
          </a:p>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2. Do more negative initial Gottman Connect (GC) scores predict couple dropout?</a:t>
            </a:r>
          </a:p>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3. Does GMCT / the TRM significantly improve couples' relationship quality following an affair?</a:t>
            </a:r>
          </a:p>
        </p:txBody>
      </p:sp>
      <p:sp>
        <p:nvSpPr>
          <p:cNvPr id="11" name="Sub 11"/>
          <p:cNvSpPr txBox="1"/>
          <p:nvPr/>
        </p:nvSpPr>
        <p:spPr>
          <a:xfrm>
            <a:off x="640080" y="3550000"/>
            <a:ext cx="1091184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Hypotheses (Hₐ)</a:t>
            </a:r>
          </a:p>
        </p:txBody>
      </p:sp>
      <p:sp>
        <p:nvSpPr>
          <p:cNvPr id="21" name="Body 21"/>
          <p:cNvSpPr txBox="1"/>
          <p:nvPr/>
        </p:nvSpPr>
        <p:spPr>
          <a:xfrm>
            <a:off x="640080" y="4000000"/>
            <a:ext cx="10911840" cy="1900000"/>
          </a:xfrm>
          <a:prstGeom prst="rect">
            <a:avLst/>
          </a:prstGeom>
          <a:noFill/>
        </p:spPr>
        <p:txBody>
          <a:bodyPr wrap="square" rtlCol="0" anchor="t">
            <a:normAutofit/>
          </a:bodyPr>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H1: There will be a significant difference in treatment effects between the immediate-treatment and 3-week waitlist groups.</a:t>
            </a:r>
          </a:p>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H2: There will be a significant difference between initial positive/negative GC scores on couple dropout.</a:t>
            </a:r>
          </a:p>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H3: There will be a significant improvement in couples' relationship quality following an affair using the TRM.</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Study design</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05</a:t>
            </a:r>
          </a:p>
        </p:txBody>
      </p:sp>
      <p:sp>
        <p:nvSpPr>
          <p:cNvPr id="40" name="RoundRect 40"/>
          <p:cNvSpPr/>
          <p:nvPr/>
        </p:nvSpPr>
        <p:spPr>
          <a:xfrm>
            <a:off x="640080" y="1500000"/>
            <a:ext cx="2502960" cy="2600000"/>
          </a:xfrm>
          <a:prstGeom prst="roundRect">
            <a:avLst>
              <a:gd name="adj" fmla="val 6000"/>
            </a:avLst>
          </a:prstGeom>
          <a:solidFill>
            <a:srgbClr val="F2F2F2"/>
          </a:solidFill>
          <a:ln w="12700">
            <a:solidFill>
              <a:srgbClr val="BFBFBF"/>
            </a:solidFill>
          </a:ln>
        </p:spPr>
        <p:txBody>
          <a:bodyPr/>
          <a:p>
            <a:endParaRPr lang="en-US"/>
          </a:p>
        </p:txBody>
      </p:sp>
      <p:sp>
        <p:nvSpPr>
          <p:cNvPr id="50" name="TextBox 50"/>
          <p:cNvSpPr txBox="1"/>
          <p:nvPr/>
        </p:nvSpPr>
        <p:spPr>
          <a:xfrm>
            <a:off x="790080" y="1700000"/>
            <a:ext cx="2202960" cy="4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1  SCREEN</a:t>
            </a:r>
          </a:p>
        </p:txBody>
      </p:sp>
      <p:sp>
        <p:nvSpPr>
          <p:cNvPr id="60" name="TextBox 60"/>
          <p:cNvSpPr txBox="1"/>
          <p:nvPr/>
        </p:nvSpPr>
        <p:spPr>
          <a:xfrm>
            <a:off x="790080" y="2250000"/>
            <a:ext cx="2202960" cy="1700000"/>
          </a:xfrm>
          <a:prstGeom prst="rect">
            <a:avLst/>
          </a:prstGeom>
          <a:noFill/>
        </p:spPr>
        <p:txBody>
          <a:bodyPr wrap="square" rtlCol="0" anchor="t">
            <a:normAutofit/>
          </a:bodyPr>
          <a:p>
            <a:pPr lvl="0" algn="l">
              <a:lnSpc>
                <a:spcPct val="120000"/>
              </a:lnSpc>
              <a:spcAft>
                <a:spcPts val="0"/>
              </a:spcAft>
              <a:buNone/>
            </a:pPr>
            <a:r>
              <a:rPr lang="en-US" sz="1400" b="0" i="0" u="none" dirty="0">
                <a:solidFill>
                  <a:srgbClr val="000000"/>
                </a:solidFill>
                <a:latin typeface="Times New Roman"/>
                <a:cs typeface="Times New Roman"/>
              </a:rPr>
              <a:t>Online eligibility screening (N = 2,146 applied; 826 screened)</a:t>
            </a:r>
          </a:p>
        </p:txBody>
      </p:sp>
      <p:sp>
        <p:nvSpPr>
          <p:cNvPr id="41" name="RoundRect 41"/>
          <p:cNvSpPr/>
          <p:nvPr/>
        </p:nvSpPr>
        <p:spPr>
          <a:xfrm>
            <a:off x="3443040" y="1500000"/>
            <a:ext cx="2502960" cy="2600000"/>
          </a:xfrm>
          <a:prstGeom prst="roundRect">
            <a:avLst>
              <a:gd name="adj" fmla="val 6000"/>
            </a:avLst>
          </a:prstGeom>
          <a:solidFill>
            <a:srgbClr val="F2F2F2"/>
          </a:solidFill>
          <a:ln w="12700">
            <a:solidFill>
              <a:srgbClr val="BFBFBF"/>
            </a:solidFill>
          </a:ln>
        </p:spPr>
        <p:txBody>
          <a:bodyPr/>
          <a:p>
            <a:endParaRPr lang="en-US"/>
          </a:p>
        </p:txBody>
      </p:sp>
      <p:sp>
        <p:nvSpPr>
          <p:cNvPr id="51" name="TextBox 51"/>
          <p:cNvSpPr txBox="1"/>
          <p:nvPr/>
        </p:nvSpPr>
        <p:spPr>
          <a:xfrm>
            <a:off x="3593040" y="1700000"/>
            <a:ext cx="2202960" cy="4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2  RANDOMIZE</a:t>
            </a:r>
          </a:p>
        </p:txBody>
      </p:sp>
      <p:sp>
        <p:nvSpPr>
          <p:cNvPr id="61" name="TextBox 61"/>
          <p:cNvSpPr txBox="1"/>
          <p:nvPr/>
        </p:nvSpPr>
        <p:spPr>
          <a:xfrm>
            <a:off x="3593040" y="2250000"/>
            <a:ext cx="2202960" cy="1700000"/>
          </a:xfrm>
          <a:prstGeom prst="rect">
            <a:avLst/>
          </a:prstGeom>
          <a:noFill/>
        </p:spPr>
        <p:txBody>
          <a:bodyPr wrap="square" rtlCol="0" anchor="t">
            <a:normAutofit/>
          </a:bodyPr>
          <a:p>
            <a:pPr lvl="0" algn="l">
              <a:lnSpc>
                <a:spcPct val="120000"/>
              </a:lnSpc>
              <a:spcAft>
                <a:spcPts val="0"/>
              </a:spcAft>
              <a:buNone/>
            </a:pPr>
            <a:r>
              <a:rPr lang="en-US" sz="1400" b="0" i="0" u="none" dirty="0">
                <a:solidFill>
                  <a:srgbClr val="000000"/>
                </a:solidFill>
                <a:latin typeface="Times New Roman"/>
                <a:cs typeface="Times New Roman"/>
              </a:rPr>
              <a:t>84 couples randomized 3:2 to Immediate vs 3-week Waitlist</a:t>
            </a:r>
          </a:p>
        </p:txBody>
      </p:sp>
      <p:sp>
        <p:nvSpPr>
          <p:cNvPr id="42" name="RoundRect 42"/>
          <p:cNvSpPr/>
          <p:nvPr/>
        </p:nvSpPr>
        <p:spPr>
          <a:xfrm>
            <a:off x="6246000" y="1500000"/>
            <a:ext cx="2502960" cy="2600000"/>
          </a:xfrm>
          <a:prstGeom prst="roundRect">
            <a:avLst>
              <a:gd name="adj" fmla="val 6000"/>
            </a:avLst>
          </a:prstGeom>
          <a:solidFill>
            <a:srgbClr val="F2F2F2"/>
          </a:solidFill>
          <a:ln w="12700">
            <a:solidFill>
              <a:srgbClr val="BFBFBF"/>
            </a:solidFill>
          </a:ln>
        </p:spPr>
        <p:txBody>
          <a:bodyPr/>
          <a:p>
            <a:endParaRPr lang="en-US"/>
          </a:p>
        </p:txBody>
      </p:sp>
      <p:sp>
        <p:nvSpPr>
          <p:cNvPr id="52" name="TextBox 52"/>
          <p:cNvSpPr txBox="1"/>
          <p:nvPr/>
        </p:nvSpPr>
        <p:spPr>
          <a:xfrm>
            <a:off x="6396000" y="1700000"/>
            <a:ext cx="2202960" cy="4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3  TREATMENT</a:t>
            </a:r>
          </a:p>
        </p:txBody>
      </p:sp>
      <p:sp>
        <p:nvSpPr>
          <p:cNvPr id="62" name="TextBox 62"/>
          <p:cNvSpPr txBox="1"/>
          <p:nvPr/>
        </p:nvSpPr>
        <p:spPr>
          <a:xfrm>
            <a:off x="6396000" y="2250000"/>
            <a:ext cx="2202960" cy="1700000"/>
          </a:xfrm>
          <a:prstGeom prst="rect">
            <a:avLst/>
          </a:prstGeom>
          <a:noFill/>
        </p:spPr>
        <p:txBody>
          <a:bodyPr wrap="square" rtlCol="0" anchor="t">
            <a:normAutofit/>
          </a:bodyPr>
          <a:p>
            <a:pPr lvl="0" algn="l">
              <a:lnSpc>
                <a:spcPct val="120000"/>
              </a:lnSpc>
              <a:spcAft>
                <a:spcPts val="0"/>
              </a:spcAft>
              <a:buNone/>
            </a:pPr>
            <a:r>
              <a:rPr lang="en-US" sz="1400" b="0" i="0" u="none" dirty="0">
                <a:solidFill>
                  <a:srgbClr val="000000"/>
                </a:solidFill>
                <a:latin typeface="Times New Roman"/>
                <a:cs typeface="Times New Roman"/>
              </a:rPr>
              <a:t>Minimum 8 sessions of TRM; teletherapy + face-to-face (COVID-19)</a:t>
            </a:r>
          </a:p>
        </p:txBody>
      </p:sp>
      <p:sp>
        <p:nvSpPr>
          <p:cNvPr id="43" name="RoundRect 43"/>
          <p:cNvSpPr/>
          <p:nvPr/>
        </p:nvSpPr>
        <p:spPr>
          <a:xfrm>
            <a:off x="9048960" y="1500000"/>
            <a:ext cx="2502960" cy="2600000"/>
          </a:xfrm>
          <a:prstGeom prst="roundRect">
            <a:avLst>
              <a:gd name="adj" fmla="val 6000"/>
            </a:avLst>
          </a:prstGeom>
          <a:solidFill>
            <a:srgbClr val="F2F2F2"/>
          </a:solidFill>
          <a:ln w="12700">
            <a:solidFill>
              <a:srgbClr val="BFBFBF"/>
            </a:solidFill>
          </a:ln>
        </p:spPr>
        <p:txBody>
          <a:bodyPr/>
          <a:p>
            <a:endParaRPr lang="en-US"/>
          </a:p>
        </p:txBody>
      </p:sp>
      <p:sp>
        <p:nvSpPr>
          <p:cNvPr id="53" name="TextBox 53"/>
          <p:cNvSpPr txBox="1"/>
          <p:nvPr/>
        </p:nvSpPr>
        <p:spPr>
          <a:xfrm>
            <a:off x="9198960" y="1700000"/>
            <a:ext cx="2202960" cy="4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4  FOLLOW-UP</a:t>
            </a:r>
          </a:p>
        </p:txBody>
      </p:sp>
      <p:sp>
        <p:nvSpPr>
          <p:cNvPr id="63" name="TextBox 63"/>
          <p:cNvSpPr txBox="1"/>
          <p:nvPr/>
        </p:nvSpPr>
        <p:spPr>
          <a:xfrm>
            <a:off x="9198960" y="2250000"/>
            <a:ext cx="2202960" cy="1700000"/>
          </a:xfrm>
          <a:prstGeom prst="rect">
            <a:avLst/>
          </a:prstGeom>
          <a:noFill/>
        </p:spPr>
        <p:txBody>
          <a:bodyPr wrap="square" rtlCol="0" anchor="t">
            <a:normAutofit/>
          </a:bodyPr>
          <a:p>
            <a:pPr lvl="0" algn="l">
              <a:lnSpc>
                <a:spcPct val="120000"/>
              </a:lnSpc>
              <a:spcAft>
                <a:spcPts val="0"/>
              </a:spcAft>
              <a:buNone/>
            </a:pPr>
            <a:r>
              <a:rPr lang="en-US" sz="1400" b="0" i="0" u="none" dirty="0">
                <a:solidFill>
                  <a:srgbClr val="000000"/>
                </a:solidFill>
                <a:latin typeface="Times New Roman"/>
                <a:cs typeface="Times New Roman"/>
              </a:rPr>
              <a:t>Assessments at multiple time points + 6-month follow-up</a:t>
            </a:r>
          </a:p>
        </p:txBody>
      </p:sp>
      <p:sp>
        <p:nvSpPr>
          <p:cNvPr id="70" name="TextBox 70"/>
          <p:cNvSpPr txBox="1"/>
          <p:nvPr/>
        </p:nvSpPr>
        <p:spPr>
          <a:xfrm>
            <a:off x="640080" y="4450000"/>
            <a:ext cx="10911840" cy="900000"/>
          </a:xfrm>
          <a:prstGeom prst="rect">
            <a:avLst/>
          </a:prstGeom>
          <a:noFill/>
        </p:spPr>
        <p:txBody>
          <a:bodyPr wrap="square" rtlCol="0" anchor="t">
            <a:normAutofit/>
          </a:bodyPr>
          <a:p>
            <a:pPr lvl="0" algn="l">
              <a:lnSpc>
                <a:spcPct val="125000"/>
              </a:lnSpc>
              <a:spcAft>
                <a:spcPts val="0"/>
              </a:spcAft>
              <a:buNone/>
            </a:pPr>
            <a:r>
              <a:rPr lang="en-US" sz="1400" b="1" i="0" u="none" dirty="0">
                <a:solidFill>
                  <a:srgbClr val="000000"/>
                </a:solidFill>
                <a:latin typeface="Times New Roman"/>
                <a:cs typeface="Times New Roman"/>
              </a:rPr>
              <a:t>Parallel, unblinded, active-control RCT (waitlist design). </a:t>
            </a:r>
            <a:r>
              <a:rPr lang="en-US" sz="1400" b="0" i="0" u="none" dirty="0">
                <a:solidFill>
                  <a:srgbClr val="000000"/>
                </a:solidFill>
                <a:latin typeface="Times New Roman"/>
                <a:cs typeface="Times New Roman"/>
              </a:rPr>
              <a:t>Multimodal assessment: 480-item Gottman Connect (GC) self-report + Specific Affect Coding System (SPAFF) coding of a 10-15 min conflict discussion. IRB approved; informed consent obtained.</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Participants and retention</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06</a:t>
            </a:r>
          </a:p>
        </p:txBody>
      </p:sp>
      <p:sp>
        <p:nvSpPr>
          <p:cNvPr id="30" name="RoundRect 30"/>
          <p:cNvSpPr/>
          <p:nvPr/>
        </p:nvSpPr>
        <p:spPr>
          <a:xfrm>
            <a:off x="640080" y="1150000"/>
            <a:ext cx="5300000" cy="4550000"/>
          </a:xfrm>
          <a:prstGeom prst="roundRect">
            <a:avLst>
              <a:gd name="adj" fmla="val 6000"/>
            </a:avLst>
          </a:prstGeom>
          <a:solidFill>
            <a:srgbClr val="F2F2F2"/>
          </a:solidFill>
          <a:ln w="12700">
            <a:solidFill>
              <a:srgbClr val="BFBFBF"/>
            </a:solidFill>
          </a:ln>
        </p:spPr>
        <p:txBody>
          <a:bodyPr/>
          <a:p>
            <a:endParaRPr lang="en-US"/>
          </a:p>
        </p:txBody>
      </p:sp>
      <p:sp>
        <p:nvSpPr>
          <p:cNvPr id="10" name="Sub 10"/>
          <p:cNvSpPr txBox="1"/>
          <p:nvPr/>
        </p:nvSpPr>
        <p:spPr>
          <a:xfrm>
            <a:off x="910080" y="1330000"/>
            <a:ext cx="480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Sample</a:t>
            </a:r>
          </a:p>
        </p:txBody>
      </p:sp>
      <p:sp>
        <p:nvSpPr>
          <p:cNvPr id="20" name="Body 20"/>
          <p:cNvSpPr txBox="1"/>
          <p:nvPr/>
        </p:nvSpPr>
        <p:spPr>
          <a:xfrm>
            <a:off x="910080" y="1780000"/>
            <a:ext cx="4800000" cy="3800000"/>
          </a:xfrm>
          <a:prstGeom prst="rect">
            <a:avLst/>
          </a:prstGeom>
          <a:noFill/>
        </p:spPr>
        <p:txBody>
          <a:bodyPr wrap="square" rtlCol="0" anchor="t">
            <a:normAutofit/>
          </a:bodyPr>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Final N = 84 couples (168 individuals).</a:t>
            </a:r>
          </a:p>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Adults in heterosexual or LGBTQ+ monogamous relationships ≥ 6 months.</a:t>
            </a:r>
          </a:p>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Inclusion criterion: infidelity (sexual, emotional, or cyber).</a:t>
            </a:r>
          </a:p>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79.8% married; ~89% USA, ~9.5% international.</a:t>
            </a:r>
          </a:p>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Mean age 44.1 years; 94% heterosexual; recruited Oct 2020 - Apr 2022.</a:t>
            </a:r>
          </a:p>
        </p:txBody>
      </p:sp>
      <p:sp>
        <p:nvSpPr>
          <p:cNvPr id="31" name="RoundRect 31"/>
          <p:cNvSpPr/>
          <p:nvPr/>
        </p:nvSpPr>
        <p:spPr>
          <a:xfrm>
            <a:off x="6250000" y="1150000"/>
            <a:ext cx="5300000" cy="4550000"/>
          </a:xfrm>
          <a:prstGeom prst="roundRect">
            <a:avLst>
              <a:gd name="adj" fmla="val 6000"/>
            </a:avLst>
          </a:prstGeom>
          <a:solidFill>
            <a:srgbClr val="F2F2F2"/>
          </a:solidFill>
          <a:ln w="12700">
            <a:solidFill>
              <a:srgbClr val="BFBFBF"/>
            </a:solidFill>
          </a:ln>
        </p:spPr>
        <p:txBody>
          <a:bodyPr/>
          <a:p>
            <a:endParaRPr lang="en-US"/>
          </a:p>
        </p:txBody>
      </p:sp>
      <p:sp>
        <p:nvSpPr>
          <p:cNvPr id="11" name="Sub 11"/>
          <p:cNvSpPr txBox="1"/>
          <p:nvPr/>
        </p:nvSpPr>
        <p:spPr>
          <a:xfrm>
            <a:off x="6520000" y="1330000"/>
            <a:ext cx="480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Retention</a:t>
            </a:r>
          </a:p>
        </p:txBody>
      </p:sp>
      <p:sp>
        <p:nvSpPr>
          <p:cNvPr id="21" name="Body 21"/>
          <p:cNvSpPr txBox="1"/>
          <p:nvPr/>
        </p:nvSpPr>
        <p:spPr>
          <a:xfrm>
            <a:off x="6520000" y="1780000"/>
            <a:ext cx="4800000" cy="3800000"/>
          </a:xfrm>
          <a:prstGeom prst="rect">
            <a:avLst/>
          </a:prstGeom>
          <a:noFill/>
        </p:spPr>
        <p:txBody>
          <a:bodyPr wrap="square" rtlCol="0" anchor="t">
            <a:normAutofit/>
          </a:bodyPr>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21 couples completed treatment; 46 dropped out; 17 still active at analysis.</a:t>
            </a:r>
          </a:p>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Completers attended far more sessions (M = 27.3) than dropouts (M = 7.3).</a:t>
            </a:r>
          </a:p>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Dropouts were &gt;2× as likely to have entered therapy already separated (13% vs ~5-8%).</a:t>
            </a:r>
          </a:p>
          <a:p>
            <a:pPr marL="228600" indent="-228600" lvl="0" algn="l">
              <a:lnSpc>
                <a:spcPct val="118000"/>
              </a:lnSpc>
              <a:spcAft>
                <a:spcPts val="250"/>
              </a:spcAft>
              <a:buFont typeface="Arial"/>
              <a:buChar char="•"/>
            </a:pPr>
            <a:r>
              <a:rPr lang="en-US" sz="1400" b="0" i="0" u="none" dirty="0">
                <a:solidFill>
                  <a:srgbClr val="000000"/>
                </a:solidFill>
                <a:latin typeface="Times New Roman"/>
                <a:cs typeface="Times New Roman"/>
              </a:rPr>
              <a:t>High dropout is a key limitation and a substantive finding in itself.</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What did participants receive?</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07</a:t>
            </a:r>
          </a:p>
        </p:txBody>
      </p:sp>
      <p:sp>
        <p:nvSpPr>
          <p:cNvPr id="30" name="RoundRect 30"/>
          <p:cNvSpPr/>
          <p:nvPr/>
        </p:nvSpPr>
        <p:spPr>
          <a:xfrm>
            <a:off x="640080" y="1150000"/>
            <a:ext cx="5300000" cy="4300000"/>
          </a:xfrm>
          <a:prstGeom prst="roundRect">
            <a:avLst>
              <a:gd name="adj" fmla="val 6000"/>
            </a:avLst>
          </a:prstGeom>
          <a:solidFill>
            <a:srgbClr val="F2F2F2"/>
          </a:solidFill>
          <a:ln w="12700">
            <a:solidFill>
              <a:srgbClr val="BFBFBF"/>
            </a:solidFill>
          </a:ln>
        </p:spPr>
        <p:txBody>
          <a:bodyPr/>
          <a:p>
            <a:endParaRPr lang="en-US"/>
          </a:p>
        </p:txBody>
      </p:sp>
      <p:sp>
        <p:nvSpPr>
          <p:cNvPr id="10" name="Sub 10"/>
          <p:cNvSpPr txBox="1"/>
          <p:nvPr/>
        </p:nvSpPr>
        <p:spPr>
          <a:xfrm>
            <a:off x="910080" y="1330000"/>
            <a:ext cx="480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Trust Revival Method (TRM)</a:t>
            </a:r>
          </a:p>
        </p:txBody>
      </p:sp>
      <p:sp>
        <p:nvSpPr>
          <p:cNvPr id="20" name="Body 20"/>
          <p:cNvSpPr txBox="1"/>
          <p:nvPr/>
        </p:nvSpPr>
        <p:spPr>
          <a:xfrm>
            <a:off x="910080" y="1780000"/>
            <a:ext cx="4800000" cy="3500000"/>
          </a:xfrm>
          <a:prstGeom prst="rect">
            <a:avLst/>
          </a:prstGeom>
          <a:noFill/>
        </p:spPr>
        <p:txBody>
          <a:bodyPr wrap="square" rtlCol="0" anchor="t">
            <a:normAutofit/>
          </a:bodyPr>
          <a:p>
            <a:pPr lvl="0" algn="l">
              <a:lnSpc>
                <a:spcPct val="116000"/>
              </a:lnSpc>
              <a:spcAft>
                <a:spcPts val="200"/>
              </a:spcAft>
              <a:buNone/>
            </a:pPr>
            <a:r>
              <a:rPr lang="en-US" sz="2000" b="1" i="0" u="none" dirty="0">
                <a:solidFill>
                  <a:srgbClr val="000000"/>
                </a:solidFill>
                <a:latin typeface="Times New Roman"/>
                <a:cs typeface="Times New Roman"/>
              </a:rPr>
              <a:t>Three phases (Atone → Attune → Attach):</a:t>
            </a:r>
          </a:p>
          <a:p>
            <a:pPr marL="228600" indent="-228600" lvl="0" algn="l">
              <a:lnSpc>
                <a:spcPct val="116000"/>
              </a:lnSpc>
              <a:spcAft>
                <a:spcPts val="200"/>
              </a:spcAft>
              <a:buFont typeface="Arial"/>
              <a:buChar char="•"/>
            </a:pPr>
            <a:r>
              <a:rPr lang="en-US" sz="1400" b="0" i="0" u="none" dirty="0">
                <a:solidFill>
                  <a:srgbClr val="000000"/>
                </a:solidFill>
                <a:latin typeface="Times New Roman"/>
                <a:cs typeface="Times New Roman"/>
              </a:rPr>
              <a:t>Atonement: remorse &amp; full transparency by the involved partner; addresses UP's PTSD-like symptoms.</a:t>
            </a:r>
          </a:p>
          <a:p>
            <a:pPr marL="228600" indent="-228600" lvl="0" algn="l">
              <a:lnSpc>
                <a:spcPct val="116000"/>
              </a:lnSpc>
              <a:spcAft>
                <a:spcPts val="200"/>
              </a:spcAft>
              <a:buFont typeface="Arial"/>
              <a:buChar char="•"/>
            </a:pPr>
            <a:r>
              <a:rPr lang="en-US" sz="1400" b="0" i="0" u="none" dirty="0">
                <a:solidFill>
                  <a:srgbClr val="000000"/>
                </a:solidFill>
                <a:latin typeface="Times New Roman"/>
                <a:cs typeface="Times New Roman"/>
              </a:rPr>
              <a:t>Attunement: process regrettable incidents; rebuild trust, communication &amp; conflict skills.</a:t>
            </a:r>
          </a:p>
          <a:p>
            <a:pPr marL="228600" indent="-228600" lvl="0" algn="l">
              <a:lnSpc>
                <a:spcPct val="116000"/>
              </a:lnSpc>
              <a:spcAft>
                <a:spcPts val="200"/>
              </a:spcAft>
              <a:buFont typeface="Arial"/>
              <a:buChar char="•"/>
            </a:pPr>
            <a:r>
              <a:rPr lang="en-US" sz="1400" b="0" i="0" u="none" dirty="0">
                <a:solidFill>
                  <a:srgbClr val="000000"/>
                </a:solidFill>
                <a:latin typeface="Times New Roman"/>
                <a:cs typeface="Times New Roman"/>
              </a:rPr>
              <a:t>Attachment: re-establish commitment, intimacy &amp; shared meaning.</a:t>
            </a:r>
          </a:p>
          <a:p>
            <a:pPr marL="228600" indent="-228600" lvl="0" algn="l">
              <a:lnSpc>
                <a:spcPct val="116000"/>
              </a:lnSpc>
              <a:spcAft>
                <a:spcPts val="200"/>
              </a:spcAft>
              <a:buFont typeface="Arial"/>
              <a:buChar char="•"/>
            </a:pPr>
            <a:r>
              <a:rPr lang="en-US" sz="1400" b="0" i="0" u="none" dirty="0">
                <a:solidFill>
                  <a:srgbClr val="000000"/>
                </a:solidFill>
                <a:latin typeface="Times New Roman"/>
                <a:cs typeface="Times New Roman"/>
              </a:rPr>
              <a:t>Delivered by Certified Gottman Therapists trained in Treating Affairs &amp; Trauma (TAT).</a:t>
            </a:r>
          </a:p>
        </p:txBody>
      </p:sp>
      <p:sp>
        <p:nvSpPr>
          <p:cNvPr id="31" name="RoundRect 31"/>
          <p:cNvSpPr/>
          <p:nvPr/>
        </p:nvSpPr>
        <p:spPr>
          <a:xfrm>
            <a:off x="6250000" y="1150000"/>
            <a:ext cx="5300000" cy="4300000"/>
          </a:xfrm>
          <a:prstGeom prst="roundRect">
            <a:avLst>
              <a:gd name="adj" fmla="val 6000"/>
            </a:avLst>
          </a:prstGeom>
          <a:solidFill>
            <a:srgbClr val="F2F2F2"/>
          </a:solidFill>
          <a:ln w="12700">
            <a:solidFill>
              <a:srgbClr val="BFBFBF"/>
            </a:solidFill>
          </a:ln>
        </p:spPr>
        <p:txBody>
          <a:bodyPr/>
          <a:p>
            <a:endParaRPr lang="en-US"/>
          </a:p>
        </p:txBody>
      </p:sp>
      <p:sp>
        <p:nvSpPr>
          <p:cNvPr id="11" name="Sub 11"/>
          <p:cNvSpPr txBox="1"/>
          <p:nvPr/>
        </p:nvSpPr>
        <p:spPr>
          <a:xfrm>
            <a:off x="6520000" y="1330000"/>
            <a:ext cx="480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Terminology</a:t>
            </a:r>
          </a:p>
        </p:txBody>
      </p:sp>
      <p:sp>
        <p:nvSpPr>
          <p:cNvPr id="21" name="Body 21"/>
          <p:cNvSpPr txBox="1"/>
          <p:nvPr/>
        </p:nvSpPr>
        <p:spPr>
          <a:xfrm>
            <a:off x="6520000" y="1780000"/>
            <a:ext cx="4800000" cy="35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IP = Involved Partner (had the affair).</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UP = Uninvolved Partner.</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GMCT is grounded in the Sound Relationship House (SRH) theory: 7 'floors' (e.g., love maps, managing conflict, shared meaning) held up by two 'walls' — Trust and Commitment.</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Outcomes and measures</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08</a:t>
            </a:r>
          </a:p>
        </p:txBody>
      </p:sp>
      <p:sp>
        <p:nvSpPr>
          <p:cNvPr id="40" name="RoundRect 40"/>
          <p:cNvSpPr/>
          <p:nvPr/>
        </p:nvSpPr>
        <p:spPr>
          <a:xfrm>
            <a:off x="640080" y="1200000"/>
            <a:ext cx="5305920" cy="2150000"/>
          </a:xfrm>
          <a:prstGeom prst="roundRect">
            <a:avLst>
              <a:gd name="adj" fmla="val 6000"/>
            </a:avLst>
          </a:prstGeom>
          <a:solidFill>
            <a:srgbClr val="F2F2F2"/>
          </a:solidFill>
          <a:ln w="12700">
            <a:solidFill>
              <a:srgbClr val="BFBFBF"/>
            </a:solidFill>
          </a:ln>
        </p:spPr>
        <p:txBody>
          <a:bodyPr/>
          <a:p>
            <a:endParaRPr lang="en-US"/>
          </a:p>
        </p:txBody>
      </p:sp>
      <p:sp>
        <p:nvSpPr>
          <p:cNvPr id="50" name="TextBox 50"/>
          <p:cNvSpPr txBox="1"/>
          <p:nvPr/>
        </p:nvSpPr>
        <p:spPr>
          <a:xfrm>
            <a:off x="820080" y="1380000"/>
            <a:ext cx="4945920" cy="4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Relationship Quality</a:t>
            </a:r>
          </a:p>
        </p:txBody>
      </p:sp>
      <p:sp>
        <p:nvSpPr>
          <p:cNvPr id="60" name="Body 60"/>
          <p:cNvSpPr txBox="1"/>
          <p:nvPr/>
        </p:nvSpPr>
        <p:spPr>
          <a:xfrm>
            <a:off x="820080" y="1900000"/>
            <a:ext cx="4945920" cy="1300000"/>
          </a:xfrm>
          <a:prstGeom prst="rect">
            <a:avLst/>
          </a:prstGeom>
          <a:noFill/>
        </p:spPr>
        <p:txBody>
          <a:bodyPr wrap="square" rtlCol="0" anchor="t">
            <a:normAutofit/>
          </a:bodyPr>
          <a:p>
            <a:pPr marL="228600" indent="-228600" lvl="0" algn="l">
              <a:lnSpc>
                <a:spcPct val="118000"/>
              </a:lnSpc>
              <a:spcAft>
                <a:spcPts val="200"/>
              </a:spcAft>
              <a:buFont typeface="Arial"/>
              <a:buChar char="•"/>
            </a:pPr>
            <a:r>
              <a:rPr lang="en-US" sz="1400" b="0" i="0" u="none" dirty="0">
                <a:solidFill>
                  <a:srgbClr val="000000"/>
                </a:solidFill>
                <a:latin typeface="Times New Roman"/>
                <a:cs typeface="Times New Roman"/>
              </a:rPr>
              <a:t>Gottman Connect (GC): Locke-Wallace, Global Relationship Satisfaction (GRS)</a:t>
            </a:r>
          </a:p>
        </p:txBody>
      </p:sp>
      <p:sp>
        <p:nvSpPr>
          <p:cNvPr id="41" name="RoundRect 41"/>
          <p:cNvSpPr/>
          <p:nvPr/>
        </p:nvSpPr>
        <p:spPr>
          <a:xfrm>
            <a:off x="6246000" y="1200000"/>
            <a:ext cx="5305920" cy="2150000"/>
          </a:xfrm>
          <a:prstGeom prst="roundRect">
            <a:avLst>
              <a:gd name="adj" fmla="val 6000"/>
            </a:avLst>
          </a:prstGeom>
          <a:solidFill>
            <a:srgbClr val="F2F2F2"/>
          </a:solidFill>
          <a:ln w="12700">
            <a:solidFill>
              <a:srgbClr val="BFBFBF"/>
            </a:solidFill>
          </a:ln>
        </p:spPr>
        <p:txBody>
          <a:bodyPr/>
          <a:p>
            <a:endParaRPr lang="en-US"/>
          </a:p>
        </p:txBody>
      </p:sp>
      <p:sp>
        <p:nvSpPr>
          <p:cNvPr id="51" name="TextBox 51"/>
          <p:cNvSpPr txBox="1"/>
          <p:nvPr/>
        </p:nvSpPr>
        <p:spPr>
          <a:xfrm>
            <a:off x="6426000" y="1380000"/>
            <a:ext cx="4945920" cy="4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Separation Risk</a:t>
            </a:r>
          </a:p>
        </p:txBody>
      </p:sp>
      <p:sp>
        <p:nvSpPr>
          <p:cNvPr id="61" name="Body 61"/>
          <p:cNvSpPr txBox="1"/>
          <p:nvPr/>
        </p:nvSpPr>
        <p:spPr>
          <a:xfrm>
            <a:off x="6426000" y="1900000"/>
            <a:ext cx="4945920" cy="1300000"/>
          </a:xfrm>
          <a:prstGeom prst="rect">
            <a:avLst/>
          </a:prstGeom>
          <a:noFill/>
        </p:spPr>
        <p:txBody>
          <a:bodyPr wrap="square" rtlCol="0" anchor="t">
            <a:normAutofit/>
          </a:bodyPr>
          <a:p>
            <a:pPr marL="228600" indent="-228600" lvl="0" algn="l">
              <a:lnSpc>
                <a:spcPct val="118000"/>
              </a:lnSpc>
              <a:spcAft>
                <a:spcPts val="200"/>
              </a:spcAft>
              <a:buFont typeface="Arial"/>
              <a:buChar char="•"/>
            </a:pPr>
            <a:r>
              <a:rPr lang="en-US" sz="1400" b="0" i="0" u="none" dirty="0">
                <a:solidFill>
                  <a:srgbClr val="000000"/>
                </a:solidFill>
                <a:latin typeface="Times New Roman"/>
                <a:cs typeface="Times New Roman"/>
              </a:rPr>
              <a:t>Weiss-Cerreto Marital Status Inventory (divorce-proneness)</a:t>
            </a:r>
          </a:p>
        </p:txBody>
      </p:sp>
      <p:sp>
        <p:nvSpPr>
          <p:cNvPr id="42" name="RoundRect 42"/>
          <p:cNvSpPr/>
          <p:nvPr/>
        </p:nvSpPr>
        <p:spPr>
          <a:xfrm>
            <a:off x="640080" y="3550000"/>
            <a:ext cx="5305920" cy="2150000"/>
          </a:xfrm>
          <a:prstGeom prst="roundRect">
            <a:avLst>
              <a:gd name="adj" fmla="val 6000"/>
            </a:avLst>
          </a:prstGeom>
          <a:solidFill>
            <a:srgbClr val="F2F2F2"/>
          </a:solidFill>
          <a:ln w="12700">
            <a:solidFill>
              <a:srgbClr val="BFBFBF"/>
            </a:solidFill>
          </a:ln>
        </p:spPr>
        <p:txBody>
          <a:bodyPr/>
          <a:p>
            <a:endParaRPr lang="en-US"/>
          </a:p>
        </p:txBody>
      </p:sp>
      <p:sp>
        <p:nvSpPr>
          <p:cNvPr id="52" name="TextBox 52"/>
          <p:cNvSpPr txBox="1"/>
          <p:nvPr/>
        </p:nvSpPr>
        <p:spPr>
          <a:xfrm>
            <a:off x="820080" y="3730000"/>
            <a:ext cx="4945920" cy="4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Observed Behavior</a:t>
            </a:r>
          </a:p>
        </p:txBody>
      </p:sp>
      <p:sp>
        <p:nvSpPr>
          <p:cNvPr id="62" name="Body 62"/>
          <p:cNvSpPr txBox="1"/>
          <p:nvPr/>
        </p:nvSpPr>
        <p:spPr>
          <a:xfrm>
            <a:off x="820080" y="4250000"/>
            <a:ext cx="4945920" cy="1300000"/>
          </a:xfrm>
          <a:prstGeom prst="rect">
            <a:avLst/>
          </a:prstGeom>
          <a:noFill/>
        </p:spPr>
        <p:txBody>
          <a:bodyPr wrap="square" rtlCol="0" anchor="t">
            <a:normAutofit/>
          </a:bodyPr>
          <a:p>
            <a:pPr marL="228600" indent="-228600" lvl="0" algn="l">
              <a:lnSpc>
                <a:spcPct val="118000"/>
              </a:lnSpc>
              <a:spcAft>
                <a:spcPts val="200"/>
              </a:spcAft>
              <a:buFont typeface="Arial"/>
              <a:buChar char="•"/>
            </a:pPr>
            <a:r>
              <a:rPr lang="en-US" sz="1400" b="0" i="0" u="none" dirty="0">
                <a:solidFill>
                  <a:srgbClr val="000000"/>
                </a:solidFill>
                <a:latin typeface="Times New Roman"/>
                <a:cs typeface="Times New Roman"/>
              </a:rPr>
              <a:t>SPAFF coding of conflict discussions: positive, negative, neutral &amp; the 'Four Horsemen'</a:t>
            </a:r>
          </a:p>
        </p:txBody>
      </p:sp>
      <p:sp>
        <p:nvSpPr>
          <p:cNvPr id="43" name="RoundRect 43"/>
          <p:cNvSpPr/>
          <p:nvPr/>
        </p:nvSpPr>
        <p:spPr>
          <a:xfrm>
            <a:off x="6246000" y="3550000"/>
            <a:ext cx="5305920" cy="2150000"/>
          </a:xfrm>
          <a:prstGeom prst="roundRect">
            <a:avLst>
              <a:gd name="adj" fmla="val 6000"/>
            </a:avLst>
          </a:prstGeom>
          <a:solidFill>
            <a:srgbClr val="F2F2F2"/>
          </a:solidFill>
          <a:ln w="12700">
            <a:solidFill>
              <a:srgbClr val="BFBFBF"/>
            </a:solidFill>
          </a:ln>
        </p:spPr>
        <p:txBody>
          <a:bodyPr/>
          <a:p>
            <a:endParaRPr lang="en-US"/>
          </a:p>
        </p:txBody>
      </p:sp>
      <p:sp>
        <p:nvSpPr>
          <p:cNvPr id="53" name="TextBox 53"/>
          <p:cNvSpPr txBox="1"/>
          <p:nvPr/>
        </p:nvSpPr>
        <p:spPr>
          <a:xfrm>
            <a:off x="6426000" y="3730000"/>
            <a:ext cx="4945920" cy="4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Additional</a:t>
            </a:r>
          </a:p>
        </p:txBody>
      </p:sp>
      <p:sp>
        <p:nvSpPr>
          <p:cNvPr id="63" name="Body 63"/>
          <p:cNvSpPr txBox="1"/>
          <p:nvPr/>
        </p:nvSpPr>
        <p:spPr>
          <a:xfrm>
            <a:off x="6426000" y="4250000"/>
            <a:ext cx="4945920" cy="1300000"/>
          </a:xfrm>
          <a:prstGeom prst="rect">
            <a:avLst/>
          </a:prstGeom>
          <a:noFill/>
        </p:spPr>
        <p:txBody>
          <a:bodyPr wrap="square" rtlCol="0" anchor="t">
            <a:normAutofit/>
          </a:bodyPr>
          <a:p>
            <a:pPr marL="228600" indent="-228600" lvl="0" algn="l">
              <a:lnSpc>
                <a:spcPct val="118000"/>
              </a:lnSpc>
              <a:spcAft>
                <a:spcPts val="200"/>
              </a:spcAft>
              <a:buFont typeface="Arial"/>
              <a:buChar char="•"/>
            </a:pPr>
            <a:r>
              <a:rPr lang="en-US" sz="1400" b="0" i="0" u="none" dirty="0">
                <a:solidFill>
                  <a:srgbClr val="000000"/>
                </a:solidFill>
                <a:latin typeface="Times New Roman"/>
                <a:cs typeface="Times New Roman"/>
              </a:rPr>
              <a:t>Negative Comparisons scale; anxiety/depression; commitment, trust, turning toward</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Analysis plan</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09</a:t>
            </a:r>
          </a:p>
        </p:txBody>
      </p:sp>
      <p:sp>
        <p:nvSpPr>
          <p:cNvPr id="40" name="RoundRect 40"/>
          <p:cNvSpPr/>
          <p:nvPr/>
        </p:nvSpPr>
        <p:spPr>
          <a:xfrm>
            <a:off x="64008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0" name="TextBox 50"/>
          <p:cNvSpPr txBox="1"/>
          <p:nvPr/>
        </p:nvSpPr>
        <p:spPr>
          <a:xfrm>
            <a:off x="790080" y="1400000"/>
            <a:ext cx="3137280" cy="700000"/>
          </a:xfrm>
          <a:prstGeom prst="rect">
            <a:avLst/>
          </a:prstGeom>
          <a:noFill/>
        </p:spPr>
        <p:txBody>
          <a:bodyPr wrap="square" rtlCol="0" anchor="t">
            <a:normAutofit/>
          </a:bodyPr>
          <a:p>
            <a:pPr lvl="0" algn="l">
              <a:lnSpc>
                <a:spcPct val="115000"/>
              </a:lnSpc>
              <a:spcAft>
                <a:spcPts val="0"/>
              </a:spcAft>
              <a:buNone/>
            </a:pPr>
            <a:r>
              <a:rPr lang="en-US" sz="2000" b="1" i="0" u="none" dirty="0">
                <a:solidFill>
                  <a:srgbClr val="000000"/>
                </a:solidFill>
                <a:latin typeface="Times New Roman"/>
                <a:cs typeface="Times New Roman"/>
              </a:rPr>
              <a:t>Group Comparison</a:t>
            </a:r>
          </a:p>
        </p:txBody>
      </p:sp>
      <p:sp>
        <p:nvSpPr>
          <p:cNvPr id="60" name="Body 60"/>
          <p:cNvSpPr txBox="1"/>
          <p:nvPr/>
        </p:nvSpPr>
        <p:spPr>
          <a:xfrm>
            <a:off x="790080" y="2150000"/>
            <a:ext cx="3137280" cy="31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Two-way repeated-measures MANOVA / ANOVA</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Immediate vs waitlist; pre vs post</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Univariate follow-ups</a:t>
            </a:r>
          </a:p>
        </p:txBody>
      </p:sp>
      <p:sp>
        <p:nvSpPr>
          <p:cNvPr id="41" name="RoundRect 41"/>
          <p:cNvSpPr/>
          <p:nvPr/>
        </p:nvSpPr>
        <p:spPr>
          <a:xfrm>
            <a:off x="437736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1" name="TextBox 51"/>
          <p:cNvSpPr txBox="1"/>
          <p:nvPr/>
        </p:nvSpPr>
        <p:spPr>
          <a:xfrm>
            <a:off x="4527360" y="1400000"/>
            <a:ext cx="3137280" cy="700000"/>
          </a:xfrm>
          <a:prstGeom prst="rect">
            <a:avLst/>
          </a:prstGeom>
          <a:noFill/>
        </p:spPr>
        <p:txBody>
          <a:bodyPr wrap="square" rtlCol="0" anchor="t">
            <a:normAutofit/>
          </a:bodyPr>
          <a:p>
            <a:pPr lvl="0" algn="l">
              <a:lnSpc>
                <a:spcPct val="115000"/>
              </a:lnSpc>
              <a:spcAft>
                <a:spcPts val="0"/>
              </a:spcAft>
              <a:buNone/>
            </a:pPr>
            <a:r>
              <a:rPr lang="en-US" sz="2000" b="1" i="0" u="none" dirty="0">
                <a:solidFill>
                  <a:srgbClr val="000000"/>
                </a:solidFill>
                <a:latin typeface="Times New Roman"/>
                <a:cs typeface="Times New Roman"/>
              </a:rPr>
              <a:t>Clinical Significance</a:t>
            </a:r>
          </a:p>
        </p:txBody>
      </p:sp>
      <p:sp>
        <p:nvSpPr>
          <p:cNvPr id="61" name="Body 61"/>
          <p:cNvSpPr txBox="1"/>
          <p:nvPr/>
        </p:nvSpPr>
        <p:spPr>
          <a:xfrm>
            <a:off x="4527360" y="2150000"/>
            <a:ext cx="3137280" cy="31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Percent Improvement (PI) index (Blanchard &amp; Schwarz, 1988)</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PI ≥ 50% = clinically significant</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PI 25-49% = improved, not clinically significant</a:t>
            </a:r>
          </a:p>
        </p:txBody>
      </p:sp>
      <p:sp>
        <p:nvSpPr>
          <p:cNvPr id="42" name="RoundRect 42"/>
          <p:cNvSpPr/>
          <p:nvPr/>
        </p:nvSpPr>
        <p:spPr>
          <a:xfrm>
            <a:off x="811464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2" name="TextBox 52"/>
          <p:cNvSpPr txBox="1"/>
          <p:nvPr/>
        </p:nvSpPr>
        <p:spPr>
          <a:xfrm>
            <a:off x="8264640" y="1400000"/>
            <a:ext cx="3137280" cy="700000"/>
          </a:xfrm>
          <a:prstGeom prst="rect">
            <a:avLst/>
          </a:prstGeom>
          <a:noFill/>
        </p:spPr>
        <p:txBody>
          <a:bodyPr wrap="square" rtlCol="0" anchor="t">
            <a:normAutofit/>
          </a:bodyPr>
          <a:p>
            <a:pPr lvl="0" algn="l">
              <a:lnSpc>
                <a:spcPct val="115000"/>
              </a:lnSpc>
              <a:spcAft>
                <a:spcPts val="0"/>
              </a:spcAft>
              <a:buNone/>
            </a:pPr>
            <a:r>
              <a:rPr lang="en-US" sz="2000" b="1" i="0" u="none" dirty="0">
                <a:solidFill>
                  <a:srgbClr val="000000"/>
                </a:solidFill>
                <a:latin typeface="Times New Roman"/>
                <a:cs typeface="Times New Roman"/>
              </a:rPr>
              <a:t>Dyadic Analysis</a:t>
            </a:r>
          </a:p>
        </p:txBody>
      </p:sp>
      <p:sp>
        <p:nvSpPr>
          <p:cNvPr id="62" name="Body 62"/>
          <p:cNvSpPr txBox="1"/>
          <p:nvPr/>
        </p:nvSpPr>
        <p:spPr>
          <a:xfrm>
            <a:off x="8264640" y="2150000"/>
            <a:ext cx="3137280" cy="31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Actor-Partner Interdependence Model (APIM; Kenny et al., 2020)</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Structural equation modeling (path analysis)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Actor vs partner effects (IP &amp; UP)</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Baseline profile: broadly comparable groups</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10</a:t>
            </a:r>
          </a:p>
        </p:txBody>
      </p:sp>
      <p:sp>
        <p:nvSpPr>
          <p:cNvPr id="10" name="Sub 10"/>
          <p:cNvSpPr txBox="1"/>
          <p:nvPr/>
        </p:nvSpPr>
        <p:spPr>
          <a:xfrm>
            <a:off x="640080" y="1250000"/>
            <a:ext cx="1091184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Key characteristics</a:t>
            </a:r>
          </a:p>
        </p:txBody>
      </p:sp>
      <p:sp>
        <p:nvSpPr>
          <p:cNvPr id="20" name="Body 20"/>
          <p:cNvSpPr txBox="1"/>
          <p:nvPr/>
        </p:nvSpPr>
        <p:spPr>
          <a:xfrm>
            <a:off x="640080" y="1720000"/>
            <a:ext cx="10911840" cy="3900000"/>
          </a:xfrm>
          <a:prstGeom prst="rect">
            <a:avLst/>
          </a:prstGeom>
          <a:noFill/>
        </p:spPr>
        <p:txBody>
          <a:bodyPr wrap="square" rtlCol="0" anchor="t">
            <a:normAutofit/>
          </a:bodyPr>
          <a:p>
            <a:pPr marL="228600" indent="-228600" lvl="0" algn="l">
              <a:lnSpc>
                <a:spcPct val="122000"/>
              </a:lnSpc>
              <a:spcAft>
                <a:spcPts val="350"/>
              </a:spcAft>
              <a:buFont typeface="Arial"/>
              <a:buChar char="•"/>
            </a:pPr>
            <a:r>
              <a:rPr lang="en-US" sz="1400" b="0" i="0" u="none" dirty="0">
                <a:solidFill>
                  <a:srgbClr val="000000"/>
                </a:solidFill>
                <a:latin typeface="Times New Roman"/>
                <a:cs typeface="Times New Roman"/>
              </a:rPr>
              <a:t>Randomization produced broadly comparable immediate and waitlist groups.</a:t>
            </a:r>
          </a:p>
          <a:p>
            <a:pPr marL="228600" indent="-228600" lvl="0" algn="l">
              <a:lnSpc>
                <a:spcPct val="122000"/>
              </a:lnSpc>
              <a:spcAft>
                <a:spcPts val="350"/>
              </a:spcAft>
              <a:buFont typeface="Arial"/>
              <a:buChar char="•"/>
            </a:pPr>
            <a:r>
              <a:rPr lang="en-US" sz="1400" b="0" i="0" u="none" dirty="0">
                <a:solidFill>
                  <a:srgbClr val="000000"/>
                </a:solidFill>
                <a:latin typeface="Times New Roman"/>
                <a:cs typeface="Times New Roman"/>
              </a:rPr>
              <a:t>Relationship type, affair duration, and prior history of infidelity were similar across groups.</a:t>
            </a:r>
          </a:p>
          <a:p>
            <a:pPr marL="228600" indent="-228600" lvl="0" algn="l">
              <a:lnSpc>
                <a:spcPct val="122000"/>
              </a:lnSpc>
              <a:spcAft>
                <a:spcPts val="350"/>
              </a:spcAft>
              <a:buFont typeface="Arial"/>
              <a:buChar char="•"/>
            </a:pPr>
            <a:r>
              <a:rPr lang="en-US" sz="1400" b="0" i="0" u="none" dirty="0">
                <a:solidFill>
                  <a:srgbClr val="000000"/>
                </a:solidFill>
                <a:latin typeface="Times New Roman"/>
                <a:cs typeface="Times New Roman"/>
              </a:rPr>
              <a:t>At baseline, the waitlist group's uninvolved partners (UPs) showed somewhat higher relationship satisfaction and lower separation-proneness than immediate-group UPs.</a:t>
            </a:r>
          </a:p>
          <a:p>
            <a:pPr marL="228600" indent="-228600" lvl="0" algn="l">
              <a:lnSpc>
                <a:spcPct val="122000"/>
              </a:lnSpc>
              <a:spcAft>
                <a:spcPts val="350"/>
              </a:spcAft>
              <a:buFont typeface="Arial"/>
              <a:buChar char="•"/>
            </a:pPr>
            <a:r>
              <a:rPr lang="en-US" sz="1400" b="0" i="0" u="none" dirty="0">
                <a:solidFill>
                  <a:srgbClr val="000000"/>
                </a:solidFill>
                <a:latin typeface="Times New Roman"/>
                <a:cs typeface="Times New Roman"/>
              </a:rPr>
              <a:t>Dropout couples had the highest rate of pre-treatment separation (23.1%) and the most 'mixed' affairs (multiple affair types).</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Result 1  |  Waitlist couples did not deteriorate</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11</a:t>
            </a:r>
          </a:p>
        </p:txBody>
      </p:sp>
      <p:sp>
        <p:nvSpPr>
          <p:cNvPr id="30" name="RoundRect 30"/>
          <p:cNvSpPr/>
          <p:nvPr/>
        </p:nvSpPr>
        <p:spPr>
          <a:xfrm>
            <a:off x="640080" y="1250000"/>
            <a:ext cx="5900000" cy="4300000"/>
          </a:xfrm>
          <a:prstGeom prst="roundRect">
            <a:avLst>
              <a:gd name="adj" fmla="val 6000"/>
            </a:avLst>
          </a:prstGeom>
          <a:solidFill>
            <a:srgbClr val="F2F2F2"/>
          </a:solidFill>
          <a:ln w="12700">
            <a:solidFill>
              <a:srgbClr val="BFBFBF"/>
            </a:solidFill>
          </a:ln>
        </p:spPr>
        <p:txBody>
          <a:bodyPr/>
          <a:p>
            <a:endParaRPr lang="en-US"/>
          </a:p>
        </p:txBody>
      </p:sp>
      <p:sp>
        <p:nvSpPr>
          <p:cNvPr id="40" name="TextBox 40"/>
          <p:cNvSpPr txBox="1"/>
          <p:nvPr/>
        </p:nvSpPr>
        <p:spPr>
          <a:xfrm>
            <a:off x="940080" y="1900000"/>
            <a:ext cx="5300000" cy="1100000"/>
          </a:xfrm>
          <a:prstGeom prst="rect">
            <a:avLst/>
          </a:prstGeom>
          <a:noFill/>
        </p:spPr>
        <p:txBody>
          <a:bodyPr wrap="square" rtlCol="0" anchor="t">
            <a:normAutofit/>
          </a:bodyPr>
          <a:p>
            <a:pPr lvl="0" algn="ctr">
              <a:spcAft>
                <a:spcPts val="0"/>
              </a:spcAft>
              <a:buNone/>
            </a:pPr>
            <a:r>
              <a:rPr lang="en-US" sz="4000" b="1" i="0" u="none" dirty="0">
                <a:solidFill>
                  <a:srgbClr val="000000"/>
                </a:solidFill>
                <a:latin typeface="Times New Roman"/>
                <a:cs typeface="Times New Roman"/>
              </a:rPr>
              <a:t>↓ Separation risk</a:t>
            </a:r>
          </a:p>
        </p:txBody>
      </p:sp>
      <p:sp>
        <p:nvSpPr>
          <p:cNvPr id="41" name="TextBox 41"/>
          <p:cNvSpPr txBox="1"/>
          <p:nvPr/>
        </p:nvSpPr>
        <p:spPr>
          <a:xfrm>
            <a:off x="940080" y="3150000"/>
            <a:ext cx="5300000" cy="500000"/>
          </a:xfrm>
          <a:prstGeom prst="rect">
            <a:avLst/>
          </a:prstGeom>
          <a:noFill/>
        </p:spPr>
        <p:txBody>
          <a:bodyPr wrap="square" rtlCol="0" anchor="t">
            <a:normAutofit/>
          </a:bodyPr>
          <a:p>
            <a:pPr lvl="0" algn="ctr">
              <a:spcAft>
                <a:spcPts val="0"/>
              </a:spcAft>
              <a:buNone/>
            </a:pPr>
            <a:r>
              <a:rPr lang="en-US" sz="2000" b="1" i="0" u="none" dirty="0">
                <a:solidFill>
                  <a:srgbClr val="000000"/>
                </a:solidFill>
                <a:latin typeface="Times New Roman"/>
                <a:cs typeface="Times New Roman"/>
              </a:rPr>
              <a:t>During the 3-week wait</a:t>
            </a:r>
          </a:p>
        </p:txBody>
      </p:sp>
      <p:sp>
        <p:nvSpPr>
          <p:cNvPr id="42" name="TextBox 42"/>
          <p:cNvSpPr txBox="1"/>
          <p:nvPr/>
        </p:nvSpPr>
        <p:spPr>
          <a:xfrm>
            <a:off x="940080" y="4750000"/>
            <a:ext cx="5300000" cy="400000"/>
          </a:xfrm>
          <a:prstGeom prst="rect">
            <a:avLst/>
          </a:prstGeom>
          <a:noFill/>
        </p:spPr>
        <p:txBody>
          <a:bodyPr wrap="square" rtlCol="0" anchor="t">
            <a:normAutofit/>
          </a:bodyPr>
          <a:p>
            <a:pPr lvl="0" algn="ctr">
              <a:spcAft>
                <a:spcPts val="0"/>
              </a:spcAft>
              <a:buNone/>
            </a:pPr>
            <a:r>
              <a:rPr lang="en-US" sz="1400" b="0" i="1" u="none" dirty="0">
                <a:solidFill>
                  <a:srgbClr val="000000"/>
                </a:solidFill>
                <a:latin typeface="Times New Roman"/>
                <a:cs typeface="Times New Roman"/>
              </a:rPr>
              <a:t>Weiss-Cerreto: IP F(1,17)=4.51, p&lt;.05; UP F(1,17)=11.49, p&lt;.05</a:t>
            </a:r>
          </a:p>
        </p:txBody>
      </p:sp>
      <p:sp>
        <p:nvSpPr>
          <p:cNvPr id="11" name="Sub 11"/>
          <p:cNvSpPr txBox="1"/>
          <p:nvPr/>
        </p:nvSpPr>
        <p:spPr>
          <a:xfrm>
            <a:off x="6900000" y="1300000"/>
            <a:ext cx="465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Interpretation</a:t>
            </a:r>
          </a:p>
        </p:txBody>
      </p:sp>
      <p:sp>
        <p:nvSpPr>
          <p:cNvPr id="21" name="Body 21"/>
          <p:cNvSpPr txBox="1"/>
          <p:nvPr/>
        </p:nvSpPr>
        <p:spPr>
          <a:xfrm>
            <a:off x="6900000" y="1780000"/>
            <a:ext cx="4650000" cy="3800000"/>
          </a:xfrm>
          <a:prstGeom prst="rect">
            <a:avLst/>
          </a:prstGeom>
          <a:noFill/>
        </p:spPr>
        <p:txBody>
          <a:bodyPr wrap="square" rtlCol="0" anchor="t">
            <a:normAutofit/>
          </a:bodyPr>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Contrary to fears about waitlists, couples did NOT get worse while waiting.</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Both IPs and UPs actually reduced their proneness to separation/divorce over the 3 weeks.</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Suggests initial commitment ('buy-in' to therapy despite a wait) may itself aid outcomes.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Result 2  |  Relationship satisfaction improved</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12</a:t>
            </a:r>
          </a:p>
        </p:txBody>
      </p:sp>
      <p:sp>
        <p:nvSpPr>
          <p:cNvPr id="30" name="RoundRect 30"/>
          <p:cNvSpPr/>
          <p:nvPr/>
        </p:nvSpPr>
        <p:spPr>
          <a:xfrm>
            <a:off x="640080" y="1250000"/>
            <a:ext cx="5900000" cy="4300000"/>
          </a:xfrm>
          <a:prstGeom prst="roundRect">
            <a:avLst>
              <a:gd name="adj" fmla="val 6000"/>
            </a:avLst>
          </a:prstGeom>
          <a:solidFill>
            <a:srgbClr val="F2F2F2"/>
          </a:solidFill>
          <a:ln w="12700">
            <a:solidFill>
              <a:srgbClr val="BFBFBF"/>
            </a:solidFill>
          </a:ln>
        </p:spPr>
        <p:txBody>
          <a:bodyPr/>
          <a:p>
            <a:endParaRPr lang="en-US"/>
          </a:p>
        </p:txBody>
      </p:sp>
      <p:sp>
        <p:nvSpPr>
          <p:cNvPr id="40" name="TextBox 40"/>
          <p:cNvSpPr txBox="1"/>
          <p:nvPr/>
        </p:nvSpPr>
        <p:spPr>
          <a:xfrm>
            <a:off x="940080" y="1900000"/>
            <a:ext cx="5300000" cy="1100000"/>
          </a:xfrm>
          <a:prstGeom prst="rect">
            <a:avLst/>
          </a:prstGeom>
          <a:noFill/>
        </p:spPr>
        <p:txBody>
          <a:bodyPr wrap="square" rtlCol="0" anchor="t">
            <a:normAutofit/>
          </a:bodyPr>
          <a:p>
            <a:pPr lvl="0" algn="ctr">
              <a:spcAft>
                <a:spcPts val="0"/>
              </a:spcAft>
              <a:buNone/>
            </a:pPr>
            <a:r>
              <a:rPr lang="en-US" sz="4000" b="1" i="0" u="none" dirty="0">
                <a:solidFill>
                  <a:srgbClr val="000000"/>
                </a:solidFill>
                <a:latin typeface="Times New Roman"/>
                <a:cs typeface="Times New Roman"/>
              </a:rPr>
              <a:t>↑ Satisfaction</a:t>
            </a:r>
          </a:p>
        </p:txBody>
      </p:sp>
      <p:sp>
        <p:nvSpPr>
          <p:cNvPr id="41" name="TextBox 41"/>
          <p:cNvSpPr txBox="1"/>
          <p:nvPr/>
        </p:nvSpPr>
        <p:spPr>
          <a:xfrm>
            <a:off x="940080" y="3150000"/>
            <a:ext cx="5300000" cy="500000"/>
          </a:xfrm>
          <a:prstGeom prst="rect">
            <a:avLst/>
          </a:prstGeom>
          <a:noFill/>
        </p:spPr>
        <p:txBody>
          <a:bodyPr wrap="square" rtlCol="0" anchor="t">
            <a:normAutofit/>
          </a:bodyPr>
          <a:p>
            <a:pPr lvl="0" algn="ctr">
              <a:spcAft>
                <a:spcPts val="0"/>
              </a:spcAft>
              <a:buNone/>
            </a:pPr>
            <a:r>
              <a:rPr lang="en-US" sz="2000" b="1" i="0" u="none" dirty="0">
                <a:solidFill>
                  <a:srgbClr val="000000"/>
                </a:solidFill>
                <a:latin typeface="Times New Roman"/>
                <a:cs typeface="Times New Roman"/>
              </a:rPr>
              <a:t>Pre → Post treatment</a:t>
            </a:r>
          </a:p>
        </p:txBody>
      </p:sp>
      <p:sp>
        <p:nvSpPr>
          <p:cNvPr id="42" name="TextBox 42"/>
          <p:cNvSpPr txBox="1"/>
          <p:nvPr/>
        </p:nvSpPr>
        <p:spPr>
          <a:xfrm>
            <a:off x="940080" y="4750000"/>
            <a:ext cx="5300000" cy="400000"/>
          </a:xfrm>
          <a:prstGeom prst="rect">
            <a:avLst/>
          </a:prstGeom>
          <a:noFill/>
        </p:spPr>
        <p:txBody>
          <a:bodyPr wrap="square" rtlCol="0" anchor="t">
            <a:normAutofit/>
          </a:bodyPr>
          <a:p>
            <a:pPr lvl="0" algn="ctr">
              <a:spcAft>
                <a:spcPts val="0"/>
              </a:spcAft>
              <a:buNone/>
            </a:pPr>
            <a:r>
              <a:rPr lang="en-US" sz="1400" b="0" i="1" u="none" dirty="0">
                <a:solidFill>
                  <a:srgbClr val="000000"/>
                </a:solidFill>
                <a:latin typeface="Times New Roman"/>
                <a:cs typeface="Times New Roman"/>
              </a:rPr>
              <a:t>GRS: IP F(1,23)=4.78, p&lt;.05; UP F(1,23)=9.36, p&lt;.05 (large effects)</a:t>
            </a:r>
          </a:p>
        </p:txBody>
      </p:sp>
      <p:sp>
        <p:nvSpPr>
          <p:cNvPr id="11" name="Sub 11"/>
          <p:cNvSpPr txBox="1"/>
          <p:nvPr/>
        </p:nvSpPr>
        <p:spPr>
          <a:xfrm>
            <a:off x="6900000" y="1300000"/>
            <a:ext cx="465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What improved</a:t>
            </a:r>
          </a:p>
        </p:txBody>
      </p:sp>
      <p:sp>
        <p:nvSpPr>
          <p:cNvPr id="21" name="Body 21"/>
          <p:cNvSpPr txBox="1"/>
          <p:nvPr/>
        </p:nvSpPr>
        <p:spPr>
          <a:xfrm>
            <a:off x="6900000" y="1780000"/>
            <a:ext cx="4650000" cy="3800000"/>
          </a:xfrm>
          <a:prstGeom prst="rect">
            <a:avLst/>
          </a:prstGeom>
          <a:noFill/>
        </p:spPr>
        <p:txBody>
          <a:bodyPr wrap="square" rtlCol="0" anchor="t">
            <a:normAutofit/>
          </a:bodyPr>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For completers, Global Relationship Satisfaction rose significantly from first to last session.</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Weiss-Cerreto separation-proneness fell significantly for both IPs and UPs.</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Gains occurred regardless of group (immediate or waitlist), indicating the TRM — not timing — drove change.</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Result 3  |  Reduced negative affect (SPAFF)</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13</a:t>
            </a:r>
          </a:p>
        </p:txBody>
      </p:sp>
      <p:sp>
        <p:nvSpPr>
          <p:cNvPr id="30" name="RoundRect 30"/>
          <p:cNvSpPr/>
          <p:nvPr/>
        </p:nvSpPr>
        <p:spPr>
          <a:xfrm>
            <a:off x="640080" y="1250000"/>
            <a:ext cx="5900000" cy="4300000"/>
          </a:xfrm>
          <a:prstGeom prst="roundRect">
            <a:avLst>
              <a:gd name="adj" fmla="val 6000"/>
            </a:avLst>
          </a:prstGeom>
          <a:solidFill>
            <a:srgbClr val="F2F2F2"/>
          </a:solidFill>
          <a:ln w="12700">
            <a:solidFill>
              <a:srgbClr val="BFBFBF"/>
            </a:solidFill>
          </a:ln>
        </p:spPr>
        <p:txBody>
          <a:bodyPr/>
          <a:p>
            <a:endParaRPr lang="en-US"/>
          </a:p>
        </p:txBody>
      </p:sp>
      <p:sp>
        <p:nvSpPr>
          <p:cNvPr id="40" name="TextBox 40"/>
          <p:cNvSpPr txBox="1"/>
          <p:nvPr/>
        </p:nvSpPr>
        <p:spPr>
          <a:xfrm>
            <a:off x="940080" y="1900000"/>
            <a:ext cx="5300000" cy="1100000"/>
          </a:xfrm>
          <a:prstGeom prst="rect">
            <a:avLst/>
          </a:prstGeom>
          <a:noFill/>
        </p:spPr>
        <p:txBody>
          <a:bodyPr wrap="square" rtlCol="0" anchor="t">
            <a:normAutofit/>
          </a:bodyPr>
          <a:p>
            <a:pPr lvl="0" algn="ctr">
              <a:spcAft>
                <a:spcPts val="0"/>
              </a:spcAft>
              <a:buNone/>
            </a:pPr>
            <a:r>
              <a:rPr lang="en-US" sz="4000" b="1" i="0" u="none" dirty="0">
                <a:solidFill>
                  <a:srgbClr val="000000"/>
                </a:solidFill>
                <a:latin typeface="Times New Roman"/>
                <a:cs typeface="Times New Roman"/>
              </a:rPr>
              <a:t>.39 → .24</a:t>
            </a:r>
          </a:p>
        </p:txBody>
      </p:sp>
      <p:sp>
        <p:nvSpPr>
          <p:cNvPr id="41" name="TextBox 41"/>
          <p:cNvSpPr txBox="1"/>
          <p:nvPr/>
        </p:nvSpPr>
        <p:spPr>
          <a:xfrm>
            <a:off x="940080" y="3150000"/>
            <a:ext cx="5300000" cy="500000"/>
          </a:xfrm>
          <a:prstGeom prst="rect">
            <a:avLst/>
          </a:prstGeom>
          <a:noFill/>
        </p:spPr>
        <p:txBody>
          <a:bodyPr wrap="square" rtlCol="0" anchor="t">
            <a:normAutofit/>
          </a:bodyPr>
          <a:p>
            <a:pPr lvl="0" algn="ctr">
              <a:spcAft>
                <a:spcPts val="0"/>
              </a:spcAft>
              <a:buNone/>
            </a:pPr>
            <a:r>
              <a:rPr lang="en-US" sz="2000" b="1" i="0" u="none" dirty="0">
                <a:solidFill>
                  <a:srgbClr val="000000"/>
                </a:solidFill>
                <a:latin typeface="Times New Roman"/>
                <a:cs typeface="Times New Roman"/>
              </a:rPr>
              <a:t>UP negative affect (proportion of time)</a:t>
            </a:r>
          </a:p>
        </p:txBody>
      </p:sp>
      <p:sp>
        <p:nvSpPr>
          <p:cNvPr id="42" name="TextBox 42"/>
          <p:cNvSpPr txBox="1"/>
          <p:nvPr/>
        </p:nvSpPr>
        <p:spPr>
          <a:xfrm>
            <a:off x="940080" y="4750000"/>
            <a:ext cx="5300000" cy="400000"/>
          </a:xfrm>
          <a:prstGeom prst="rect">
            <a:avLst/>
          </a:prstGeom>
          <a:noFill/>
        </p:spPr>
        <p:txBody>
          <a:bodyPr wrap="square" rtlCol="0" anchor="t">
            <a:normAutofit/>
          </a:bodyPr>
          <a:p>
            <a:pPr lvl="0" algn="ctr">
              <a:spcAft>
                <a:spcPts val="0"/>
              </a:spcAft>
              <a:buNone/>
            </a:pPr>
            <a:r>
              <a:rPr lang="en-US" sz="1400" b="0" i="1" u="none" dirty="0">
                <a:solidFill>
                  <a:srgbClr val="000000"/>
                </a:solidFill>
                <a:latin typeface="Times New Roman"/>
                <a:cs typeface="Times New Roman"/>
              </a:rPr>
              <a:t>UP negative SPAFF F(1,15)=4.83, p&lt;.05 (large effect)</a:t>
            </a:r>
          </a:p>
        </p:txBody>
      </p:sp>
      <p:sp>
        <p:nvSpPr>
          <p:cNvPr id="11" name="Sub 11"/>
          <p:cNvSpPr txBox="1"/>
          <p:nvPr/>
        </p:nvSpPr>
        <p:spPr>
          <a:xfrm>
            <a:off x="6900000" y="1300000"/>
            <a:ext cx="465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Observed behavior</a:t>
            </a:r>
          </a:p>
        </p:txBody>
      </p:sp>
      <p:sp>
        <p:nvSpPr>
          <p:cNvPr id="21" name="Body 21"/>
          <p:cNvSpPr txBox="1"/>
          <p:nvPr/>
        </p:nvSpPr>
        <p:spPr>
          <a:xfrm>
            <a:off x="6900000" y="1780000"/>
            <a:ext cx="4650000" cy="3800000"/>
          </a:xfrm>
          <a:prstGeom prst="rect">
            <a:avLst/>
          </a:prstGeom>
          <a:noFill/>
        </p:spPr>
        <p:txBody>
          <a:bodyPr wrap="square" rtlCol="0" anchor="t">
            <a:normAutofit/>
          </a:bodyPr>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Uninvolved partners showed a significant drop in negative emotional behavior during conflict, pre to post.</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Effect sizes for positive, neutral &amp; 'Four Horsemen' codes were medium-to-large (though not all significant).</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IP SPAFF changes were in the expected direction but not statistically significant.</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Result 4  |  Dropout linked to separation &amp; prior infidelity</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14</a:t>
            </a:r>
          </a:p>
        </p:txBody>
      </p:sp>
      <p:sp>
        <p:nvSpPr>
          <p:cNvPr id="30" name="RoundRect 30"/>
          <p:cNvSpPr/>
          <p:nvPr/>
        </p:nvSpPr>
        <p:spPr>
          <a:xfrm>
            <a:off x="640080" y="1250000"/>
            <a:ext cx="5900000" cy="4300000"/>
          </a:xfrm>
          <a:prstGeom prst="roundRect">
            <a:avLst>
              <a:gd name="adj" fmla="val 6000"/>
            </a:avLst>
          </a:prstGeom>
          <a:solidFill>
            <a:srgbClr val="F2F2F2"/>
          </a:solidFill>
          <a:ln w="12700">
            <a:solidFill>
              <a:srgbClr val="BFBFBF"/>
            </a:solidFill>
          </a:ln>
        </p:spPr>
        <p:txBody>
          <a:bodyPr/>
          <a:p>
            <a:endParaRPr lang="en-US"/>
          </a:p>
        </p:txBody>
      </p:sp>
      <p:sp>
        <p:nvSpPr>
          <p:cNvPr id="40" name="TextBox 40"/>
          <p:cNvSpPr txBox="1"/>
          <p:nvPr/>
        </p:nvSpPr>
        <p:spPr>
          <a:xfrm>
            <a:off x="940080" y="1900000"/>
            <a:ext cx="5300000" cy="1100000"/>
          </a:xfrm>
          <a:prstGeom prst="rect">
            <a:avLst/>
          </a:prstGeom>
          <a:noFill/>
        </p:spPr>
        <p:txBody>
          <a:bodyPr wrap="square" rtlCol="0" anchor="t">
            <a:normAutofit/>
          </a:bodyPr>
          <a:p>
            <a:pPr lvl="0" algn="ctr">
              <a:spcAft>
                <a:spcPts val="0"/>
              </a:spcAft>
              <a:buNone/>
            </a:pPr>
            <a:r>
              <a:rPr lang="en-US" sz="4000" b="1" i="0" u="none" dirty="0">
                <a:solidFill>
                  <a:srgbClr val="000000"/>
                </a:solidFill>
                <a:latin typeface="Times New Roman"/>
                <a:cs typeface="Times New Roman"/>
              </a:rPr>
              <a:t>57.9%</a:t>
            </a:r>
          </a:p>
        </p:txBody>
      </p:sp>
      <p:sp>
        <p:nvSpPr>
          <p:cNvPr id="41" name="TextBox 41"/>
          <p:cNvSpPr txBox="1"/>
          <p:nvPr/>
        </p:nvSpPr>
        <p:spPr>
          <a:xfrm>
            <a:off x="940080" y="3150000"/>
            <a:ext cx="5300000" cy="500000"/>
          </a:xfrm>
          <a:prstGeom prst="rect">
            <a:avLst/>
          </a:prstGeom>
          <a:noFill/>
        </p:spPr>
        <p:txBody>
          <a:bodyPr wrap="square" rtlCol="0" anchor="t">
            <a:normAutofit/>
          </a:bodyPr>
          <a:p>
            <a:pPr lvl="0" algn="ctr">
              <a:spcAft>
                <a:spcPts val="0"/>
              </a:spcAft>
              <a:buNone/>
            </a:pPr>
            <a:r>
              <a:rPr lang="en-US" sz="2000" b="1" i="0" u="none" dirty="0">
                <a:solidFill>
                  <a:srgbClr val="000000"/>
                </a:solidFill>
                <a:latin typeface="Times New Roman"/>
                <a:cs typeface="Times New Roman"/>
              </a:rPr>
              <a:t>of surveyed dropouts later divorced/separated</a:t>
            </a:r>
          </a:p>
        </p:txBody>
      </p:sp>
      <p:sp>
        <p:nvSpPr>
          <p:cNvPr id="42" name="TextBox 42"/>
          <p:cNvSpPr txBox="1"/>
          <p:nvPr/>
        </p:nvSpPr>
        <p:spPr>
          <a:xfrm>
            <a:off x="940080" y="4750000"/>
            <a:ext cx="5300000" cy="400000"/>
          </a:xfrm>
          <a:prstGeom prst="rect">
            <a:avLst/>
          </a:prstGeom>
          <a:noFill/>
        </p:spPr>
        <p:txBody>
          <a:bodyPr wrap="square" rtlCol="0" anchor="t">
            <a:normAutofit/>
          </a:bodyPr>
          <a:p>
            <a:pPr lvl="0" algn="ctr">
              <a:spcAft>
                <a:spcPts val="0"/>
              </a:spcAft>
              <a:buNone/>
            </a:pPr>
            <a:r>
              <a:rPr lang="en-US" sz="1400" b="0" i="1" u="none" dirty="0">
                <a:solidFill>
                  <a:srgbClr val="000000"/>
                </a:solidFill>
                <a:latin typeface="Times New Roman"/>
                <a:cs typeface="Times New Roman"/>
              </a:rPr>
              <a:t>Initial GC scores did NOT significantly predict dropout (H2 partly rejected)</a:t>
            </a:r>
          </a:p>
        </p:txBody>
      </p:sp>
      <p:sp>
        <p:nvSpPr>
          <p:cNvPr id="11" name="Sub 11"/>
          <p:cNvSpPr txBox="1"/>
          <p:nvPr/>
        </p:nvSpPr>
        <p:spPr>
          <a:xfrm>
            <a:off x="6900000" y="1300000"/>
            <a:ext cx="465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Who dropped out</a:t>
            </a:r>
          </a:p>
        </p:txBody>
      </p:sp>
      <p:sp>
        <p:nvSpPr>
          <p:cNvPr id="21" name="Body 21"/>
          <p:cNvSpPr txBox="1"/>
          <p:nvPr/>
        </p:nvSpPr>
        <p:spPr>
          <a:xfrm>
            <a:off x="6900000" y="1780000"/>
            <a:ext cx="4650000" cy="3800000"/>
          </a:xfrm>
          <a:prstGeom prst="rect">
            <a:avLst/>
          </a:prstGeom>
          <a:noFill/>
        </p:spPr>
        <p:txBody>
          <a:bodyPr wrap="square" rtlCol="0" anchor="t">
            <a:normAutofit/>
          </a:bodyPr>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60% of immediate-group couples dropped out vs 44.8% of waitlist couples.</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Dropouts more often entered already separated and reported prior infidelity.</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Among divorced/separated dropouts, 72.7% reported a further affair after leaving — vs 0% of those who stayed together.</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Result 5  |  Dyadic effects: trust &amp; commitment matter</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15</a:t>
            </a:r>
          </a:p>
        </p:txBody>
      </p:sp>
      <p:sp>
        <p:nvSpPr>
          <p:cNvPr id="30" name="RoundRect 30"/>
          <p:cNvSpPr/>
          <p:nvPr/>
        </p:nvSpPr>
        <p:spPr>
          <a:xfrm>
            <a:off x="640080" y="1250000"/>
            <a:ext cx="5900000" cy="4300000"/>
          </a:xfrm>
          <a:prstGeom prst="roundRect">
            <a:avLst>
              <a:gd name="adj" fmla="val 6000"/>
            </a:avLst>
          </a:prstGeom>
          <a:solidFill>
            <a:srgbClr val="F2F2F2"/>
          </a:solidFill>
          <a:ln w="12700">
            <a:solidFill>
              <a:srgbClr val="BFBFBF"/>
            </a:solidFill>
          </a:ln>
        </p:spPr>
        <p:txBody>
          <a:bodyPr/>
          <a:p>
            <a:endParaRPr lang="en-US"/>
          </a:p>
        </p:txBody>
      </p:sp>
      <p:sp>
        <p:nvSpPr>
          <p:cNvPr id="40" name="TextBox 40"/>
          <p:cNvSpPr txBox="1"/>
          <p:nvPr/>
        </p:nvSpPr>
        <p:spPr>
          <a:xfrm>
            <a:off x="940080" y="1900000"/>
            <a:ext cx="5300000" cy="1100000"/>
          </a:xfrm>
          <a:prstGeom prst="rect">
            <a:avLst/>
          </a:prstGeom>
          <a:noFill/>
        </p:spPr>
        <p:txBody>
          <a:bodyPr wrap="square" rtlCol="0" anchor="t">
            <a:normAutofit/>
          </a:bodyPr>
          <a:p>
            <a:pPr lvl="0" algn="ctr">
              <a:spcAft>
                <a:spcPts val="0"/>
              </a:spcAft>
              <a:buNone/>
            </a:pPr>
            <a:r>
              <a:rPr lang="en-US" sz="4000" b="1" i="0" u="none" dirty="0">
                <a:solidFill>
                  <a:srgbClr val="000000"/>
                </a:solidFill>
                <a:latin typeface="Times New Roman"/>
                <a:cs typeface="Times New Roman"/>
              </a:rPr>
              <a:t>APIM</a:t>
            </a:r>
          </a:p>
        </p:txBody>
      </p:sp>
      <p:sp>
        <p:nvSpPr>
          <p:cNvPr id="41" name="TextBox 41"/>
          <p:cNvSpPr txBox="1"/>
          <p:nvPr/>
        </p:nvSpPr>
        <p:spPr>
          <a:xfrm>
            <a:off x="940080" y="3150000"/>
            <a:ext cx="5300000" cy="500000"/>
          </a:xfrm>
          <a:prstGeom prst="rect">
            <a:avLst/>
          </a:prstGeom>
          <a:noFill/>
        </p:spPr>
        <p:txBody>
          <a:bodyPr wrap="square" rtlCol="0" anchor="t">
            <a:normAutofit/>
          </a:bodyPr>
          <a:p>
            <a:pPr lvl="0" algn="ctr">
              <a:spcAft>
                <a:spcPts val="0"/>
              </a:spcAft>
              <a:buNone/>
            </a:pPr>
            <a:r>
              <a:rPr lang="en-US" sz="2000" b="1" i="0" u="none" dirty="0">
                <a:solidFill>
                  <a:srgbClr val="000000"/>
                </a:solidFill>
                <a:latin typeface="Times New Roman"/>
                <a:cs typeface="Times New Roman"/>
              </a:rPr>
              <a:t>Actor + Partner effects</a:t>
            </a:r>
          </a:p>
        </p:txBody>
      </p:sp>
      <p:sp>
        <p:nvSpPr>
          <p:cNvPr id="42" name="TextBox 42"/>
          <p:cNvSpPr txBox="1"/>
          <p:nvPr/>
        </p:nvSpPr>
        <p:spPr>
          <a:xfrm>
            <a:off x="940080" y="4750000"/>
            <a:ext cx="5300000" cy="400000"/>
          </a:xfrm>
          <a:prstGeom prst="rect">
            <a:avLst/>
          </a:prstGeom>
          <a:noFill/>
        </p:spPr>
        <p:txBody>
          <a:bodyPr wrap="square" rtlCol="0" anchor="t">
            <a:normAutofit/>
          </a:bodyPr>
          <a:p>
            <a:pPr lvl="0" algn="ctr">
              <a:spcAft>
                <a:spcPts val="0"/>
              </a:spcAft>
              <a:buNone/>
            </a:pPr>
            <a:r>
              <a:rPr lang="en-US" sz="1400" b="0" i="1" u="none" dirty="0">
                <a:solidFill>
                  <a:srgbClr val="000000"/>
                </a:solidFill>
                <a:latin typeface="Times New Roman"/>
                <a:cs typeface="Times New Roman"/>
              </a:rPr>
              <a:t>Multiple actor/partner effects significant at p&lt;.001</a:t>
            </a:r>
          </a:p>
        </p:txBody>
      </p:sp>
      <p:sp>
        <p:nvSpPr>
          <p:cNvPr id="11" name="Sub 11"/>
          <p:cNvSpPr txBox="1"/>
          <p:nvPr/>
        </p:nvSpPr>
        <p:spPr>
          <a:xfrm>
            <a:off x="6900000" y="1300000"/>
            <a:ext cx="465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Key dyadic findings</a:t>
            </a:r>
          </a:p>
        </p:txBody>
      </p:sp>
      <p:sp>
        <p:nvSpPr>
          <p:cNvPr id="21" name="Body 21"/>
          <p:cNvSpPr txBox="1"/>
          <p:nvPr/>
        </p:nvSpPr>
        <p:spPr>
          <a:xfrm>
            <a:off x="6900000" y="1780000"/>
            <a:ext cx="4650000" cy="3800000"/>
          </a:xfrm>
          <a:prstGeom prst="rect">
            <a:avLst/>
          </a:prstGeom>
          <a:noFill/>
        </p:spPr>
        <p:txBody>
          <a:bodyPr wrap="square" rtlCol="0" anchor="t">
            <a:normAutofit/>
          </a:bodyPr>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Trust, commitment, and turning-toward were the domains yielding the most significant effects across both groups.</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One partner's commitment/trust significantly predicted the OTHER partner's satisfaction (partner effects).</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Confirms infidelity recovery is a truly dyadic, interdependent process — not just individual change.</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Exploratory finding  |  Commitment &amp; 'buy-in'</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16</a:t>
            </a:r>
          </a:p>
        </p:txBody>
      </p:sp>
      <p:sp>
        <p:nvSpPr>
          <p:cNvPr id="10" name="Sub 10"/>
          <p:cNvSpPr txBox="1"/>
          <p:nvPr/>
        </p:nvSpPr>
        <p:spPr>
          <a:xfrm>
            <a:off x="640080" y="1200000"/>
            <a:ext cx="510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The signal</a:t>
            </a:r>
          </a:p>
        </p:txBody>
      </p:sp>
      <p:sp>
        <p:nvSpPr>
          <p:cNvPr id="20" name="Body 20"/>
          <p:cNvSpPr txBox="1"/>
          <p:nvPr/>
        </p:nvSpPr>
        <p:spPr>
          <a:xfrm>
            <a:off x="640080" y="1650000"/>
            <a:ext cx="5100000" cy="3900000"/>
          </a:xfrm>
          <a:prstGeom prst="rect">
            <a:avLst/>
          </a:prstGeom>
          <a:noFill/>
        </p:spPr>
        <p:txBody>
          <a:bodyPr wrap="square" rtlCol="0" anchor="t">
            <a:normAutofit/>
          </a:bodyPr>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On the Percent Improvement (PI) index, most couples fell in the 'improved but not clinically significant' range.</a:t>
            </a:r>
          </a:p>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Immediate-group IPs (63.5%) &amp; UPs (53.8%) scored ~20% higher on overall PI than waitlist couples.</a:t>
            </a:r>
          </a:p>
          <a:p>
            <a:pPr marL="228600" indent="-228600" lvl="0" algn="l">
              <a:lnSpc>
                <a:spcPct val="120000"/>
              </a:lnSpc>
              <a:spcAft>
                <a:spcPts val="300"/>
              </a:spcAft>
              <a:buFont typeface="Arial"/>
              <a:buChar char="•"/>
            </a:pPr>
            <a:r>
              <a:rPr lang="en-US" sz="1400" b="0" i="0" u="none" dirty="0">
                <a:solidFill>
                  <a:srgbClr val="000000"/>
                </a:solidFill>
                <a:latin typeface="Times New Roman"/>
                <a:cs typeface="Times New Roman"/>
              </a:rPr>
              <a:t>BUT waitlist IPs showed the HIGHEST rate of clinically significant change (24% at ≥50%; 52% at 25-49%).</a:t>
            </a:r>
          </a:p>
        </p:txBody>
      </p:sp>
      <p:sp>
        <p:nvSpPr>
          <p:cNvPr id="30" name="RoundRect 30"/>
          <p:cNvSpPr/>
          <p:nvPr/>
        </p:nvSpPr>
        <p:spPr>
          <a:xfrm>
            <a:off x="6250000" y="1120000"/>
            <a:ext cx="5300000" cy="3100000"/>
          </a:xfrm>
          <a:prstGeom prst="roundRect">
            <a:avLst>
              <a:gd name="adj" fmla="val 6000"/>
            </a:avLst>
          </a:prstGeom>
          <a:solidFill>
            <a:srgbClr val="F2F2F2"/>
          </a:solidFill>
          <a:ln w="12700">
            <a:solidFill>
              <a:srgbClr val="BFBFBF"/>
            </a:solidFill>
          </a:ln>
        </p:spPr>
        <p:txBody>
          <a:bodyPr/>
          <a:p>
            <a:endParaRPr lang="en-US"/>
          </a:p>
        </p:txBody>
      </p:sp>
      <p:sp>
        <p:nvSpPr>
          <p:cNvPr id="11" name="Sub 11"/>
          <p:cNvSpPr txBox="1"/>
          <p:nvPr/>
        </p:nvSpPr>
        <p:spPr>
          <a:xfrm>
            <a:off x="6520000" y="1320000"/>
            <a:ext cx="4800000" cy="360000"/>
          </a:xfrm>
          <a:prstGeom prst="rect">
            <a:avLst/>
          </a:prstGeom>
          <a:noFill/>
        </p:spPr>
        <p:txBody>
          <a:bodyPr wrap="square" rtlCol="0" anchor="t">
            <a:normAutofit/>
          </a:bodyPr>
          <a:p>
            <a:pPr lvl="0" algn="l">
              <a:spcAft>
                <a:spcPts val="200"/>
              </a:spcAft>
              <a:buNone/>
            </a:pPr>
            <a:r>
              <a:rPr lang="en-US" sz="2000" b="1" i="0" u="none" dirty="0">
                <a:solidFill>
                  <a:srgbClr val="000000"/>
                </a:solidFill>
                <a:latin typeface="Times New Roman"/>
                <a:cs typeface="Times New Roman"/>
              </a:rPr>
              <a:t>Caution</a:t>
            </a:r>
          </a:p>
        </p:txBody>
      </p:sp>
      <p:sp>
        <p:nvSpPr>
          <p:cNvPr id="21" name="Body 21"/>
          <p:cNvSpPr txBox="1"/>
          <p:nvPr/>
        </p:nvSpPr>
        <p:spPr>
          <a:xfrm>
            <a:off x="6520000" y="1780000"/>
            <a:ext cx="4800000" cy="2300000"/>
          </a:xfrm>
          <a:prstGeom prst="rect">
            <a:avLst/>
          </a:prstGeom>
          <a:noFill/>
        </p:spPr>
        <p:txBody>
          <a:bodyPr wrap="square" rtlCol="0" anchor="t">
            <a:normAutofit/>
          </a:bodyPr>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The 'waiting then improving' pattern is correlational, not causal.</a:t>
            </a:r>
          </a:p>
          <a:p>
            <a:pPr marL="228600" indent="-228600" lvl="0" algn="l">
              <a:lnSpc>
                <a:spcPct val="122000"/>
              </a:lnSpc>
              <a:spcAft>
                <a:spcPts val="300"/>
              </a:spcAft>
              <a:buFont typeface="Arial"/>
              <a:buChar char="•"/>
            </a:pPr>
            <a:r>
              <a:rPr lang="en-US" sz="1400" b="0" i="0" u="none" dirty="0">
                <a:solidFill>
                  <a:srgbClr val="000000"/>
                </a:solidFill>
                <a:latin typeface="Times New Roman"/>
                <a:cs typeface="Times New Roman"/>
              </a:rPr>
              <a:t>It hints that willingness to persist despite a wait (commitment/buy-in) may support deeper change — a hypothesis for future study.</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Discussion: what the RCT supports</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17</a:t>
            </a:r>
          </a:p>
        </p:txBody>
      </p:sp>
      <p:sp>
        <p:nvSpPr>
          <p:cNvPr id="40" name="RoundRect 40"/>
          <p:cNvSpPr/>
          <p:nvPr/>
        </p:nvSpPr>
        <p:spPr>
          <a:xfrm>
            <a:off x="64008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0" name="TextBox 50"/>
          <p:cNvSpPr txBox="1"/>
          <p:nvPr/>
        </p:nvSpPr>
        <p:spPr>
          <a:xfrm>
            <a:off x="790080" y="1400000"/>
            <a:ext cx="3137280" cy="5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Supported</a:t>
            </a:r>
          </a:p>
        </p:txBody>
      </p:sp>
      <p:sp>
        <p:nvSpPr>
          <p:cNvPr id="60" name="Body 60"/>
          <p:cNvSpPr txBox="1"/>
          <p:nvPr/>
        </p:nvSpPr>
        <p:spPr>
          <a:xfrm>
            <a:off x="790080" y="1980000"/>
            <a:ext cx="3137280" cy="33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The TRM effectively facilitated affair recovery, with large pre-post effects.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Relationship satisfaction &amp; separation-risk improved significantly.</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Safety was acceptable; delivered successfully via teletherapy during COVID-19.</a:t>
            </a:r>
          </a:p>
        </p:txBody>
      </p:sp>
      <p:sp>
        <p:nvSpPr>
          <p:cNvPr id="41" name="RoundRect 41"/>
          <p:cNvSpPr/>
          <p:nvPr/>
        </p:nvSpPr>
        <p:spPr>
          <a:xfrm>
            <a:off x="437736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1" name="TextBox 51"/>
          <p:cNvSpPr txBox="1"/>
          <p:nvPr/>
        </p:nvSpPr>
        <p:spPr>
          <a:xfrm>
            <a:off x="4527360" y="1400000"/>
            <a:ext cx="3137280" cy="5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Not / partly supported</a:t>
            </a:r>
          </a:p>
        </p:txBody>
      </p:sp>
      <p:sp>
        <p:nvSpPr>
          <p:cNvPr id="61" name="Body 61"/>
          <p:cNvSpPr txBox="1"/>
          <p:nvPr/>
        </p:nvSpPr>
        <p:spPr>
          <a:xfrm>
            <a:off x="4527360" y="1980000"/>
            <a:ext cx="3137280" cy="33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Initial GC scores did not reliably predict dropout (H2).</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SPAFF gains reached significance mainly for UPs, not IPs.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High attrition tempers how strongly efficacy can be claimed.</a:t>
            </a:r>
          </a:p>
        </p:txBody>
      </p:sp>
      <p:sp>
        <p:nvSpPr>
          <p:cNvPr id="42" name="RoundRect 42"/>
          <p:cNvSpPr/>
          <p:nvPr/>
        </p:nvSpPr>
        <p:spPr>
          <a:xfrm>
            <a:off x="811464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2" name="TextBox 52"/>
          <p:cNvSpPr txBox="1"/>
          <p:nvPr/>
        </p:nvSpPr>
        <p:spPr>
          <a:xfrm>
            <a:off x="8264640" y="1400000"/>
            <a:ext cx="3137280" cy="5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Implication</a:t>
            </a:r>
          </a:p>
        </p:txBody>
      </p:sp>
      <p:sp>
        <p:nvSpPr>
          <p:cNvPr id="62" name="Body 62"/>
          <p:cNvSpPr txBox="1"/>
          <p:nvPr/>
        </p:nvSpPr>
        <p:spPr>
          <a:xfrm>
            <a:off x="8264640" y="1980000"/>
            <a:ext cx="3137280" cy="33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First RCT validating GMCT (TRM) for infidelity — an evidence-based option clinicians can use.</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Trust &amp; commitment are central targets.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Supports embedding infidelity-specific training in graduate programs.</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Strengths, limitations and next steps</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18</a:t>
            </a:r>
          </a:p>
        </p:txBody>
      </p:sp>
      <p:sp>
        <p:nvSpPr>
          <p:cNvPr id="40" name="RoundRect 40"/>
          <p:cNvSpPr/>
          <p:nvPr/>
        </p:nvSpPr>
        <p:spPr>
          <a:xfrm>
            <a:off x="64008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0" name="TextBox 50"/>
          <p:cNvSpPr txBox="1"/>
          <p:nvPr/>
        </p:nvSpPr>
        <p:spPr>
          <a:xfrm>
            <a:off x="790080" y="1400000"/>
            <a:ext cx="3137280" cy="5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Strengths</a:t>
            </a:r>
          </a:p>
        </p:txBody>
      </p:sp>
      <p:sp>
        <p:nvSpPr>
          <p:cNvPr id="60" name="Body 60"/>
          <p:cNvSpPr txBox="1"/>
          <p:nvPr/>
        </p:nvSpPr>
        <p:spPr>
          <a:xfrm>
            <a:off x="790080" y="1980000"/>
            <a:ext cx="3137280" cy="33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First international RCT of GMCT for affairs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Randomized, active waitlist control</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Dyadic (APIM) + observational (SPAFF) analysis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Diverse, cross-cultural sample; pre-registered</a:t>
            </a:r>
          </a:p>
        </p:txBody>
      </p:sp>
      <p:sp>
        <p:nvSpPr>
          <p:cNvPr id="41" name="RoundRect 41"/>
          <p:cNvSpPr/>
          <p:nvPr/>
        </p:nvSpPr>
        <p:spPr>
          <a:xfrm>
            <a:off x="437736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1" name="TextBox 51"/>
          <p:cNvSpPr txBox="1"/>
          <p:nvPr/>
        </p:nvSpPr>
        <p:spPr>
          <a:xfrm>
            <a:off x="4527360" y="1400000"/>
            <a:ext cx="3137280" cy="5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Limitations</a:t>
            </a:r>
          </a:p>
        </p:txBody>
      </p:sp>
      <p:sp>
        <p:nvSpPr>
          <p:cNvPr id="61" name="Body 61"/>
          <p:cNvSpPr txBox="1"/>
          <p:nvPr/>
        </p:nvSpPr>
        <p:spPr>
          <a:xfrm>
            <a:off x="4527360" y="1980000"/>
            <a:ext cx="3137280" cy="33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High dropout (only 21 completers)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Very limited pool of eligible therapists (CGTs with TAT training)</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Cost &amp; English-only criteria limit generalizability</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COVID-19 teletherapy &amp; 480-item survey fatigue</a:t>
            </a:r>
          </a:p>
        </p:txBody>
      </p:sp>
      <p:sp>
        <p:nvSpPr>
          <p:cNvPr id="42" name="RoundRect 42"/>
          <p:cNvSpPr/>
          <p:nvPr/>
        </p:nvSpPr>
        <p:spPr>
          <a:xfrm>
            <a:off x="8114640" y="1200000"/>
            <a:ext cx="3437280" cy="4200000"/>
          </a:xfrm>
          <a:prstGeom prst="roundRect">
            <a:avLst>
              <a:gd name="adj" fmla="val 6000"/>
            </a:avLst>
          </a:prstGeom>
          <a:solidFill>
            <a:srgbClr val="F2F2F2"/>
          </a:solidFill>
          <a:ln w="12700">
            <a:solidFill>
              <a:srgbClr val="BFBFBF"/>
            </a:solidFill>
          </a:ln>
        </p:spPr>
        <p:txBody>
          <a:bodyPr/>
          <a:p>
            <a:endParaRPr lang="en-US"/>
          </a:p>
        </p:txBody>
      </p:sp>
      <p:sp>
        <p:nvSpPr>
          <p:cNvPr id="52" name="TextBox 52"/>
          <p:cNvSpPr txBox="1"/>
          <p:nvPr/>
        </p:nvSpPr>
        <p:spPr>
          <a:xfrm>
            <a:off x="8264640" y="1400000"/>
            <a:ext cx="3137280" cy="500000"/>
          </a:xfrm>
          <a:prstGeom prst="rect">
            <a:avLst/>
          </a:prstGeom>
          <a:noFill/>
        </p:spPr>
        <p:txBody>
          <a:bodyPr wrap="square" rtlCol="0" anchor="t">
            <a:normAutofit/>
          </a:bodyPr>
          <a:p>
            <a:pPr lvl="0" algn="l">
              <a:spcAft>
                <a:spcPts val="0"/>
              </a:spcAft>
              <a:buNone/>
            </a:pPr>
            <a:r>
              <a:rPr lang="en-US" sz="2000" b="1" i="0" u="none" dirty="0">
                <a:solidFill>
                  <a:srgbClr val="000000"/>
                </a:solidFill>
                <a:latin typeface="Times New Roman"/>
                <a:cs typeface="Times New Roman"/>
              </a:rPr>
              <a:t>Next steps</a:t>
            </a:r>
          </a:p>
        </p:txBody>
      </p:sp>
      <p:sp>
        <p:nvSpPr>
          <p:cNvPr id="62" name="Body 62"/>
          <p:cNvSpPr txBox="1"/>
          <p:nvPr/>
        </p:nvSpPr>
        <p:spPr>
          <a:xfrm>
            <a:off x="8264640" y="1980000"/>
            <a:ext cx="3137280" cy="3300000"/>
          </a:xfrm>
          <a:prstGeom prst="rect">
            <a:avLst/>
          </a:prstGeom>
          <a:noFill/>
        </p:spPr>
        <p:txBody>
          <a:bodyPr wrap="square" rtlCol="0" anchor="t">
            <a:normAutofit/>
          </a:bodyPr>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Replicate with larger, clinically diagnosed samples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Randomize access to specific TRM components</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Test blended human + AI/digital delivery</a:t>
            </a:r>
          </a:p>
          <a:p>
            <a:pPr marL="228600" indent="-228600" lvl="0" algn="l">
              <a:lnSpc>
                <a:spcPct val="120000"/>
              </a:lnSpc>
              <a:spcAft>
                <a:spcPts val="250"/>
              </a:spcAft>
              <a:buFont typeface="Arial"/>
              <a:buChar char="•"/>
            </a:pPr>
            <a:r>
              <a:rPr lang="en-US" sz="1400" b="0" i="0" u="none" dirty="0">
                <a:solidFill>
                  <a:srgbClr val="000000"/>
                </a:solidFill>
                <a:latin typeface="Times New Roman"/>
                <a:cs typeface="Times New Roman"/>
              </a:rPr>
              <a:t>Study therapist effects and long-term maintenance</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Take-home message</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19</a:t>
            </a:r>
          </a:p>
        </p:txBody>
      </p:sp>
      <p:sp>
        <p:nvSpPr>
          <p:cNvPr id="30" name="RoundRect 30"/>
          <p:cNvSpPr/>
          <p:nvPr/>
        </p:nvSpPr>
        <p:spPr>
          <a:xfrm>
            <a:off x="640080" y="1500000"/>
            <a:ext cx="10911840" cy="3200000"/>
          </a:xfrm>
          <a:prstGeom prst="roundRect">
            <a:avLst>
              <a:gd name="adj" fmla="val 6000"/>
            </a:avLst>
          </a:prstGeom>
          <a:solidFill>
            <a:srgbClr val="F2F2F2"/>
          </a:solidFill>
          <a:ln w="12700">
            <a:solidFill>
              <a:srgbClr val="BFBFBF"/>
            </a:solidFill>
          </a:ln>
        </p:spPr>
        <p:txBody>
          <a:bodyPr/>
          <a:p>
            <a:endParaRPr lang="en-US"/>
          </a:p>
        </p:txBody>
      </p:sp>
      <p:sp>
        <p:nvSpPr>
          <p:cNvPr id="31" name="TextBox 31"/>
          <p:cNvSpPr txBox="1"/>
          <p:nvPr/>
        </p:nvSpPr>
        <p:spPr>
          <a:xfrm>
            <a:off x="1040080" y="1850000"/>
            <a:ext cx="10111840" cy="2600000"/>
          </a:xfrm>
          <a:prstGeom prst="rect">
            <a:avLst/>
          </a:prstGeom>
          <a:noFill/>
        </p:spPr>
        <p:txBody>
          <a:bodyPr wrap="square" rtlCol="0" anchor="t">
            <a:normAutofit/>
          </a:bodyPr>
          <a:p>
            <a:pPr lvl="0" algn="l">
              <a:lnSpc>
                <a:spcPct val="125000"/>
              </a:lnSpc>
              <a:spcAft>
                <a:spcPts val="400"/>
              </a:spcAft>
              <a:buNone/>
            </a:pPr>
            <a:r>
              <a:rPr lang="en-US" sz="2000" b="1" i="0" u="none" dirty="0">
                <a:solidFill>
                  <a:srgbClr val="000000"/>
                </a:solidFill>
                <a:latin typeface="Times New Roman"/>
                <a:cs typeface="Times New Roman"/>
              </a:rPr>
              <a:t>The Trust Revival Method — a Gottman Method intervention — significantly improved relationship satisfaction and reduced separation risk in couples recovering from an affair.</a:t>
            </a:r>
          </a:p>
          <a:p>
            <a:pPr lvl="0" algn="l">
              <a:lnSpc>
                <a:spcPct val="125000"/>
              </a:lnSpc>
              <a:spcAft>
                <a:spcPts val="300"/>
              </a:spcAft>
              <a:buNone/>
            </a:pPr>
            <a:r>
              <a:rPr lang="en-US" sz="1400" b="0" i="0" u="none" dirty="0">
                <a:solidFill>
                  <a:srgbClr val="000000"/>
                </a:solidFill>
                <a:latin typeface="Times New Roman"/>
                <a:cs typeface="Times New Roman"/>
              </a:rPr>
              <a:t>This is the first RCT to validate GMCT for infidelity. Gains held across immediate and waitlist groups, and trust, commitment, and turning toward one another emerged as the mechanisms that mattered most.</a:t>
            </a:r>
          </a:p>
          <a:p>
            <a:pPr lvl="0" algn="l">
              <a:lnSpc>
                <a:spcPct val="125000"/>
              </a:lnSpc>
              <a:spcAft>
                <a:spcPts val="0"/>
              </a:spcAft>
              <a:buNone/>
            </a:pPr>
            <a:r>
              <a:rPr lang="en-US" sz="1400" b="0" i="0" u="none" dirty="0">
                <a:solidFill>
                  <a:srgbClr val="000000"/>
                </a:solidFill>
                <a:latin typeface="Times New Roman"/>
                <a:cs typeface="Times New Roman"/>
              </a:rPr>
              <a:t>The main caution: high dropout and a modest completer sample mean the intervention is promising but needs replication in larger, diagnosed samples.</a:t>
            </a:r>
          </a:p>
        </p:txBody>
      </p:sp>
      <p:sp>
        <p:nvSpPr>
          <p:cNvPr id="32" name="TextBox 32"/>
          <p:cNvSpPr txBox="1"/>
          <p:nvPr/>
        </p:nvSpPr>
        <p:spPr>
          <a:xfrm>
            <a:off x="640080" y="5100000"/>
            <a:ext cx="10911840" cy="500000"/>
          </a:xfrm>
          <a:prstGeom prst="rect">
            <a:avLst/>
          </a:prstGeom>
          <a:noFill/>
        </p:spPr>
        <p:txBody>
          <a:bodyPr wrap="square" rtlCol="0" anchor="t">
            <a:normAutofit/>
          </a:bodyPr>
          <a:p>
            <a:pPr lvl="0" algn="ctr">
              <a:spcAft>
                <a:spcPts val="0"/>
              </a:spcAft>
              <a:buNone/>
            </a:pPr>
            <a:r>
              <a:rPr lang="en-US" sz="2000" b="1" i="0" u="none" dirty="0">
                <a:solidFill>
                  <a:srgbClr val="000000"/>
                </a:solidFill>
                <a:latin typeface="Times New Roman"/>
                <a:cs typeface="Times New Roman"/>
              </a:rPr>
              <a:t>Thank you</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Heading 3"/>
          <p:cNvSpPr txBox="1"/>
          <p:nvPr/>
        </p:nvSpPr>
        <p:spPr>
          <a:xfrm>
            <a:off x="640080" y="380000"/>
            <a:ext cx="10211840" cy="620000"/>
          </a:xfrm>
          <a:prstGeom prst="rect">
            <a:avLst/>
          </a:prstGeom>
          <a:noFill/>
        </p:spPr>
        <p:txBody>
          <a:bodyPr wrap="square" rtlCol="0" anchor="t">
            <a:normAutofit/>
          </a:bodyPr>
          <a:p>
            <a:pPr lvl="0" algn="l">
              <a:spcAft>
                <a:spcPts val="0"/>
              </a:spcAft>
              <a:buNone/>
            </a:pPr>
            <a:r>
              <a:rPr lang="en-US" sz="2800" b="1" i="0" u="sng" dirty="0">
                <a:solidFill>
                  <a:srgbClr val="000000"/>
                </a:solidFill>
                <a:latin typeface="Times New Roman"/>
                <a:cs typeface="Times New Roman"/>
              </a:rPr>
              <a:t>References  |  APA 7th edition</a:t>
            </a:r>
          </a:p>
        </p:txBody>
      </p:sp>
      <p:sp>
        <p:nvSpPr>
          <p:cNvPr id="4" name="PageNum 4"/>
          <p:cNvSpPr txBox="1"/>
          <p:nvPr/>
        </p:nvSpPr>
        <p:spPr>
          <a:xfrm>
            <a:off x="11092000" y="6498000"/>
            <a:ext cx="700000" cy="260000"/>
          </a:xfrm>
          <a:prstGeom prst="rect">
            <a:avLst/>
          </a:prstGeom>
          <a:noFill/>
        </p:spPr>
        <p:txBody>
          <a:bodyPr wrap="square" rtlCol="0" anchor="t">
            <a:normAutofit/>
          </a:bodyPr>
          <a:p>
            <a:pPr lvl="0" algn="r">
              <a:spcAft>
                <a:spcPts val="0"/>
              </a:spcAft>
              <a:buNone/>
            </a:pPr>
            <a:r>
              <a:rPr lang="en-US" sz="1200" b="1" i="0" u="none" dirty="0">
                <a:solidFill>
                  <a:srgbClr val="000000"/>
                </a:solidFill>
                <a:latin typeface="Times New Roman"/>
                <a:cs typeface="Times New Roman"/>
              </a:rPr>
              <a:t>20</a:t>
            </a:r>
          </a:p>
        </p:txBody>
      </p:sp>
      <p:sp>
        <p:nvSpPr>
          <p:cNvPr id="20" name="TextBox 20"/>
          <p:cNvSpPr txBox="1"/>
          <p:nvPr/>
        </p:nvSpPr>
        <p:spPr>
          <a:xfrm>
            <a:off x="640080" y="1200000"/>
            <a:ext cx="10911840" cy="5300000"/>
          </a:xfrm>
          <a:prstGeom prst="rect">
            <a:avLst/>
          </a:prstGeom>
          <a:noFill/>
        </p:spPr>
        <p:txBody>
          <a:bodyPr wrap="square" rtlCol="0" anchor="t">
            <a:normAutofit/>
          </a:bodyPr>
          <a:p>
            <a:pPr lvl="0" algn="l">
              <a:lnSpc>
                <a:spcPct val="115000"/>
              </a:lnSpc>
              <a:spcAft>
                <a:spcPts val="250"/>
              </a:spcAft>
              <a:buNone/>
            </a:pPr>
            <a:r>
              <a:rPr lang="en-US" sz="1400" b="0" i="0" u="none" dirty="0">
                <a:solidFill>
                  <a:srgbClr val="000000"/>
                </a:solidFill>
                <a:latin typeface="Times New Roman"/>
                <a:cs typeface="Times New Roman"/>
              </a:rPr>
              <a:t>Irvine, T. J. (2022). Validating the effectiveness of a Gottman method couples therapy intervention, the Trust Revival Method, for affair recovery: A randomized control trial [Doctoral dissertation, Florida Atlantic University]. ProQuest (29320211).</a:t>
            </a:r>
          </a:p>
          <a:p>
            <a:pPr lvl="0" algn="l">
              <a:lnSpc>
                <a:spcPct val="115000"/>
              </a:lnSpc>
              <a:spcAft>
                <a:spcPts val="250"/>
              </a:spcAft>
              <a:buNone/>
            </a:pPr>
            <a:r>
              <a:rPr lang="en-US" sz="1400" b="0" i="0" u="none" dirty="0">
                <a:solidFill>
                  <a:srgbClr val="000000"/>
                </a:solidFill>
                <a:latin typeface="Times New Roman"/>
                <a:cs typeface="Times New Roman"/>
              </a:rPr>
              <a:t>Gottman, J., &amp; Gottman, J. (2017). The natural principles of love. Journal of Family Theory &amp; Review, 9(1), 7-26. https://doi.org/10.1111/jftr.12182</a:t>
            </a:r>
          </a:p>
          <a:p>
            <a:pPr lvl="0" algn="l">
              <a:lnSpc>
                <a:spcPct val="115000"/>
              </a:lnSpc>
              <a:spcAft>
                <a:spcPts val="250"/>
              </a:spcAft>
              <a:buNone/>
            </a:pPr>
            <a:r>
              <a:rPr lang="en-US" sz="1400" b="0" i="0" u="none" dirty="0">
                <a:solidFill>
                  <a:srgbClr val="000000"/>
                </a:solidFill>
                <a:latin typeface="Times New Roman"/>
                <a:cs typeface="Times New Roman"/>
              </a:rPr>
              <a:t>Gottman, J., &amp; Gottman, J. (2017). Treating Affairs and Trauma (TAT) clinical manual. The Gottman Institute.</a:t>
            </a:r>
          </a:p>
          <a:p>
            <a:pPr lvl="0" algn="l">
              <a:lnSpc>
                <a:spcPct val="115000"/>
              </a:lnSpc>
              <a:spcAft>
                <a:spcPts val="250"/>
              </a:spcAft>
              <a:buNone/>
            </a:pPr>
            <a:r>
              <a:rPr lang="en-US" sz="1400" b="0" i="0" u="none" dirty="0">
                <a:solidFill>
                  <a:srgbClr val="000000"/>
                </a:solidFill>
                <a:latin typeface="Times New Roman"/>
                <a:cs typeface="Times New Roman"/>
              </a:rPr>
              <a:t>Coan, J. A., &amp; Gottman, J. M. (2007). The Specific Affect Coding System (SPAFF). In Handbook of emotion elicitation and assessment (pp. 106-123). Oxford University Press.</a:t>
            </a:r>
          </a:p>
          <a:p>
            <a:pPr lvl="0" algn="l">
              <a:lnSpc>
                <a:spcPct val="115000"/>
              </a:lnSpc>
              <a:spcAft>
                <a:spcPts val="250"/>
              </a:spcAft>
              <a:buNone/>
            </a:pPr>
            <a:r>
              <a:rPr lang="en-US" sz="1400" b="0" i="0" u="none" dirty="0">
                <a:solidFill>
                  <a:srgbClr val="000000"/>
                </a:solidFill>
                <a:latin typeface="Times New Roman"/>
                <a:cs typeface="Times New Roman"/>
              </a:rPr>
              <a:t>Kenny, D. A., Kashy, D. A., &amp; Cook, W. L. (2020). Dyadic data analysis. Guilford Publications.</a:t>
            </a:r>
          </a:p>
          <a:p>
            <a:pPr lvl="0" algn="l">
              <a:lnSpc>
                <a:spcPct val="115000"/>
              </a:lnSpc>
              <a:spcAft>
                <a:spcPts val="250"/>
              </a:spcAft>
              <a:buNone/>
            </a:pPr>
            <a:r>
              <a:rPr lang="en-US" sz="1400" b="0" i="0" u="none" dirty="0">
                <a:solidFill>
                  <a:srgbClr val="000000"/>
                </a:solidFill>
                <a:latin typeface="Times New Roman"/>
                <a:cs typeface="Times New Roman"/>
              </a:rPr>
              <a:t>Irvine, T. J., &amp; Peluso, P. R. (2022). An affair to remember: A mixed-methods survey examining therapists' experiences treating infidelity. The Family Journal, 30(3), 324-333. https://doi.org/10.1177/10664807211061826</a:t>
            </a:r>
          </a:p>
          <a:p>
            <a:pPr lvl="0" algn="l">
              <a:lnSpc>
                <a:spcPct val="115000"/>
              </a:lnSpc>
              <a:spcAft>
                <a:spcPts val="250"/>
              </a:spcAft>
              <a:buNone/>
            </a:pPr>
            <a:r>
              <a:rPr lang="en-US" sz="1400" b="0" i="0" u="none" dirty="0">
                <a:solidFill>
                  <a:srgbClr val="000000"/>
                </a:solidFill>
                <a:latin typeface="Times New Roman"/>
                <a:cs typeface="Times New Roman"/>
              </a:rPr>
              <a:t>Lenz, A. S. (2020). Estimating and reporting clinical significance in counseling research: Inferences based on percent improvement. Measurement and Evaluation in Counseling and Development, 53(4), 289-296.</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majorFont>
      <a:minorFont>
        <a:latin typeface="Times New Roman"/>
        <a:ea typeface=""/>
        <a:cs typeface=""/>
      </a:minorFont>
    </a:fontScheme>
    <a:fmtScheme name="Office">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Kiro</Application>
</Properties>
</file>

<file path=docProps/core.xml><?xml version="1.0" encoding="utf-8"?>
<cp:coreProperties xmlns:cp="http://schemas.openxmlformats.org/package/2006/metadata/core-properties" xmlns:dc="http://purl.org/dc/elements/1.1/" xmlns:dcterms="http://purl.org/dc/terms/" xmlns:xsi="http://www.w3.org/2001/XMLSchema-instance">
  <dc:title>Journal Club: Trust Revival Method RCT</dc:title>
  <dc:creator>M.Phil Clinical Psychology</dc:creator>
</cp:coreProperties>
</file>