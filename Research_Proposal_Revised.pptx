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2" r:id="rId23"/>
    <p:sldId id="273" r:id="rId24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Effect of Emotion-Focused Skills Training on Alexithymia among Opioid-Dependent Individuals With and Without HIV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C0D"/>
                </a:solidFill>
                <a:latin typeface="Calibri"/>
              </a:defRPr>
            </a:pPr>
            <a:r>
              <a:t>A Quasi-Experimental, Comparative, Pretest–Posttest Intervention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Avani Shah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CF0F1"/>
                </a:solidFill>
                <a:latin typeface="Calibri"/>
              </a:defRPr>
            </a:pPr>
            <a:r>
              <a:t>MPhil Clinical Psychology Dissertation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852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CF0F1"/>
                </a:solidFill>
                <a:latin typeface="Calibri"/>
              </a:defRPr>
            </a:pPr>
            <a:r>
              <a:t>Guide: Dr. Vasudha Singh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Introduction &amp; Need for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Opioid dependence is a major public health concern and contributes substantially to the global burden of substance use disorders, with an increasing prevalence in India.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People Who Inject Drugs (PWID) are at high risk of Human Immunodeficiency Virus (HIV) infection. In India, approximately 22–28% of PWID are living with HIV (NACO, 2022).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The co-occurrence of opioid dependence and HIV is associated with greater psychological distress, neurocognitive impairment, emotional dysregulation, and poorer treatment outcomes.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Alexithymia — difficulty identifying, describing, and communicating emotions — is highly prevalent among individuals with opioid dependence (40–67%) vs. the general population (8–10%).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HIV-related neuroinflammatory and neurocognitive changes may further impair emotional awareness, potentially increasing the severity of alexithymia.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Alexithymia is associated with increased craving, relapse risk, poor treatment adherence, and reduced quality of life in substance-dependent populations.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Emotion-Focused Skills Training (EFST) aims to enhance emotional awareness, identification, expression, and regulation — a promising intervention for reducing alexithymia.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Brief Review of Literature: What is Already Known?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749039" cy="2560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A. Alexithymia &amp; Substance Use Disorders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Alexithymia rates: 40-67% in opioid dependence vs. 8-10% in healthy populations.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Functions as predisposing vulnerability and maintaining mechanism (Khantzian, 1997).</a:t>
            </a:r>
          </a:p>
          <a:p>
            <a:pPr>
              <a:spcAft>
                <a:spcPts val="400"/>
              </a:spcAft>
              <a:defRPr sz="1000" b="1">
                <a:solidFill>
                  <a:srgbClr val="C0392B"/>
                </a:solidFill>
                <a:latin typeface="Calibri"/>
              </a:defRPr>
            </a:pPr>
            <a:r>
              <a:t>Gap: Most studies are observational; do not evaluate interventions.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097280"/>
            <a:ext cx="3749039" cy="2560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B. Alexithymia &amp; HIV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HIV neuropathology may independently impair emotional processing.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Relates to poorer adherence, greater disease severity (Berger et al., 2015).</a:t>
            </a:r>
          </a:p>
          <a:p>
            <a:pPr>
              <a:spcAft>
                <a:spcPts val="400"/>
              </a:spcAft>
              <a:defRPr sz="1000" b="1">
                <a:solidFill>
                  <a:srgbClr val="C0392B"/>
                </a:solidFill>
                <a:latin typeface="Calibri"/>
              </a:defRPr>
            </a:pPr>
            <a:r>
              <a:t>Gap: Studies involve general HIV populations, not opioid dependence.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097280"/>
            <a:ext cx="3749039" cy="2560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C. Psychological Treatment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2024 systematic review: interventions can reduce alexithymia (doi:10.3390/bs14121173).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2025 case report: EFT improved alexithymia in adolescent depression.</a:t>
            </a:r>
          </a:p>
          <a:p>
            <a:pPr>
              <a:spcAft>
                <a:spcPts val="400"/>
              </a:spcAft>
              <a:defRPr sz="1000" b="1">
                <a:solidFill>
                  <a:srgbClr val="C0392B"/>
                </a:solidFill>
                <a:latin typeface="Calibri"/>
              </a:defRPr>
            </a:pPr>
            <a:r>
              <a:t>Gap: Virtually no work evaluates EFST in opioid-dependent adults.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11612880" cy="265176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Synthesis &amp; Overall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Although alexithymia has been extensively associated with opioid dependence and psychological interventions have shown promise, there is limited evidence regarding intervention-based reduction of alexithymia among opioid-dependent individuals. Little is known about whether HIV status influences response to emotion-focused interventions. Comparative studies integrating assessment of emotional functioning before and after intervention are notably scarce.</a:t>
            </a:r>
          </a:p>
          <a:p>
            <a:pPr>
              <a:spcAft>
                <a:spcPts val="400"/>
              </a:spcAft>
              <a:defRPr sz="900" b="0">
                <a:solidFill>
                  <a:srgbClr val="7F8C8D"/>
                </a:solidFill>
                <a:latin typeface="Calibri"/>
              </a:defRPr>
            </a:pPr>
            <a:r>
              <a:t>Reference: doi:10.3390/bs14121173 | Frontiers in Psychiatry (2025) | PMC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A review of the available literature indicates a paucity of studies examining: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No comparative intervention study of alexithymia between HIV+ and HIV- opioid-dependent individuals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Absence of EFST evaluation in opioid dependence populations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No Indian context study examining alexithymia as an intervention target in de-addiction settings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Whether HIV status moderates response to emotion-focused interventions remains untested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Inpatient rehabilitation context for structured 1-month intervention delivery has not been utilised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defRPr sz="1100" i="1">
                <a:solidFill>
                  <a:srgbClr val="2E86AB"/>
                </a:solidFill>
                <a:latin typeface="Calibri"/>
              </a:defRPr>
            </a:pPr>
            <a:r>
              <a:t>The present study addresses these gaps by implementing a targeted Emotion-Focused Skills Training during a structured 1-month inpatient stay, comparing HIV-positive and HIV-negative opioid-dependent individuals.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Aim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To examine whether HIV status influences the change in alexithymia following Emotion-Focused Skills Training among opioid-dependent individuals.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PRIMARY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To evaluate changes in alexithymia following Emotion-Focused Skills Training among opioid-dependent individuals.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11247120" cy="256032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SECONDARY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1. To compare baseline alexithymia between opioid-dependent individuals with and without HIV.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2. To compare post-intervention alexithymia between the two groups.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3. To determine whether HIV status moderates the change in alexithymia following EFST.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Hypotheses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2286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Null Hypothesis (H₀)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There will be no significant difference in the change in alexithymia following Emotion-Focused Skills Training between opioid-dependent individuals with HIV and those without HIV.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AB"/>
                </a:solidFill>
                <a:latin typeface="Calibri"/>
              </a:defRPr>
            </a:pPr>
            <a:r>
              <a:t>Alternative Hypothesis (H₁)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The change in alexithymia following Emotion-Focused Skills Training will differ significantly between opioid-dependent individuals with HIV and those without HIV.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Independent Variable (IV)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325880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Emotion-Focused Skills Training (EFST)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1247120" cy="10058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Dependent Variable (DV)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14600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Alexithymia (Toronto Alexithymia Scale-20)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11247120" cy="100584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Grouping Variable (Between-Subject)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703320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HIV Status (HIV-positive vs. HIV-negative)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11247120" cy="10058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Within-Subject 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892040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Time (Pre-intervention vs. Post-intervention)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/>
              </a:defRPr>
            </a:pPr>
            <a:r>
              <a:t>Covariates (Optional): Age, duration of opioid dependence, duration of HIV infection, education, depression/anxiety scores, ART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Research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0332720" cy="12801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A Quasi-Experimental, Comparative, Pretest–Posttest Intervention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3566160" cy="3474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20" y="3108960"/>
            <a:ext cx="914400" cy="9144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246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Calibri"/>
              </a:defRPr>
            </a:pPr>
            <a:r>
              <a:t>Intervention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Single-arm intervention</a:t>
            </a:r>
            <a:br/>
            <a:r>
              <a:t>in each group</a:t>
            </a:r>
            <a:br/>
            <a:r>
              <a:t>(Both groups receive EFST)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926080"/>
            <a:ext cx="3566160" cy="3474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06439" y="3108960"/>
            <a:ext cx="914400" cy="9144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9" y="3246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4663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HIV-positive vs.</a:t>
            </a:r>
            <a:br/>
            <a:r>
              <a:t>HIV-negative</a:t>
            </a:r>
            <a:br/>
            <a:r>
              <a:t>opioid-dependent individuals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926080"/>
            <a:ext cx="3566160" cy="3474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38360" y="3108960"/>
            <a:ext cx="914400" cy="9144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246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663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Pre-intervention (Baseline)</a:t>
            </a:r>
            <a:br/>
            <a:r>
              <a:t>and Post-intervention</a:t>
            </a:r>
            <a:br/>
            <a:r>
              <a:t>(After 8-session EFST)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Sample &amp; Participants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1828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SAMPLE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3E50"/>
                </a:solidFill>
                <a:latin typeface="Calibri"/>
              </a:defRPr>
            </a:pPr>
            <a:r>
              <a:t>Total N = 60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Group 1: n = 30 (HIV+, Opioid-dependent)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Group 2: n = 30 (HIV-, Opioid-dependent)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Purposive sampling, consecutive enrollment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486400" cy="18288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8A49"/>
                </a:solidFill>
                <a:latin typeface="Calibri"/>
              </a:defRPr>
            </a:pPr>
            <a:r>
              <a:t>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Inpatient de-addiction facility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Standard 1-month rehabilitation programme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Post-detox (min 7 days post-admission)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5486400" cy="3383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INCLUSION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Opioid Dependence (ICD-11/DSM-5)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Male gender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Age: 18-50 years (per test specifications)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Inpatient for minimum 1 month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Min. 1 week detoxification completed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Confirmed HIV status (ELISA)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Basic literacy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Informed consent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200400"/>
            <a:ext cx="5486400" cy="338328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EXCLUSION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Comorbid psychotic disorders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Severe cognitive impairment (IQ &lt; 70)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Active neurological disorder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HIV-associated dementia (Stage 3-4)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Primary dependence on other substances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Acute medical instability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Prior emotion regulation training (6 months)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Cannot commit to 4-week stay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Tools &amp; Instruments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828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PRIMARY OUTCOME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3E50"/>
                </a:solidFill>
                <a:latin typeface="Calibri"/>
              </a:defRPr>
            </a:pPr>
            <a:r>
              <a:t>Toronto Alexithymia Scale-20 (TAS-20) — Bagby, Parker &amp; Taylor (1994)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20 items, 5-point Likert scale | Three factors: DIF, DDF, EOT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Cut-offs: ≤51 non-alexithymic | 52-60 possible | ≥61 alexithymic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α = .81-.86 | Test-retest r = .77 | Hindi adaptation available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5303520" cy="3200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Calibri"/>
              </a:defRPr>
            </a:pPr>
            <a:r>
              <a:t>SECONDARY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C3E50"/>
                </a:solidFill>
                <a:latin typeface="Calibri"/>
              </a:defRPr>
            </a:pPr>
            <a:r>
              <a:t>DERS — Gratz &amp; Roemer (2004)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36 items, 6 subscales | α = .93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Measures emotion dysregulation</a:t>
            </a:r>
          </a:p>
          <a:p>
            <a:pPr>
              <a:spcAft>
                <a:spcPts val="400"/>
              </a:spcAft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defRPr sz="1100" b="1">
                <a:solidFill>
                  <a:srgbClr val="2C3E50"/>
                </a:solidFill>
                <a:latin typeface="Calibri"/>
              </a:defRPr>
            </a:pPr>
            <a:r>
              <a:t>BDI-II — Beck et al. (1996)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21 items | Controls for depression overlap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200400"/>
            <a:ext cx="5486400" cy="3200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Calibri"/>
              </a:defRPr>
            </a:pPr>
            <a:r>
              <a:t>ADDITIONAL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5760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C3E50"/>
                </a:solidFill>
                <a:latin typeface="Calibri"/>
              </a:defRPr>
            </a:pPr>
            <a:r>
              <a:t>SDS — Gossop et al. (1995)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items | Controls for addiction severity</a:t>
            </a:r>
          </a:p>
          <a:p>
            <a:pPr>
              <a:spcAft>
                <a:spcPts val="400"/>
              </a:spcAft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defRPr sz="1100" b="1">
                <a:solidFill>
                  <a:srgbClr val="2C3E50"/>
                </a:solidFill>
                <a:latin typeface="Calibri"/>
              </a:defRPr>
            </a:pPr>
            <a:r>
              <a:t>Sociodemographic &amp; Clinical Data Sheet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Age, education, duration of use, HIV duration, CD4, ART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Emotion-Focused Skills Training (EFST):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645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THEORETICAL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EFST is grounded in Emotion-Focused Therapy (EFT), originally developed by Leslie Greenberg (1990s).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Theoretical bases: Khantzian's Self-Medication Hypothesis (1985, 1997); Lane &amp; Schwartz's Cognitive-Affective Processing Model (1987).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EFST adapts EFT principles into a structured skills-based format suitable for group/individual delivery in clinical settings.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47120" cy="3474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KEY PRINCIPLES OF EFST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789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Enhancing emotional awareness and identification (addressing DIF component of alexithymia)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Building emotion vocabulary and description skills (addressing DDF component)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Developing interoceptive awareness — body-emotion connection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Moving from externally-oriented thinking to internal emotional processing (addressing EOT)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Linking emotional processing deficits to the addiction cycle and relapse</a:t>
            </a:r>
          </a:p>
          <a:p>
            <a:pPr>
              <a:spcAft>
                <a:spcPts val="400"/>
              </a:spcAft>
              <a:defRPr sz="1000" b="0">
                <a:solidFill>
                  <a:srgbClr val="7F8C8D"/>
                </a:solidFill>
                <a:latin typeface="Calibri"/>
              </a:defRPr>
            </a:pPr>
            <a:r>
              <a:t>Reference: Greenberg (2002). Emotion-Focused Therapy. APA Press.</a:t>
            </a:r>
          </a:p>
          <a:p>
            <a:pPr>
              <a:spcAft>
                <a:spcPts val="400"/>
              </a:spcAft>
              <a:defRPr sz="1000" b="0">
                <a:solidFill>
                  <a:srgbClr val="7F8C8D"/>
                </a:solidFill>
                <a:latin typeface="Calibri"/>
              </a:defRPr>
            </a:pPr>
            <a:r>
              <a:t>Reference: Cameron et al. (2014). Emotion-focused interventions for alexithymia.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EFST Intervention Protocol: Flow Chart (8 Sessions)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51760" cy="23774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Psychoeducation:</a:t>
            </a:r>
            <a:br/>
            <a:r>
              <a:t>What are Emotions?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08960" y="2194560"/>
            <a:ext cx="274320" cy="36576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651760" cy="23774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Session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Body-Emotion</a:t>
            </a:r>
            <a:br/>
            <a:r>
              <a:t>Connection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35040" y="2194560"/>
            <a:ext cx="274320" cy="36576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2651760" cy="237744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Session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Emotion Vocabulary</a:t>
            </a:r>
            <a:br/>
            <a:r>
              <a:t>Building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61120" y="2194560"/>
            <a:ext cx="274320" cy="36576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188720"/>
            <a:ext cx="2651760" cy="237744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Session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7373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Identifying Feelings</a:t>
            </a:r>
            <a:br/>
            <a:r>
              <a:t>in Daily Life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2651760" cy="23774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Session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Describing Feelings</a:t>
            </a:r>
            <a:br/>
            <a:r>
              <a:t>to Others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08960" y="5029200"/>
            <a:ext cx="274320" cy="36576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4023360"/>
            <a:ext cx="2651760" cy="23774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Session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572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Understanding</a:t>
            </a:r>
            <a:br/>
            <a:r>
              <a:t>Others' Emotions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35040" y="5029200"/>
            <a:ext cx="274320" cy="36576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023360"/>
            <a:ext cx="2651760" cy="237744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Session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72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Emotions &amp; the</a:t>
            </a:r>
            <a:br/>
            <a:r>
              <a:t>Addiction Cycle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961120" y="5029200"/>
            <a:ext cx="274320" cy="36576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4023360"/>
            <a:ext cx="2651760" cy="237744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Session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572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Integration &amp;</a:t>
            </a:r>
            <a:br/>
            <a:r>
              <a:t>Maintenance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0424160" y="3566160"/>
            <a:ext cx="365760" cy="45720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Format: Individual | Duration: 60 min/session | Frequency: 2x/week over 4 weeks | Total: 8 sessions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Proposed Statistical Analysis &amp; Ethical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760720" cy="5486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PROPOSED STATISTICAL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A5C"/>
                </a:solidFill>
                <a:latin typeface="Calibri"/>
              </a:defRPr>
            </a:pPr>
            <a:r>
              <a:t>Primary Analysis: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2 x 2 Mixed ANOVA (Group x Time) on TAS-20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Main effects: HIV status (between), Time (within)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Interaction: Group x Time on alexithymia</a:t>
            </a:r>
          </a:p>
          <a:p>
            <a:pPr>
              <a:spcAft>
                <a:spcPts val="400"/>
              </a:spcAft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defRPr sz="1100" b="1">
                <a:solidFill>
                  <a:srgbClr val="1B3A5C"/>
                </a:solidFill>
                <a:latin typeface="Calibri"/>
              </a:defRPr>
            </a:pPr>
            <a:r>
              <a:t>Secondary Analyses: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Independent t-test: Baseline comparison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Paired t-test: Within-group pre-post change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ANCOVA: Controlling for covariates (BDI-II, SDS)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Effect size: Cohen's d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Reliable Change Index (RCI)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Chi-square: Categorical baseline comparisons</a:t>
            </a:r>
          </a:p>
          <a:p>
            <a:pPr>
              <a:spcAft>
                <a:spcPts val="400"/>
              </a:spcAft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defRPr sz="1000">
                <a:solidFill>
                  <a:srgbClr val="7F8C8D"/>
                </a:solidFill>
                <a:latin typeface="Calibri"/>
              </a:defRPr>
            </a:pPr>
            <a:r>
              <a:t>Software: SPSS / JASP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577840" cy="548640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ETHICAL CONSIDERATIONS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Institutional Ethics Committee (IEC) approval prior to data collection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Written informed consent in participant's preferred language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Confidentiality of HIV status strictly maintained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Right to withdraw at any time without impact on treatment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No deception involved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Participants in distress referred to treating psychiatrist/psychologist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Data stored securely with coded identifiers (de-identified)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All participants receive standard de-addiction treatment regardless of study participation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Study registered with CTRI if required by institution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Study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0698480" cy="914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103120" cy="1645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Screening &amp;</a:t>
            </a:r>
            <a:br/>
            <a:r>
              <a:t>Enrollment</a:t>
            </a:r>
          </a:p>
        </p:txBody>
      </p:sp>
      <p:sp>
        <p:nvSpPr>
          <p:cNvPr id="8" name="Oval 7"/>
          <p:cNvSpPr/>
          <p:nvPr/>
        </p:nvSpPr>
        <p:spPr>
          <a:xfrm>
            <a:off x="1280160" y="3017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2103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Week 1</a:t>
            </a:r>
            <a:br/>
            <a:r>
              <a:t>(Days 7-10)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280160"/>
            <a:ext cx="2103120" cy="1645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645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Pre-Test</a:t>
            </a:r>
            <a:br/>
            <a:r>
              <a:t>Assessment</a:t>
            </a:r>
          </a:p>
        </p:txBody>
      </p:sp>
      <p:sp>
        <p:nvSpPr>
          <p:cNvPr id="14" name="Oval 13"/>
          <p:cNvSpPr/>
          <p:nvPr/>
        </p:nvSpPr>
        <p:spPr>
          <a:xfrm>
            <a:off x="3611880" y="3017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3657600"/>
            <a:ext cx="2103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374903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Week 1</a:t>
            </a:r>
            <a:br/>
            <a:r>
              <a:t>(Days 8-12)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280160"/>
            <a:ext cx="2103120" cy="164592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645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Intervention</a:t>
            </a:r>
            <a:br/>
            <a:r>
              <a:t>Delivery (EFST)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0" y="3017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0" y="3657600"/>
            <a:ext cx="2103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374903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Weeks 2-3</a:t>
            </a:r>
            <a:br/>
            <a:r>
              <a:t>(8 sessions)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59" y="1280160"/>
            <a:ext cx="2103120" cy="164592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799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1645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Post-Test</a:t>
            </a:r>
            <a:br/>
            <a:r>
              <a:t>Assessment</a:t>
            </a:r>
          </a:p>
        </p:txBody>
      </p:sp>
      <p:sp>
        <p:nvSpPr>
          <p:cNvPr id="26" name="Oval 25"/>
          <p:cNvSpPr/>
          <p:nvPr/>
        </p:nvSpPr>
        <p:spPr>
          <a:xfrm>
            <a:off x="8275319" y="3017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59" y="3657600"/>
            <a:ext cx="2103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799" y="374903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Week 4</a:t>
            </a:r>
            <a:br/>
            <a:r>
              <a:t>(Days 25-28)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1280160"/>
            <a:ext cx="2103120" cy="1645920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16459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Data Analysis</a:t>
            </a:r>
            <a:br/>
            <a:r>
              <a:t>&amp; Interpretation</a:t>
            </a:r>
          </a:p>
        </p:txBody>
      </p:sp>
      <p:sp>
        <p:nvSpPr>
          <p:cNvPr id="32" name="Oval 31"/>
          <p:cNvSpPr/>
          <p:nvPr/>
        </p:nvSpPr>
        <p:spPr>
          <a:xfrm>
            <a:off x="10607040" y="3017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84080" y="3657600"/>
            <a:ext cx="2103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374903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Post-data</a:t>
            </a:r>
            <a:br/>
            <a:r>
              <a:t>collection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029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A5C"/>
                </a:solidFill>
                <a:latin typeface="Calibri"/>
              </a:defRPr>
            </a:pPr>
            <a:r>
              <a:t>Key Activities: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Phase 1: Screen patients, obtain consent, confirm HIV status, assign groups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Phase 2: Administer TAS-20, DERS, BDI-II, SDS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Phase 3: Deliver 8 EFST sessions (individual, 60 min, 2x/week)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Phase 4: Re-administer TAS-20, DERS, BDI-II; collect participant feedback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Phase 5: Score instruments, conduct statistical analyses, interpret findings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2C3E50"/>
                </a:solidFill>
                <a:latin typeface="Calibri"/>
              </a:defRPr>
            </a:pPr>
            <a:r>
              <a:t>Bagby, R. M., Parker, J. D. A., &amp; Taylor, G. J. (1994). The twenty-item Toronto Alexithymia Scale—I. Item selection and cross-validation of the factor structure. Journal of Psychosomatic Research, 38(1), 23–32.</a:t>
            </a:r>
          </a:p>
          <a:p>
            <a:pPr>
              <a:spcAft>
                <a:spcPts val="40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Beck, A. T., Steer, R. A., &amp; Brown, G. K. (1996). Manual for the Beck Depression Inventory–II. Psychological Corporation.</a:t>
            </a:r>
          </a:p>
          <a:p>
            <a:pPr>
              <a:spcAft>
                <a:spcPts val="40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Berger, S., et al. (2015). Alexithymia in HIV infection. Psychotherapy and Psychosomatics, 84(4), 231–238.</a:t>
            </a:r>
          </a:p>
          <a:p>
            <a:pPr>
              <a:spcAft>
                <a:spcPts val="40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Cameron, K., et al. (2014). Emotion-focused group therapy for alexithymia. Psychotherapy Research, 24(5), 592–603.</a:t>
            </a:r>
          </a:p>
          <a:p>
            <a:pPr>
              <a:spcAft>
                <a:spcPts val="40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Gratz, K. L., &amp; Roemer, L. (2004). Multidimensional assessment of emotion regulation and dysregulation. Journal of Psychopathology and Behavioral Assessment, 26(1), 41–54.</a:t>
            </a:r>
          </a:p>
          <a:p>
            <a:pPr>
              <a:spcAft>
                <a:spcPts val="40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Greenberg, L. S. (2002). Emotion-Focused Therapy: Coaching Clients to Work Through Their Feelings. APA Press.</a:t>
            </a:r>
          </a:p>
          <a:p>
            <a:pPr>
              <a:spcAft>
                <a:spcPts val="40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Gossop, M., et al. (1995). The Severity of Dependence Scale (SDS). Addiction, 90(5), 607–614.</a:t>
            </a:r>
          </a:p>
          <a:p>
            <a:pPr>
              <a:spcAft>
                <a:spcPts val="40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Khantzian, E. J. (1997). The self-medication hypothesis of substance use disorders. Harvard Review of Psychiatry, 4(5), 231–244.</a:t>
            </a:r>
          </a:p>
          <a:p>
            <a:pPr>
              <a:spcAft>
                <a:spcPts val="40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Lane, R. D., &amp; Schwartz, G. E. (1987). Levels of emotional awareness. American Journal of Psychiatry, 144(2), 133–143.</a:t>
            </a:r>
          </a:p>
          <a:p>
            <a:pPr>
              <a:spcAft>
                <a:spcPts val="40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NACO (2022). India HIV Estimates 2022. National AIDS Control Organisation, India.</a:t>
            </a:r>
          </a:p>
          <a:p>
            <a:pPr>
              <a:spcAft>
                <a:spcPts val="40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Systematic review of psychological treatments for alexithymia (2024). doi:10.3390/bs14121173.</a:t>
            </a:r>
          </a:p>
          <a:p>
            <a:pPr>
              <a:spcAft>
                <a:spcPts val="40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Emotion-Focused Therapy case report (2025). Frontiers in Psychiatry. doi:10.3389/fpsyt.2025.1715173.</a:t>
            </a:r>
          </a:p>
          <a:p>
            <a:pPr>
              <a:spcAft>
                <a:spcPts val="40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EFST in substance dependence (2025). doi:10.1186/s40359-025-02638-8.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C0D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CF0F1"/>
                </a:solidFill>
                <a:latin typeface="Calibri"/>
              </a:defRPr>
            </a:pPr>
            <a:r>
              <a:t>Avani Shah | MPhil Clinical Psychology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577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CF0F1"/>
                </a:solidFill>
                <a:latin typeface="Calibri"/>
              </a:defRPr>
            </a:pPr>
            <a:r>
              <a:t>Guide: Dr. Vasudha Singh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Significance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669280" cy="5303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CLINICAL SIGNIFICANCE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First intervention study targeting alexithymia in opioid-dependent individuals stratified by HIV status</a:t>
            </a:r>
          </a:p>
          <a:p>
            <a:pPr>
              <a:spcAft>
                <a:spcPts val="5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If effective, EFST can be integrated into standard 1-month de-addiction programmes at low cost</a:t>
            </a:r>
          </a:p>
          <a:p>
            <a:pPr>
              <a:spcAft>
                <a:spcPts val="5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Informs treatment personalisation — HIV+ individuals may require adapted interventions</a:t>
            </a:r>
          </a:p>
          <a:p>
            <a:pPr>
              <a:spcAft>
                <a:spcPts val="5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Reducing alexithymia may improve emotional coping and reduce relapse risk post-discharge</a:t>
            </a:r>
          </a:p>
          <a:p>
            <a:pPr>
              <a:spcAft>
                <a:spcPts val="5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Addresses a dual-burden population (opioid dependence + HIV) with compounded vulnerabilities</a:t>
            </a:r>
          </a:p>
          <a:p>
            <a:pPr>
              <a:spcAft>
                <a:spcPts val="5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Provides feasibility data for EFST delivery within standard inpatient rehabilitation timeframe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8A49"/>
                </a:solidFill>
                <a:latin typeface="Calibri"/>
              </a:defRPr>
            </a:pPr>
            <a:r>
              <a:t>RESEARCH SIGNIFICANCE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Fills a critical gap — no prior study evaluates EFST in opioid-dependent adults</a:t>
            </a:r>
          </a:p>
          <a:p>
            <a:pPr>
              <a:spcAft>
                <a:spcPts val="5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First Indian study examining alexithymia as an intervention target in de-addiction settings</a:t>
            </a:r>
          </a:p>
          <a:p>
            <a:pPr>
              <a:spcAft>
                <a:spcPts val="5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Tests whether alexithymia (often considered stable) is modifiable through brief structured intervention</a:t>
            </a:r>
          </a:p>
          <a:p>
            <a:pPr>
              <a:spcAft>
                <a:spcPts val="5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Examines whether HIV-related neurobiological changes affect capacity to benefit from EFST</a:t>
            </a:r>
          </a:p>
          <a:p>
            <a:pPr>
              <a:spcAft>
                <a:spcPts val="5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Contributes to the evidence base on emotion-focused approaches in addiction populations</a:t>
            </a:r>
          </a:p>
          <a:p>
            <a:pPr>
              <a:spcAft>
                <a:spcPts val="5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Scalable — can be implemented in government de-addiction programmes across India if effective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Limitations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657600" cy="548640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91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No untreated control group — improvements may reflect natural recovery or concurrent treatment</a:t>
            </a:r>
          </a:p>
          <a:p>
            <a:pPr>
              <a:spcAft>
                <a:spcPts val="5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Quasi-experimental — groups based on pre-existing HIV status, not randomised</a:t>
            </a:r>
          </a:p>
          <a:p>
            <a:pPr>
              <a:spcAft>
                <a:spcPts val="5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No blinding of participants or researcher</a:t>
            </a:r>
          </a:p>
          <a:p>
            <a:pPr>
              <a:spcAft>
                <a:spcPts val="5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No long-term follow-up — durability of gains post-discharge unknown</a:t>
            </a:r>
          </a:p>
          <a:p>
            <a:pPr>
              <a:spcAft>
                <a:spcPts val="5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Brief duration (8 sessions/4 weeks) may be insufficient for stable trait 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097280"/>
            <a:ext cx="3657600" cy="548640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35A00"/>
                </a:solidFill>
                <a:latin typeface="Calibri"/>
              </a:defRPr>
            </a:pPr>
            <a:r>
              <a:t>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291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Male-only sample — limits generalisability to female populations</a:t>
            </a:r>
          </a:p>
          <a:p>
            <a:pPr>
              <a:spcAft>
                <a:spcPts val="5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Single-site data — may not generalise to other settings/regions</a:t>
            </a:r>
          </a:p>
          <a:p>
            <a:pPr>
              <a:spcAft>
                <a:spcPts val="5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Purposive sampling — limits external validity</a:t>
            </a:r>
          </a:p>
          <a:p>
            <a:pPr>
              <a:spcAft>
                <a:spcPts val="5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N = 60 may be underpowered for small-to-medium or interaction effects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097280"/>
            <a:ext cx="3840480" cy="5486400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3A83"/>
                </a:solidFill>
                <a:latin typeface="Calibri"/>
              </a:defRPr>
            </a:pPr>
            <a:r>
              <a:t>MEASUREMENT &amp; CONFOUNDS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474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Self-report paradox — alexithymic individuals may underreport deficits on TAS-20</a:t>
            </a:r>
          </a:p>
          <a:p>
            <a:pPr>
              <a:spcAft>
                <a:spcPts val="5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No performance-based emotion recognition measure included</a:t>
            </a:r>
          </a:p>
          <a:p>
            <a:pPr>
              <a:spcAft>
                <a:spcPts val="5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Concurrent de-addiction treatment may confound EFST effects</a:t>
            </a:r>
          </a:p>
          <a:p>
            <a:pPr>
              <a:spcAft>
                <a:spcPts val="5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ART side effects may independently affect emotional processing</a:t>
            </a:r>
          </a:p>
          <a:p>
            <a:pPr>
              <a:spcAft>
                <a:spcPts val="500"/>
              </a:spcAft>
              <a:defRPr sz="1000" b="0">
                <a:solidFill>
                  <a:srgbClr val="2C3E50"/>
                </a:solidFill>
                <a:latin typeface="Calibri"/>
              </a:defRPr>
            </a:pPr>
            <a:r>
              <a:t>Single therapist — therapist effects cannot be separated from intervention effects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