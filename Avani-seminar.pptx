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15"/>
  </p:handoutMasterIdLst>
  <p:sldIdLst>
    <p:sldId id="256" r:id="rId3"/>
    <p:sldId id="258" r:id="rId5"/>
    <p:sldId id="3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i Shah" initials="authorId_549764800936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9" Type="http://schemas.openxmlformats.org/officeDocument/2006/relationships/commentAuthors" Target="commentAuthors.xml"/><Relationship Id="rId118" Type="http://schemas.openxmlformats.org/officeDocument/2006/relationships/tableStyles" Target="tableStyles.xml"/><Relationship Id="rId117" Type="http://schemas.openxmlformats.org/officeDocument/2006/relationships/viewProps" Target="viewProps.xml"/><Relationship Id="rId116" Type="http://schemas.openxmlformats.org/officeDocument/2006/relationships/presProps" Target="presProps.xml"/><Relationship Id="rId115" Type="http://schemas.openxmlformats.org/officeDocument/2006/relationships/handoutMaster" Target="handoutMasters/handoutMaster1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1T09:23:56.607" idx="1">
    <p:pos x="10" y="10"/>
    <p:text> General Systems Theory 
Think of a couple (or family) as a **machine with interconnected gears.** If one gear moves, every other gear moves too. You can't understand one part without understanding the whole machine.
1. WHOLENESS
"The relationship is its own living thing"**
Rahul + Priya ≠ just Rahul's stuff + Priya's stuff. Their *relationship* is a third entity — it has its own personality, its own patterns, its own "mood." You treat the relationship, not just the two individuals sitting in front of you.
 2. CIRCULAR CAUSALITY
"Nobody 'started it' — it's a loop"
Couples always say: *"She started the fight!"* / *"No, HE started it!"*
Systems theory says: **There is no starting point.** It's a circle.
&gt; She nags → He withdraws → She nags more → He withdraws more → She nags more...
Who started? Doesn't matter. They're both stuck in a **loop** that feeds itself.
3. HOMEOSTASIS
**"The system hates change — even if the current situation is miserable"**
Every system (couple, family) finds a **balance point** — and fights to stay there. Even if that balance is unhealthy.
**Example:** A couple has been fighting for 10 years. One partner starts therapy and begins changing. The OTHER partner suddenly gets worse or sabotages — because the system is trying to pull things back to "normal" (even though normal = misery).
 4. FEEDBACK LOOPS
**"Some patterns keep things the same; others blow things up"**
**Negative Feedback Loop (Stabilizing):**
&gt; Husband raises voice → Wife says "Can we pause?" → He calms down → Conflict stays manageable.
&gt; The system **corrected itself.** Like a thermostat maintaining temperature.
**Positive Feedback Loop (Escalating):**
&gt; Husband raises voice → Wife raises voice louder → He yells → She screams → He walks out → She calls his mother.
&gt; The system **spiralled.** Each reaction amplified the next. Like a microphone too close to a speaker — screeeech!
**Note:** "Positive" here doesn't mean good. It means the loop AMPLIFIES change (for better or worse).
5. EQUIFINALITY
**"Different roads, same destination"**
Ten different couples can all end up in the same place (e.g., emotional distance) but for completely different reasons:
- Couple 1: Because of infidelity
- Couple 2: Because of in-law interference
- Couple 3: Because of depression
- Couple 4: Because of unresolved childhood trauma
6. BOUNDARIES
"Who's in, who's out, and how thick is the wall?"
7. SUBSYSTEMS
**"Different hats, different rules"**
Every family has sub-groups with different jobs:
- **Spousal subsystem:** Rahul &amp; Priya as romantic partners (intimacy, sex, emotional support)
- **Parental subsystem:** Rahul &amp; Priya as parents (discipline, nurturing, decisions about children)
- **Sibling subsystem:** Their children's relationship with each other
---
### 8. HIERARCHY
**"Parents should be in charge — not children, not grandparents"**
Healthy systems have clear generational boundaries:
- Parents make decisions for the family
- Children are children (not parentified, not mediators)
- Grandparents advise but don't override
**Common dysfunction:** A child becomes the "go-between" for fighting parents. Or a mother-in-law overrules the wife. Structural therapy fixes these **upside-down hierarchies.**
---
 9. IDENTIFIED PATIENT (IP)
**"The person with the 'problem' is usually NOT the actual problem"**
A family comes in saying: *"Our son has behaviour problems."*
Systems thinking asks: *"What's happening in the FAMILY that this child is reacting to?"*
Often the child's symptoms are a **smoke signal** — pointing to marital conflict, parental stress, or family dysfunction.
**In couples:** One partner is labelled "the problem" — *"She's too emotional"* or *"He's an alcoholic."* Systems theory says: **the symptom exists in the RELATIONSHIP, not the person.**
10. FIRST-ORDER CHANGE vs. SECOND-ORDER CHANGE
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Prepared by- Avani Shah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Prepared by- Avani Shah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en-US"/>
              <a:t>Prepared by- Avani Shah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Couple &amp; Mar</a:t>
            </a:r>
            <a:r>
              <a:rPr lang="en-IN"/>
              <a:t>ital</a:t>
            </a:r>
            <a:r>
              <a:t>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04105"/>
            <a:ext cx="477012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Presented by: Avani Shah</a:t>
            </a:r>
            <a:endParaRPr lang="en-IN"/>
          </a:p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MPhil Clinical Psychology trainee II year </a:t>
            </a:r>
            <a:endParaRPr lang="en-IN"/>
          </a:p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MAN college of special education </a:t>
            </a:r>
            <a:endParaRPr lang="en-IN"/>
          </a:p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and psychological studies, Guna  </a:t>
            </a:r>
            <a:endParaRPr lang="en-IN"/>
          </a:p>
        </p:txBody>
      </p:sp>
      <p:sp>
        <p:nvSpPr>
          <p:cNvPr id="4" name="TextBox 2"/>
          <p:cNvSpPr txBox="1"/>
          <p:nvPr/>
        </p:nvSpPr>
        <p:spPr>
          <a:xfrm>
            <a:off x="6738620" y="4904105"/>
            <a:ext cx="477012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Supervised By: Dr. Ajay Sharma </a:t>
            </a:r>
            <a:endParaRPr lang="en-IN"/>
          </a:p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Profesor and Head of the department MAN college of special education </a:t>
            </a:r>
            <a:endParaRPr lang="en-IN"/>
          </a:p>
          <a:p>
            <a:pPr algn="l">
              <a:defRPr sz="2200">
                <a:solidFill>
                  <a:srgbClr val="E6E6E6"/>
                </a:solidFill>
              </a:defRPr>
            </a:pPr>
            <a:r>
              <a:rPr lang="en-IN"/>
              <a:t>and psychological studies, Guna  </a:t>
            </a:r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3155315" y="2637790"/>
            <a:ext cx="576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chemeClr val="bg1"/>
                </a:solidFill>
              </a:rPr>
              <a:t>SEMINAR PRESENTATION </a:t>
            </a:r>
            <a:endParaRPr lang="en-IN" altLang="en-US" b="1">
              <a:solidFill>
                <a:schemeClr val="bg1"/>
              </a:solidFill>
            </a:endParaRPr>
          </a:p>
        </p:txBody>
      </p:sp>
      <p:pic>
        <p:nvPicPr>
          <p:cNvPr id="6" name="Picture 5" descr="MAN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10255" cy="1080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89330"/>
            <a:ext cx="106984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/>
              <a:t>DISCLOSURE</a:t>
            </a:r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31520" y="1745615"/>
            <a:ext cx="10698480" cy="3188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The following presentation is a work of independent academic effort.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This presentation represents approximately 14 sleepless nights, </a:t>
            </a:r>
            <a:r>
              <a:rPr lang="en-IN" altLang="en-US" sz="1800" i="1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 textbooks, 47 research papers, and an unhealthy amount of coffee.</a:t>
            </a:r>
            <a:r>
              <a:rPr lang="en-IN" altLang="en-US" sz="1800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All theories, models, and frameworks discussed herein are derived from published textbooks and peer-reviewed research. The interpretation, however, is entirely the presenter's own</a:t>
            </a:r>
            <a:r>
              <a:rPr lang="en-IN" altLang="en-US" sz="1800" i="1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No claim is made regarding completeness or clinical expertise.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Any gaps in understanding reflect the natural limitations of learning an entire therapeutic modality through reading alone, without the luxury of structured clinical mentorship during the preparation phase.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The presenter remains a student</a:t>
            </a:r>
            <a:r>
              <a:rPr lang="en-IN" altLang="en-US" sz="1800" i="1">
                <a:latin typeface="Times New Roman" panose="02020603050405020304" charset="0"/>
                <a:cs typeface="Times New Roman" panose="02020603050405020304" charset="0"/>
              </a:rPr>
              <a:t>, e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ager to learn, open to correction, and grateful for the opportunity to present.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80000"/>
              </a:lnSpc>
              <a:defRPr sz="2200">
                <a:solidFill>
                  <a:srgbClr val="E6E6E6"/>
                </a:solidFill>
              </a:defRPr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</a:rPr>
              <a:t>Reader/Viewer discretion is advised.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br/>
            <a:r>
              <a:t>Foundations &amp; Psychology of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Indian Marriage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Indian Marriage: Statistical Overview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615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India: ~10 million marriages/year; divorce rate 1-2% (vs. 40-50% in Western nations)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However, low divorce ≠ high satisfaction (Tara &amp; Rathod, 2019)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Arranged marriages: 85-90% of all marriages in India (IIPS, 2020)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Mean age at marriage: Women 22.1 yrs, Men 25.5 yrs (NFHS-5, 2021)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Child marriage (&lt;18): 23.3% of women aged 20-24 (NFHS-5)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Intimate Partner Violence: 29.3% of ever-married women (NFHS-5, 2021)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Marital distress correlated with: depression (OR=2.6), anxiety (OR=2.1), somatization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Help-seeking: Only 14% of distressed couples seek professional help (Sathyanarayana Rao et al., 2015)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Barriers: stigma, family honor (izzat), joint family dynamics, financial dependence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• Protective factors: social support, religiosity, family rituals, shared value systems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Unique Features of Indian Marriages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Collectivist framework: Marriage = union of two families, not just individuals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Joint/extended family system: 44% of households (Census 2011)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In-law dynamics: Mother-in-law/daughter-in-law conflict is the #1 presenting issue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Dowry: Still practiced in 75% of marriages despite legal prohibition (Dalmia &amp; Lawrence, 2005)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Patrilocal residence: Wife moves to husband's family home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Gender role expectations: Instrumental (husband) vs. expressive (wife) roles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Religious/caste endogamy: 94% of marriages are within same caste (India Human Dev Survey)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Economic dependence: Female labor force participation = 25.1% (World Bank, 2023)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Technology impact: Matrimonial apps, social media infidelity, pornography access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Changing expectations: Companionate marriage ideal rising among urban educated couples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Gottman's Research on Marriage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John Gottman: The Science of Couples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40+ years of research at the 'Love Lab' (U. Washington)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Studied 3,000+ couples; longitudinal data spanning 20 years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Can predict divorce with 93.6% accuracy from 15 min of conflict discussion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Key methodology: Specific Affect Coding System (SPAFF) - 20 codes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Physiological measures: HR, skin conductance, blood velocity, gross motor movement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'Masters' vs. 'Disasters' of relationships identified through observational research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Masters show: 5:1 positive-to-negative ratio during conflict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Disasters show: 0.8:1 ratio or lower; cascade toward separation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Key publications: 'The Seven Principles for Making Marriage Work' (1999)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'What Predicts Divorce' (1994); 'The Marriage Clinic' (1999)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Four Horsemen of the Apocalypse (Gottman, 1994)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1. CRITICISM (Complaint → Character attack)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'You never help' vs. 'I felt overwhelmed when dishes piled up'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Uses 'you always/never' language; attacks personhood, not behavior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Antidote: Gentle Start-up (I feel ___ about ___ and I need ___)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2. CONTEMPT (Most destructive predictor; #1 predictor of divorce)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Sarcasm, eye-rolling, mockery, name-calling, hostile humor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Communicates disgust and superiority; position of moral high ground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Predicts infectious illness (suppresses immune function) in receiver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Antidote: Build Culture of Appreciation &amp; Admiration (5:1 ratio)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The Four Horsemen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/>
              <a:t>3. DEFENSIVENESS (Perceived innocent victim; counter-attack)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Cross-complaining, yes-butting, repeating self, whining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Refuses to accept influence; escalates the conflict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Antidote: Accept responsibility for even a small part</a:t>
            </a:r>
            <a:endParaRPr sz="2000"/>
          </a:p>
          <a:p>
            <a:pPr>
              <a:spcAft>
                <a:spcPts val="400"/>
              </a:spcAft>
              <a:defRPr sz="1600"/>
            </a:pP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4. STONEWALLING (Emotional withdrawal; 'the silent treatment')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85% of stonewallers are men (Gottman &amp; Silver, 1999)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Occurs when HR &gt; 100 bpm (Diffuse Physiological Arousal/DPA)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Flooding → fight/flight/freeze → withdrawal to self-soothe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   • Antidote: Self-soothing break (20+ min), then return to conversation</a:t>
            </a:r>
            <a:endParaRPr sz="2000"/>
          </a:p>
          <a:p>
            <a:pPr>
              <a:spcAft>
                <a:spcPts val="400"/>
              </a:spcAft>
              <a:defRPr sz="1600"/>
            </a:pP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Clinical Tip: Assess which horsemen are present in the first session</a:t>
            </a:r>
            <a:endParaRPr sz="2000"/>
          </a:p>
          <a:p>
            <a:pPr>
              <a:spcAft>
                <a:spcPts val="400"/>
              </a:spcAft>
              <a:defRPr sz="1600"/>
            </a:pPr>
            <a:r>
              <a:rPr sz="2000"/>
              <a:t>Use Gottman Relationship Checkup (online tool) for systematic screening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The 5:1 Magic Ratio (Gottman, 1992)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During CONFLICT discussions: Stable couples maintain 5:1 positive:negative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During everyday interactions: Masters maintain 20:1 ratio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Positive interactions include: interest, affection, humor, empathy, validation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Active constructive responding (Gable et al., 2004) amplifies positives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Negative Sentiment Override (NSO): When ratio drops, neutral acts coded as negative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Positive Sentiment Override (PSO): Buffer; benefit of the doubt given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Gottman's 'Emotional Bank Account' metaphor: deposits vs. withdrawals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Small things often &gt; grand gestures (micro-moments of connection)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Turning toward bids: Masters turn toward 86% of the time vs. 33% for Disasters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Clinical application: Increase positive deposits BEFORE addressing conflict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Sound Relationship House Theory (Gottman &amp; Silver, 2012)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7-LEVEL MODEL (bottom to top):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1: Build LOVE MAPS (Know partner's inner world - worries, dreams, history)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2: Share FONDNESS &amp; ADMIRATION (Culture of appreciation; express respect)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3: TURN TOWARD (Respond to bids for connection; emotional bank account)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4: POSITIVE PERSPECTIVE (PSO; benefit of the doubt; good faith)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5: MANAGE CONFLICT (Not resolve - 69% of problems are perpetual)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Dialogue with perpetual problems; gridlock → dialogue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 • Accept influence; compromise; solvable problem-solving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6: MAKE LIFE DREAMS COME TRUE (Support partner's aspirations)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Level 7: CREATE SHARED MEANING (Rituals, roles, goals, symbols)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Load-bearing walls: TRUST and COMMITMENT (on each side of the house)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Sound Relationship House: Clinical Applications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989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Assessment: Identify which 'floor' of the house is damaged first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Intervention flows bottom-up: Cannot manage conflict without Love Maps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Love Maps: 'Open-ended questions' card deck; 20-min daily stress-reducing conversation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Fondness/Admiration: 'I appreciate you for...' exercise; history of relationship interview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Turning toward: Track bids in session; video review of micro-interactions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Perpetual problems (69%): Dreams-within-conflict intervention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Gridlocked perpetual problems: Explore the 'dream behind the position'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Shared meaning: Create family rituals, discuss legacy and purpose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Trust: Built through attunement (ATTUNE: Awareness, Tolerance, Turning toward,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Understanding, Non-defensive responding, Empathy)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Betrayal: 'Sliding door' moments - turning away = betrayal cascade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Attachment Theory in Adult Relationships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Bowlby to Hazan &amp; Shaver: Attachment in Adults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Bowlby (1969, 1973, 1980): Attachment = innate motivational system from cradle to grave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Hazan &amp; Shaver (1987): First applied attachment theory to adult romantic relationships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Internal Working Models (IWMs): Mental representations of self + other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Model of Self: Worthy of love? (Anxiety dimension: low → high)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Model of Other: Reliable/available? (Avoidance dimension: low → high)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Bartholomew &amp; Horowitz (1991): 2x2 model creating 4 adult attachment styles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Attachment system activated by: threat, illness, separation, conflict, life transitions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Proximity seeking, safe haven, secure base, separation distress (Hazan &amp; Zeifman, 1999)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Transfer of attachment functions from parents to romantic partner: ages 15-25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Neurobiological basis: Oxytocin, vasopressin, dopamine, opioid systems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000">
                <a:latin typeface="Times New Roman" panose="02020603050405020304" charset="0"/>
                <a:cs typeface="Times New Roman" panose="02020603050405020304" charset="0"/>
              </a:rPr>
              <a:t>Four Adult Attachment Styles (Bartholomew &amp; Horowitz, 1991)</a:t>
            </a:r>
            <a:endParaRPr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394960" cy="447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SECURE (Low Anxiety, Low Avoidance)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~55% of population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Comfortable with intimacy &amp; autonomy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Effective emotion regulation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Can express needs directly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Responsive to partner distress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PREOCCUPIED/ANXIOUS (High Anxiety, Low Avoid)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~20% of population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Hyperactivation of attachment system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Protest behaviors: clinging, monitoring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Fears abandonment; low self-worth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94960" cy="478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DISMISSIVE-AVOIDANT (Low Anxiety, High Avoid)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~23% of population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Deactivation of attachment system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Compulsive self-reliance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Minimizes distress; 'I'm fine'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Discomfort with closeness/dependence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FEARFUL-AVOIDANT/DISORGANIZED (High, High)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~2-5% of population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Desire closeness but fear it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Associated with trauma history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300"/>
              </a:spcAft>
              <a:defRPr sz="14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Oscillates between approach/avoidance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15" y="1467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/>
              <a:t>Pursuer-Withdrawer Dynamic (Christensen &amp; Heavey, 1990)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989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Most common couple conflict pattern: Present in ~60% of distressed couples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Demand-Withdraw pattern: One partner seeks engagement, other withdraws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Typically (not always): Female demand / Male withdraw (socialized patterns)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Attachment lens: Anxious partner pursues (hyperactivation) + Avoidant withdraws (deactivation)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The more one pursues → the more other withdraws → pursuer escalates → vicious cycle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Pursuer's underlying emotion: Fear of abandonment, loneliness ('Am I enough?')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Withdrawer's underlying emotion: Fear of failure, inadequacy ('I can never get it right')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Both feel unloved; both contribute to the negative cycle (circular causality)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 EFT: Externalizing the cycle - 'The cycle is the enemy, not your partner'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Indian context: In-law triangulation can intensify this pattern (loyalty conflicts)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Research: Demand-withdraw predicts lower satisfaction (r = -.45; Eldridge &amp; Christensen, 2002)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Sternberg's Triangular Theory of Love (1986)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2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THREE COMPONENTS: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1. INTIMACY: Emotional closeness, warmth, sharing, self-disclosure, bondedness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2. PASSION: Physical/sexual attraction, arousal, romance, 'in love' feeling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3. COMMITMENT: Decision (short-term) + commitment to maintain (long-term)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SEVEN TYPES OF LOVE: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Liking = Intimacy only (friendship without passion or commitment)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Infatuation = Passion only (love at first sight; obsessive; unstable)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Empty Love = Commitment only (staying for duty; common in arranged marriages initially)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Romantic Love = Intimacy + Passion (summer romance; no commitment yet)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Companionate Love = Intimacy + Commitment (long marriages; passion faded)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Fatuous Love = Passion + Commitment (whirlwind; no deep connection)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Consummate Love = All three (ideal; hard to maintain; requires effort)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Clinical Application: Assess which components are present/absent; target interventions accordingly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Personality &amp; Couple Functioning: The Big Five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THE BIG FIVE PERSONALITY TRAITS AND RELATIONSHIP OUTCOMES: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 NEUROTICISM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: Strongest predictor of marital dissatisfaction (r = -.22; Malouff et al., 2010)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- Negative affect, emotional reactivity, conflict escalation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- Both actor effects (own N → own dissatisfaction) and partner effects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AGREEABLENESS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: Positive predictor of satisfaction (r = .15)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- Cooperation, forgiveness, accommodation, empathy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CONSCIENTIOUSNESS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: Positive predictor (r = .12)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 - Reliability, follow-through, relationship maintenance behaviors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EXTRAVERSION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: Weak positive association; context-dependent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OPENNESS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: Weak/mixed findings; may help with flexibility/growth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Clinical Tip: Personality is relatively stable - focus on behavioral skills &amp; interaction patterns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Personality similarity vs. complementarity: Research favors similarity (Luo &amp; Klohnen, 2005)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rPr sz="3600">
                <a:latin typeface="Times New Roman" panose="02020603050405020304" charset="0"/>
                <a:cs typeface="Times New Roman" panose="02020603050405020304" charset="0"/>
              </a:rPr>
              <a:t>Emotion Regulation in Couples</a:t>
            </a:r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Gross's Process Model (1998): Situation selection → Modification → Attention → Appraisal → Response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Interpersonal Emotion Regulation: Partners co-regulate each other's affect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Co-regulation: Synchrony of physiological states between partners (Sbarra &amp; Hazan, 2008)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Diffuse Physiological Arousal (DPA): HR &gt; 100 bpm → cognitive capacity drops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During DPA: Cannot listen, empathize, problem-solve, or use humor effectively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Gottman's rule: Take 20-minute break when flooded (HR returns to baseline ~20 min)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Emotional flooding more common in insecure attachment (hyperactivation pathway)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Alexithymia (difficulty identifying/expressing emotions): 10-15% prevalence; higher in males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Emotion Coaching vs. Emotion Dismissing meta-emotion philosophy (Gottman et al., 1996)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Therapeutic strategies: Affect labeling, mindfulness, distress tolerance (DBT skills)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400"/>
              </a:spcAft>
              <a:defRPr sz="1600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Cultural consideration: Indian socialization often discourages emotional expression in males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br/>
            <a:r>
              <a:t>Assessment &amp; Theoretical Approaches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Couple Assessment</a:t>
            </a:r>
            <a:r>
              <a:rPr lang="en-IN"/>
              <a:t>s</a:t>
            </a:r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The 3-Session Assessment Model (Jacobson &amp; Christensen, 1998)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SESSION 1: CONJOINT (Both partners together - 60 min)</a:t>
            </a:r>
          </a:p>
          <a:p>
            <a:pPr>
              <a:spcAft>
                <a:spcPts val="400"/>
              </a:spcAft>
              <a:defRPr sz="1600"/>
            </a:pPr>
            <a:r>
              <a:t>  • Presenting problem; relationship history; strengths &amp; concerns</a:t>
            </a:r>
          </a:p>
          <a:p>
            <a:pPr>
              <a:spcAft>
                <a:spcPts val="400"/>
              </a:spcAft>
              <a:defRPr sz="1600"/>
            </a:pPr>
            <a:r>
              <a:t>  • Observe interaction patterns in vivo (who speaks first, interruptions, affect)</a:t>
            </a:r>
          </a:p>
          <a:p>
            <a:pPr>
              <a:spcAft>
                <a:spcPts val="400"/>
              </a:spcAft>
              <a:defRPr sz="1600"/>
            </a:pPr>
            <a:r>
              <a:t>  • Discuss goals, expectations, informed consent for conjoint therapy</a:t>
            </a:r>
          </a:p>
          <a:p>
            <a:pPr>
              <a:spcAft>
                <a:spcPts val="400"/>
              </a:spcAft>
              <a:defRPr sz="1600"/>
            </a:pPr>
            <a:r>
              <a:t>  • Administer questionnaires (DAS/CSI, ECR, DV screener)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SESSION 2 &amp; 3: INDIVIDUAL (One partner per session - 45-60 min each)</a:t>
            </a:r>
          </a:p>
          <a:p>
            <a:pPr>
              <a:spcAft>
                <a:spcPts val="400"/>
              </a:spcAft>
              <a:defRPr sz="1600"/>
            </a:pPr>
            <a:r>
              <a:t>  • Personal history: family of origin, attachment experiences, trauma</a:t>
            </a:r>
          </a:p>
          <a:p>
            <a:pPr>
              <a:spcAft>
                <a:spcPts val="400"/>
              </a:spcAft>
              <a:defRPr sz="1600"/>
            </a:pPr>
            <a:r>
              <a:t>  • Individual mental health: mood, anxiety, substance use, personality</a:t>
            </a:r>
          </a:p>
          <a:p>
            <a:pPr>
              <a:spcAft>
                <a:spcPts val="400"/>
              </a:spcAft>
              <a:defRPr sz="1600"/>
            </a:pPr>
            <a:r>
              <a:t>  • Relationship secrets: affairs, addictions, financial deception</a:t>
            </a:r>
          </a:p>
          <a:p>
            <a:pPr>
              <a:spcAft>
                <a:spcPts val="400"/>
              </a:spcAft>
              <a:defRPr sz="1600"/>
            </a:pPr>
            <a:r>
              <a:t>  • Domestic violence screening (CRITICAL - cannot be done conjointly)</a:t>
            </a:r>
          </a:p>
          <a:p>
            <a:pPr>
              <a:spcAft>
                <a:spcPts val="400"/>
              </a:spcAft>
              <a:defRPr sz="1600"/>
            </a:pPr>
            <a:r>
              <a:t>  • Commitment level: 1-10 scale; ambivalence exploration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SESSION 4: FEEDBACK SESSION (Conjoint - return with formulation)</a:t>
            </a:r>
          </a:p>
          <a:p>
            <a:pPr>
              <a:spcAft>
                <a:spcPts val="400"/>
              </a:spcAft>
              <a:defRPr sz="1600"/>
            </a:pPr>
            <a:r>
              <a:t>  • Present case conceptualization; collaborative goal-setting; treatment plan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Violence Screening: A Clinical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MUST screen for IPV in INDIVIDUAL sessions - never conjoint (safety risk)</a:t>
            </a:r>
          </a:p>
          <a:p>
            <a:pPr>
              <a:spcAft>
                <a:spcPts val="400"/>
              </a:spcAft>
              <a:defRPr sz="1600"/>
            </a:pPr>
            <a:r>
              <a:t>• Prevalence: 29.3% of Indian married women experience physical/sexual IPV (NFHS-5)</a:t>
            </a:r>
          </a:p>
          <a:p>
            <a:pPr>
              <a:spcAft>
                <a:spcPts val="400"/>
              </a:spcAft>
              <a:defRPr sz="1600"/>
            </a:pPr>
            <a:r>
              <a:t>• Differentiate: Situational Couple Violence vs. Intimate Terrorism (Johnson, 2008)</a:t>
            </a:r>
          </a:p>
          <a:p>
            <a:pPr>
              <a:spcAft>
                <a:spcPts val="400"/>
              </a:spcAft>
              <a:defRPr sz="1600"/>
            </a:pPr>
            <a:r>
              <a:t>• Situational CV: Bidirectional, conflict-driven, no coercive control pattern</a:t>
            </a:r>
          </a:p>
          <a:p>
            <a:pPr>
              <a:spcAft>
                <a:spcPts val="400"/>
              </a:spcAft>
              <a:defRPr sz="1600"/>
            </a:pPr>
            <a:r>
              <a:t>• Intimate Terrorism: Pattern of coercive control; power &amp; domination; usually M→F</a:t>
            </a:r>
          </a:p>
          <a:p>
            <a:pPr>
              <a:spcAft>
                <a:spcPts val="400"/>
              </a:spcAft>
              <a:defRPr sz="1600"/>
            </a:pPr>
            <a:r>
              <a:t>• Couple therapy CONTRAINDICATED for Intimate Terrorism (safety risk; no couples work)</a:t>
            </a:r>
          </a:p>
          <a:p>
            <a:pPr>
              <a:spcAft>
                <a:spcPts val="400"/>
              </a:spcAft>
              <a:defRPr sz="1600"/>
            </a:pPr>
            <a:r>
              <a:t>• Screening tools: CTS-2 (Straus et al., 1996); HITS; Danger Assessment (Campbell, 2003)</a:t>
            </a:r>
          </a:p>
          <a:p>
            <a:pPr>
              <a:spcAft>
                <a:spcPts val="400"/>
              </a:spcAft>
              <a:defRPr sz="1600"/>
            </a:pPr>
            <a:r>
              <a:t>• Ask directly: 'Have you ever felt afraid of your partner?'</a:t>
            </a:r>
          </a:p>
          <a:p>
            <a:pPr>
              <a:spcAft>
                <a:spcPts val="400"/>
              </a:spcAft>
              <a:defRPr sz="1600"/>
            </a:pPr>
            <a:r>
              <a:t>• Look for: isolation, financial control, threats, stalking, sexual coercion, technology abuse</a:t>
            </a:r>
          </a:p>
          <a:p>
            <a:pPr>
              <a:spcAft>
                <a:spcPts val="400"/>
              </a:spcAft>
              <a:defRPr sz="1600"/>
            </a:pPr>
            <a:r>
              <a:t>• If IPV identified: Individual safety planning, referral to DV services, legal guidance</a:t>
            </a:r>
          </a:p>
          <a:p>
            <a:pPr>
              <a:spcAft>
                <a:spcPts val="400"/>
              </a:spcAft>
              <a:defRPr sz="1600"/>
            </a:pPr>
            <a:r>
              <a:t>• Indian resources: Women's helpline 181; NCW; Protection Officers under DV Act 2005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9B1B5E"/>
                </a:solidFill>
              </a:defRPr>
            </a:pPr>
            <a:r>
              <a:t>Validated Assessment Tools for Couple Therapy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Cut-off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DAS (Dyadic Adjustment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Spanier, 1976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Consensus, Satisfaction, Cohesion, Affection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&lt;100 = distress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CSI-16 (Couple Satisfaction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Funk &amp; Rogge, 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Overall relationship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&lt;51.5 = distress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ECR-R (Experiences in Close Rel.)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Fraley et al., 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Anxiety &amp; Avoidance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Dimensional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CTS-2 (Conflict Tactics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Straus et al., 1996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Physical/psychological/sexual aggression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Frequency-based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MSI-R (Marital Satisfaction Inv.)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Snyder, 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 scales +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T-score &gt;60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ENRICH (Evaluation &amp; Nurturing)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Olson et al., 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relationship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Normative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Case Formulation for Couples: 12 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PRESENTING PROBLEMS: What brought them in? (each partner's perspective)</a:t>
            </a:r>
          </a:p>
          <a:p>
            <a:pPr>
              <a:spcAft>
                <a:spcPts val="400"/>
              </a:spcAft>
              <a:defRPr sz="1600"/>
            </a:pPr>
            <a:r>
              <a:t>2. RELATIONSHIP HISTORY: Courtship narrative, transitions, turning points</a:t>
            </a:r>
          </a:p>
          <a:p>
            <a:pPr>
              <a:spcAft>
                <a:spcPts val="400"/>
              </a:spcAft>
              <a:defRPr sz="1600"/>
            </a:pPr>
            <a:r>
              <a:t>3. INDIVIDUAL FACTORS: Mental health, personality, family of origin, trauma</a:t>
            </a:r>
          </a:p>
          <a:p>
            <a:pPr>
              <a:spcAft>
                <a:spcPts val="400"/>
              </a:spcAft>
              <a:defRPr sz="1600"/>
            </a:pPr>
            <a:r>
              <a:t>4. INTERACTIONAL PATTERNS: Pursuer-withdrawer, mutual avoidance, mutual escalation</a:t>
            </a:r>
          </a:p>
          <a:p>
            <a:pPr>
              <a:spcAft>
                <a:spcPts val="400"/>
              </a:spcAft>
              <a:defRPr sz="1600"/>
            </a:pPr>
            <a:r>
              <a:t>5. COMMUNICATION STYLE: Four Horsemen present? Repair attempts? Bids?</a:t>
            </a:r>
          </a:p>
          <a:p>
            <a:pPr>
              <a:spcAft>
                <a:spcPts val="400"/>
              </a:spcAft>
              <a:defRPr sz="1600"/>
            </a:pPr>
            <a:r>
              <a:t>6. ATTACHMENT DYNAMICS: Each partner's style; fit/misfit between them</a:t>
            </a:r>
          </a:p>
          <a:p>
            <a:pPr>
              <a:spcAft>
                <a:spcPts val="400"/>
              </a:spcAft>
              <a:defRPr sz="1600"/>
            </a:pPr>
            <a:r>
              <a:t>7. POWER &amp; CONTROL: Decision-making; financial; sexual; social; family influence</a:t>
            </a:r>
          </a:p>
          <a:p>
            <a:pPr>
              <a:spcAft>
                <a:spcPts val="400"/>
              </a:spcAft>
              <a:defRPr sz="1600"/>
            </a:pPr>
            <a:r>
              <a:t>8. STRENGTHS &amp; RESOURCES: What's working? Commitment level? Shared values?</a:t>
            </a:r>
          </a:p>
          <a:p>
            <a:pPr>
              <a:spcAft>
                <a:spcPts val="400"/>
              </a:spcAft>
              <a:defRPr sz="1600"/>
            </a:pPr>
            <a:r>
              <a:t>9. PRECIPITATING FACTORS: What destabilized the system? (affair, baby, loss, relocation)</a:t>
            </a:r>
          </a:p>
          <a:p>
            <a:pPr>
              <a:spcAft>
                <a:spcPts val="400"/>
              </a:spcAft>
              <a:defRPr sz="1600"/>
            </a:pPr>
            <a:r>
              <a:t>10. MAINTAINING FACTORS: What keeps the problem going? (cycles, beliefs, avoidance)</a:t>
            </a:r>
          </a:p>
          <a:p>
            <a:pPr>
              <a:spcAft>
                <a:spcPts val="400"/>
              </a:spcAft>
              <a:defRPr sz="1600"/>
            </a:pPr>
            <a:r>
              <a:t>11. CULTURAL/CONTEXTUAL: Religion, caste, family expectations, migration, SES</a:t>
            </a:r>
          </a:p>
          <a:p>
            <a:pPr>
              <a:spcAft>
                <a:spcPts val="400"/>
              </a:spcAft>
              <a:defRPr sz="1600"/>
            </a:pPr>
            <a:r>
              <a:t>12. TREATMENT GOALS: Behavioral, relational, intrapsychic; short-term &amp; long-term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Systems Theory &amp; Family Therapy Approaches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General Systems Theory: Core Principles (von Bertalanffy, 1968)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WHOLENESS: The system &gt; sum of parts; relationship is a third entity</a:t>
            </a:r>
          </a:p>
          <a:p>
            <a:pPr>
              <a:spcAft>
                <a:spcPts val="400"/>
              </a:spcAft>
              <a:defRPr sz="1600"/>
            </a:pPr>
            <a:r>
              <a:t>• CIRCULAR CAUSALITY: A→B→A (not linear A causes B); no single 'cause'</a:t>
            </a:r>
          </a:p>
          <a:p>
            <a:pPr>
              <a:spcAft>
                <a:spcPts val="400"/>
              </a:spcAft>
              <a:defRPr sz="1600"/>
            </a:pPr>
            <a:r>
              <a:t>• HOMEOSTASIS: Systems seek stability; even dysfunctional patterns serve a function</a:t>
            </a:r>
          </a:p>
          <a:p>
            <a:pPr>
              <a:spcAft>
                <a:spcPts val="400"/>
              </a:spcAft>
              <a:defRPr sz="1600"/>
            </a:pPr>
            <a:r>
              <a:t>• FEEDBACK LOOPS: Negative (stabilizing) and Positive (amplifying/changing) loops</a:t>
            </a:r>
          </a:p>
          <a:p>
            <a:pPr>
              <a:spcAft>
                <a:spcPts val="400"/>
              </a:spcAft>
              <a:defRPr sz="1600"/>
            </a:pPr>
            <a:r>
              <a:t>• EQUIFINALITY: Same endpoint reached from different starting points</a:t>
            </a:r>
          </a:p>
          <a:p>
            <a:pPr>
              <a:spcAft>
                <a:spcPts val="400"/>
              </a:spcAft>
              <a:defRPr sz="1600"/>
            </a:pPr>
            <a:r>
              <a:t>• BOUNDARIES: Rigid → Disengaged; Diffuse → Enmeshed; Clear = healthy</a:t>
            </a:r>
          </a:p>
          <a:p>
            <a:pPr>
              <a:spcAft>
                <a:spcPts val="400"/>
              </a:spcAft>
              <a:defRPr sz="1600"/>
            </a:pPr>
            <a:r>
              <a:t>• SUBSYSTEMS: Spousal, parental, sibling subsystems with distinct functions</a:t>
            </a:r>
          </a:p>
          <a:p>
            <a:pPr>
              <a:spcAft>
                <a:spcPts val="400"/>
              </a:spcAft>
              <a:defRPr sz="1600"/>
            </a:pPr>
            <a:r>
              <a:t>• HIERARCHY: Generational boundaries; parents &gt; children in decision-making</a:t>
            </a:r>
          </a:p>
          <a:p>
            <a:pPr>
              <a:spcAft>
                <a:spcPts val="400"/>
              </a:spcAft>
              <a:defRPr sz="1600"/>
            </a:pPr>
            <a:r>
              <a:t>• IDENTIFIED PATIENT (IP): The symptom-bearer; often not the 'problem'</a:t>
            </a:r>
          </a:p>
          <a:p>
            <a:pPr>
              <a:spcAft>
                <a:spcPts val="400"/>
              </a:spcAft>
              <a:defRPr sz="1600"/>
            </a:pPr>
            <a:r>
              <a:t>• FIRST-ORDER CHANGE: Behavior change within the system</a:t>
            </a:r>
          </a:p>
          <a:p>
            <a:pPr>
              <a:spcAft>
                <a:spcPts val="400"/>
              </a:spcAft>
              <a:defRPr sz="1600"/>
            </a:pPr>
            <a:r>
              <a:t>• SECOND-ORDER CHANGE: Change in the rules/structure of the system itself</a:t>
            </a:r>
          </a:p>
          <a:p>
            <a:pPr>
              <a:spcAft>
                <a:spcPts val="400"/>
              </a:spcAft>
              <a:defRPr sz="1600"/>
            </a:pPr>
            <a:r>
              <a:t>• Clinical implication: Treat the RELATIONSHIP, not the individual 'patient'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Bowen Family Systems Theory: 8 Concepts (Bowen, 1978)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DIFFERENTIATION OF SELF: Key concept; ability to separate thought from feeling</a:t>
            </a:r>
          </a:p>
          <a:p>
            <a:pPr>
              <a:spcAft>
                <a:spcPts val="400"/>
              </a:spcAft>
              <a:defRPr sz="1600"/>
            </a:pPr>
            <a:r>
              <a:t>   • Scale: 0 (fusion) to 100 (full differentiation); most people 25-75</a:t>
            </a:r>
          </a:p>
          <a:p>
            <a:pPr>
              <a:spcAft>
                <a:spcPts val="400"/>
              </a:spcAft>
              <a:defRPr sz="1600"/>
            </a:pPr>
            <a:r>
              <a:t>   • Low differentiation → emotional reactivity, poor boundaries, chronic anxiety</a:t>
            </a:r>
          </a:p>
          <a:p>
            <a:pPr>
              <a:spcAft>
                <a:spcPts val="400"/>
              </a:spcAft>
              <a:defRPr sz="1600"/>
            </a:pPr>
            <a:r>
              <a:t>2. TRIANGULATION: Third party drawn in to stabilize unstable dyad</a:t>
            </a:r>
          </a:p>
          <a:p>
            <a:pPr>
              <a:spcAft>
                <a:spcPts val="400"/>
              </a:spcAft>
              <a:defRPr sz="1600"/>
            </a:pPr>
            <a:r>
              <a:t>   • Example: Mother-child coalition against father; in-law interference</a:t>
            </a:r>
          </a:p>
          <a:p>
            <a:pPr>
              <a:spcAft>
                <a:spcPts val="400"/>
              </a:spcAft>
              <a:defRPr sz="1600"/>
            </a:pPr>
            <a:r>
              <a:t>3. NUCLEAR FAMILY EMOTIONAL SYSTEM: 4 patterns under stress:</a:t>
            </a:r>
          </a:p>
          <a:p>
            <a:pPr>
              <a:spcAft>
                <a:spcPts val="400"/>
              </a:spcAft>
              <a:defRPr sz="1600"/>
            </a:pPr>
            <a:r>
              <a:t>   • Marital conflict, dysfunction in one spouse, impairment in child, emotional distance</a:t>
            </a:r>
          </a:p>
          <a:p>
            <a:pPr>
              <a:spcAft>
                <a:spcPts val="400"/>
              </a:spcAft>
              <a:defRPr sz="1600"/>
            </a:pPr>
            <a:r>
              <a:t>4. FAMILY PROJECTION PROCESS: Parents transmit anxiety to most vulnerable child</a:t>
            </a:r>
          </a:p>
          <a:p>
            <a:pPr>
              <a:spcAft>
                <a:spcPts val="400"/>
              </a:spcAft>
              <a:defRPr sz="1600"/>
            </a:pPr>
            <a:r>
              <a:t>5. MULTIGENERATIONAL TRANSMISSION: Patterns repeat across 3+ generations</a:t>
            </a:r>
          </a:p>
          <a:p>
            <a:pPr>
              <a:spcAft>
                <a:spcPts val="400"/>
              </a:spcAft>
              <a:defRPr sz="1600"/>
            </a:pPr>
            <a:r>
              <a:t>6. EMOTIONAL CUTOFF: Apparent solution (distance) that actually increases fusion</a:t>
            </a:r>
          </a:p>
          <a:p>
            <a:pPr>
              <a:spcAft>
                <a:spcPts val="400"/>
              </a:spcAft>
              <a:defRPr sz="1600"/>
            </a:pPr>
            <a:r>
              <a:t>7. SIBLING POSITION: Toman's (1961) birth order affects relationship expectations</a:t>
            </a:r>
          </a:p>
          <a:p>
            <a:pPr>
              <a:spcAft>
                <a:spcPts val="400"/>
              </a:spcAft>
              <a:defRPr sz="1600"/>
            </a:pPr>
            <a:r>
              <a:t>8. SOCIETAL EMOTIONAL PROCESS: Society shows same patterns under chronic anxiety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Genogram: The Therapist's Essential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Three-generation family map (McGoldrick, Gerson &amp; Petry, 2008)</a:t>
            </a:r>
          </a:p>
          <a:p>
            <a:pPr>
              <a:spcAft>
                <a:spcPts val="400"/>
              </a:spcAft>
              <a:defRPr sz="1600"/>
            </a:pPr>
            <a:r>
              <a:t>• Symbols: Squares (male), Circles (female), Horizontal line (marriage)</a:t>
            </a:r>
          </a:p>
          <a:p>
            <a:pPr>
              <a:spcAft>
                <a:spcPts val="400"/>
              </a:spcAft>
              <a:defRPr sz="1600"/>
            </a:pPr>
            <a:r>
              <a:t>• Relationship lines: Close (double), Conflictual (zigzag), Cutoff (break)</a:t>
            </a:r>
          </a:p>
          <a:p>
            <a:pPr>
              <a:spcAft>
                <a:spcPts val="400"/>
              </a:spcAft>
              <a:defRPr sz="1600"/>
            </a:pPr>
            <a:r>
              <a:t>• Information captured: Demographics, functioning, relationships, patterns, critical events</a:t>
            </a:r>
          </a:p>
          <a:p>
            <a:pPr>
              <a:spcAft>
                <a:spcPts val="400"/>
              </a:spcAft>
              <a:defRPr sz="1600"/>
            </a:pPr>
            <a:r>
              <a:t>• Look for: Repeated patterns (divorce, addiction, violence, mental illness, triangulation)</a:t>
            </a:r>
          </a:p>
          <a:p>
            <a:pPr>
              <a:spcAft>
                <a:spcPts val="400"/>
              </a:spcAft>
              <a:defRPr sz="1600"/>
            </a:pPr>
            <a:r>
              <a:t>• Reveal: Multigenerational loyalty obligations, invisible legacies, anniversary reactions</a:t>
            </a:r>
          </a:p>
          <a:p>
            <a:pPr>
              <a:spcAft>
                <a:spcPts val="400"/>
              </a:spcAft>
              <a:defRPr sz="1600"/>
            </a:pPr>
            <a:r>
              <a:t>• Indian adaptation: Include caste, joint family structure, migration, dowry</a:t>
            </a:r>
          </a:p>
          <a:p>
            <a:pPr>
              <a:spcAft>
                <a:spcPts val="400"/>
              </a:spcAft>
              <a:defRPr sz="1600"/>
            </a:pPr>
            <a:r>
              <a:t>• Clinical use: Share genogram with couple - 'Can you see the pattern?'</a:t>
            </a:r>
          </a:p>
          <a:p>
            <a:pPr>
              <a:spcAft>
                <a:spcPts val="400"/>
              </a:spcAft>
              <a:defRPr sz="1600"/>
            </a:pPr>
            <a:r>
              <a:t>• Software: GenoPro, McGoldrick's online tools, or hand-drawn in session</a:t>
            </a:r>
          </a:p>
          <a:p>
            <a:pPr>
              <a:spcAft>
                <a:spcPts val="400"/>
              </a:spcAft>
              <a:defRPr sz="1600"/>
            </a:pPr>
            <a:r>
              <a:t>• Bowen's use: Help clients 'go home again' - research family of origin with curiosity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Structural Family Therapy (Salvador Minuchin, 1974)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CONCEPTS:</a:t>
            </a:r>
          </a:p>
          <a:p>
            <a:pPr>
              <a:spcAft>
                <a:spcPts val="400"/>
              </a:spcAft>
              <a:defRPr sz="1600"/>
            </a:pPr>
            <a:r>
              <a:t>• STRUCTURE: Invisible rules governing family transactions; who interacts with whom, how</a:t>
            </a:r>
          </a:p>
          <a:p>
            <a:pPr>
              <a:spcAft>
                <a:spcPts val="400"/>
              </a:spcAft>
              <a:defRPr sz="1600"/>
            </a:pPr>
            <a:r>
              <a:t>• SUBSYSTEMS: Spousal, parental, sibling - each has distinct functions</a:t>
            </a:r>
          </a:p>
          <a:p>
            <a:pPr>
              <a:spcAft>
                <a:spcPts val="400"/>
              </a:spcAft>
              <a:defRPr sz="1600"/>
            </a:pPr>
            <a:r>
              <a:t>• BOUNDARIES: Clear (healthy) vs. Enmeshed (diffuse) vs. Disengaged (rigid)</a:t>
            </a:r>
          </a:p>
          <a:p>
            <a:pPr>
              <a:spcAft>
                <a:spcPts val="400"/>
              </a:spcAft>
              <a:defRPr sz="1600"/>
            </a:pPr>
            <a:r>
              <a:t>• HIERARCHY: Parents should be in executive position; cross-generational coalitions = problematic</a:t>
            </a:r>
          </a:p>
          <a:p>
            <a:pPr>
              <a:spcAft>
                <a:spcPts val="400"/>
              </a:spcAft>
              <a:defRPr sz="1600"/>
            </a:pPr>
            <a:r>
              <a:t>• ALIGNMENT &amp; POWER: Who sides with whom? Who has decision-making power?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JOINING: Accommodate, track, and mimic the family's style to enter the system</a:t>
            </a:r>
          </a:p>
          <a:p>
            <a:pPr>
              <a:spcAft>
                <a:spcPts val="400"/>
              </a:spcAft>
              <a:defRPr sz="1600"/>
            </a:pPr>
            <a:r>
              <a:t>• ENACTMENT: Ask couple to interact in session; observe live transaction</a:t>
            </a:r>
          </a:p>
          <a:p>
            <a:pPr>
              <a:spcAft>
                <a:spcPts val="400"/>
              </a:spcAft>
              <a:defRPr sz="1600"/>
            </a:pPr>
            <a:r>
              <a:t>• BOUNDARY MAKING: Physically rearrange seating; block interruptions; reassign tasks</a:t>
            </a:r>
          </a:p>
          <a:p>
            <a:pPr>
              <a:spcAft>
                <a:spcPts val="400"/>
              </a:spcAft>
              <a:defRPr sz="1600"/>
            </a:pPr>
            <a:r>
              <a:t>• UNBALANCING: Temporarily side with one partner to shift power</a:t>
            </a:r>
          </a:p>
          <a:p>
            <a:pPr>
              <a:spcAft>
                <a:spcPts val="400"/>
              </a:spcAft>
              <a:defRPr sz="1600"/>
            </a:pPr>
            <a:r>
              <a:t>• RESTRUCTURING: Challenge homeostasis; create new interactional patterns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application: Boundaries between marital subsystem and in-law subsystem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Virginia Satir's Communication Stances (1972)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Under stress, people adopt one of FIVE communication stances: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PLACATING (I don't matter; you matter;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Agrees, apologizes, self-deprecates; ignores own needs</a:t>
            </a:r>
          </a:p>
          <a:p>
            <a:pPr>
              <a:spcAft>
                <a:spcPts val="400"/>
              </a:spcAft>
              <a:defRPr sz="1600"/>
            </a:pPr>
            <a:r>
              <a:t>2. BLAMING (I matter; you don't;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Attacks, criticizes, 'it's your fault'; finger-pointing</a:t>
            </a:r>
          </a:p>
          <a:p>
            <a:pPr>
              <a:spcAft>
                <a:spcPts val="400"/>
              </a:spcAft>
              <a:defRPr sz="1600"/>
            </a:pPr>
            <a:r>
              <a:t>3. SUPER-REASONABLE/COMPUTING (I don't matter; you don't;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Intellectualizes, detaches from emotion; monotone; 'robot-like'</a:t>
            </a:r>
          </a:p>
          <a:p>
            <a:pPr>
              <a:spcAft>
                <a:spcPts val="400"/>
              </a:spcAft>
              <a:defRPr sz="1600"/>
            </a:pPr>
            <a:r>
              <a:t>4. IRRELEVANT/DISTRACTING (I don't matter; you don't; context doesn't)</a:t>
            </a:r>
          </a:p>
          <a:p>
            <a:pPr>
              <a:spcAft>
                <a:spcPts val="400"/>
              </a:spcAft>
              <a:defRPr sz="1600"/>
            </a:pPr>
            <a:r>
              <a:t>   • Changes subject, humor to deflect, hyperactive; chaos</a:t>
            </a:r>
          </a:p>
          <a:p>
            <a:pPr>
              <a:spcAft>
                <a:spcPts val="400"/>
              </a:spcAft>
              <a:defRPr sz="1600"/>
            </a:pPr>
            <a:r>
              <a:t>5. CONGRUENT (I matter; you matter; context matters) - GOAL</a:t>
            </a:r>
          </a:p>
          <a:p>
            <a:pPr>
              <a:spcAft>
                <a:spcPts val="400"/>
              </a:spcAft>
              <a:defRPr sz="1600"/>
            </a:pPr>
            <a:r>
              <a:t>   • Honest, direct, respectful; acknowledges all elements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use: Help couples identify their default stances and move toward congruence</a:t>
            </a:r>
          </a:p>
          <a:p>
            <a:pPr>
              <a:spcAft>
                <a:spcPts val="400"/>
              </a:spcAft>
              <a:defRPr sz="1600"/>
            </a:pPr>
            <a:r>
              <a:t>Satir's 'temperature reading': Appreciations, worries, puzzles, new info, hopes/wishes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Narrative Therapy with Couples (White &amp; Epston, 1990)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PRINCIPLES:</a:t>
            </a:r>
          </a:p>
          <a:p>
            <a:pPr>
              <a:spcAft>
                <a:spcPts val="400"/>
              </a:spcAft>
              <a:defRPr sz="1600"/>
            </a:pPr>
            <a:r>
              <a:t>• People are NOT the problem; the PROBLEM is the problem</a:t>
            </a:r>
          </a:p>
          <a:p>
            <a:pPr>
              <a:spcAft>
                <a:spcPts val="400"/>
              </a:spcAft>
              <a:defRPr sz="1600"/>
            </a:pPr>
            <a:r>
              <a:t>• Dominant narratives constrain identity and relationship possibilities</a:t>
            </a:r>
          </a:p>
          <a:p>
            <a:pPr>
              <a:spcAft>
                <a:spcPts val="400"/>
              </a:spcAft>
              <a:defRPr sz="1600"/>
            </a:pPr>
            <a:r>
              <a:t>• Thin descriptions vs. thick/rich descriptions of relational life</a:t>
            </a:r>
          </a:p>
          <a:p>
            <a:pPr>
              <a:spcAft>
                <a:spcPts val="400"/>
              </a:spcAft>
              <a:defRPr sz="1600"/>
            </a:pPr>
            <a:r>
              <a:t>• Problems are socially constructed and maintained through language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EXTERNALIZATION: Name the problem ('The Silence', 'The Distance', 'The Rage')</a:t>
            </a:r>
          </a:p>
          <a:p>
            <a:pPr>
              <a:spcAft>
                <a:spcPts val="400"/>
              </a:spcAft>
              <a:defRPr sz="1600"/>
            </a:pPr>
            <a:r>
              <a:t>• MAPPING THE INFLUENCE: How does the problem affect each partner? The relationship?</a:t>
            </a:r>
          </a:p>
          <a:p>
            <a:pPr>
              <a:spcAft>
                <a:spcPts val="400"/>
              </a:spcAft>
              <a:defRPr sz="1600"/>
            </a:pPr>
            <a:r>
              <a:t>• UNIQUE OUTCOMES: Times when the problem didn't dominate; exceptions</a:t>
            </a:r>
          </a:p>
          <a:p>
            <a:pPr>
              <a:spcAft>
                <a:spcPts val="400"/>
              </a:spcAft>
              <a:defRPr sz="1600"/>
            </a:pPr>
            <a:r>
              <a:t>• RE-AUTHORING: Build alternative, preferred story based on unique outcomes</a:t>
            </a:r>
          </a:p>
          <a:p>
            <a:pPr>
              <a:spcAft>
                <a:spcPts val="400"/>
              </a:spcAft>
              <a:defRPr sz="1600"/>
            </a:pPr>
            <a:r>
              <a:t>• OUTSIDER WITNESSES: Who would recognize this new story? Definitional ceremony</a:t>
            </a:r>
          </a:p>
          <a:p>
            <a:pPr>
              <a:spcAft>
                <a:spcPts val="400"/>
              </a:spcAft>
              <a:defRPr sz="1600"/>
            </a:pPr>
            <a:r>
              <a:t>• CULTURAL DECONSTRUCTION: Examine power, gender, caste narratives shaping the relationship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application: Deconstruct patriarchal narratives, caste obligations, 'good wife' discourse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Solution-Focused Brief Therapy for Couples (de Shazer, 1985)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ASSUMPTIONS:</a:t>
            </a:r>
          </a:p>
          <a:p>
            <a:pPr>
              <a:spcAft>
                <a:spcPts val="400"/>
              </a:spcAft>
              <a:defRPr sz="1600"/>
            </a:pPr>
            <a:r>
              <a:t>• Focus on SOLUTIONS, not problems; past is less relevant than preferred future</a:t>
            </a:r>
          </a:p>
          <a:p>
            <a:pPr>
              <a:spcAft>
                <a:spcPts val="400"/>
              </a:spcAft>
              <a:defRPr sz="1600"/>
            </a:pPr>
            <a:r>
              <a:t>• Small changes lead to larger changes (ripple effect)</a:t>
            </a:r>
          </a:p>
          <a:p>
            <a:pPr>
              <a:spcAft>
                <a:spcPts val="400"/>
              </a:spcAft>
              <a:defRPr sz="1600"/>
            </a:pPr>
            <a:r>
              <a:t>• If something works, do MORE of it; if it doesn't, do something DIFFERENT</a:t>
            </a:r>
          </a:p>
          <a:p>
            <a:pPr>
              <a:spcAft>
                <a:spcPts val="400"/>
              </a:spcAft>
              <a:defRPr sz="1600"/>
            </a:pPr>
            <a:r>
              <a:t>• Clients are experts on their own lives; therapist is 'one-down'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MIRACLE QUESTION: 'If you woke up tomorrow and this problem was solved...'</a:t>
            </a:r>
          </a:p>
          <a:p>
            <a:pPr>
              <a:spcAft>
                <a:spcPts val="400"/>
              </a:spcAft>
              <a:defRPr sz="1600"/>
            </a:pPr>
            <a:r>
              <a:t>• SCALING QUESTIONS: 'On a 1-10 scale, where is your relationship today?'</a:t>
            </a:r>
          </a:p>
          <a:p>
            <a:pPr>
              <a:spcAft>
                <a:spcPts val="400"/>
              </a:spcAft>
              <a:defRPr sz="1600"/>
            </a:pPr>
            <a:r>
              <a:t>•   Follow-up: What would move you from a 5 to a 6? What's already at a 5?</a:t>
            </a:r>
          </a:p>
          <a:p>
            <a:pPr>
              <a:spcAft>
                <a:spcPts val="400"/>
              </a:spcAft>
              <a:defRPr sz="1600"/>
            </a:pPr>
            <a:r>
              <a:t>• EXCEPTION FINDING: 'Tell me about a time when the problem wasn't there'</a:t>
            </a:r>
          </a:p>
          <a:p>
            <a:pPr>
              <a:spcAft>
                <a:spcPts val="400"/>
              </a:spcAft>
              <a:defRPr sz="1600"/>
            </a:pPr>
            <a:r>
              <a:t>• COPING QUESTIONS: 'How have you managed to cope despite this difficulty?'</a:t>
            </a:r>
          </a:p>
          <a:p>
            <a:pPr>
              <a:spcAft>
                <a:spcPts val="400"/>
              </a:spcAft>
              <a:defRPr sz="1600"/>
            </a:pPr>
            <a:r>
              <a:t>• COMPLIMENTS &amp; REFRAMING: Highlight strengths, competencies, resilience</a:t>
            </a:r>
          </a:p>
          <a:p>
            <a:pPr>
              <a:spcAft>
                <a:spcPts val="400"/>
              </a:spcAft>
              <a:defRPr sz="1600"/>
            </a:pPr>
            <a:r>
              <a:t>• FIRST SESSION TASK: 'Notice what's happening that you want to continue'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Typical duration: 3-8 sessions; suitable for mild-moderate distress with motivated couples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br/>
            <a:r>
              <a:t>Evidence-Based Couple Therapies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EFT | Gottman Method | CBCT | IBCT</a:t>
            </a:r>
            <a:br/>
            <a:r>
              <a:t>The Gold Standard Approaches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Emotionally Focused Therapy (EFT)</a:t>
            </a:r>
            <a:br/>
            <a:r>
              <a:t>Sue Johnson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Overview &amp; Evidence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Developed by Dr. Sue Johnson &amp; Les Greenberg (1980s, Ottawa)</a:t>
            </a:r>
          </a:p>
          <a:p>
            <a:pPr>
              <a:spcAft>
                <a:spcPts val="400"/>
              </a:spcAft>
              <a:defRPr sz="1600"/>
            </a:pPr>
            <a:r>
              <a:t>• Theoretical basis: Attachment theory (Bowlby) + Experiential/Humanistic tradition</a:t>
            </a:r>
          </a:p>
          <a:p>
            <a:pPr>
              <a:spcAft>
                <a:spcPts val="400"/>
              </a:spcAft>
              <a:defRPr sz="1600"/>
            </a:pPr>
            <a:r>
              <a:t>• Core premise: Distress = attachment insecurity; emotions are the TARGET and AGENT of change</a:t>
            </a:r>
          </a:p>
          <a:p>
            <a:pPr>
              <a:spcAft>
                <a:spcPts val="400"/>
              </a:spcAft>
              <a:defRPr sz="1600"/>
            </a:pPr>
            <a:r>
              <a:t>• Most researched couple therapy modality worldwide (30+ RCTs)</a:t>
            </a:r>
          </a:p>
          <a:p>
            <a:pPr>
              <a:spcAft>
                <a:spcPts val="400"/>
              </a:spcAft>
              <a:defRPr sz="1600"/>
            </a:pPr>
            <a:r>
              <a:t>• Recovery rate: 70-73% of couples move from distress to recovery</a:t>
            </a:r>
          </a:p>
          <a:p>
            <a:pPr>
              <a:spcAft>
                <a:spcPts val="400"/>
              </a:spcAft>
              <a:defRPr sz="1600"/>
            </a:pPr>
            <a:r>
              <a:t>• Improvement rate: 90% show significant improvement</a:t>
            </a:r>
          </a:p>
          <a:p>
            <a:pPr>
              <a:spcAft>
                <a:spcPts val="400"/>
              </a:spcAft>
              <a:defRPr sz="1600"/>
            </a:pPr>
            <a:r>
              <a:t>• STABLE gains at 2-year follow-up (no relapse in most studies)</a:t>
            </a:r>
          </a:p>
          <a:p>
            <a:pPr>
              <a:spcAft>
                <a:spcPts val="400"/>
              </a:spcAft>
              <a:defRPr sz="1600"/>
            </a:pPr>
            <a:r>
              <a:t>• Effect sizes: d = 1.3 (large) for relationship satisfaction (Johnson et al., 1999)</a:t>
            </a:r>
          </a:p>
          <a:p>
            <a:pPr>
              <a:spcAft>
                <a:spcPts val="400"/>
              </a:spcAft>
              <a:defRPr sz="1600"/>
            </a:pPr>
            <a:r>
              <a:t>• Effective for: Depression, PTSD, chronic illness, infidelity, attachment injuries</a:t>
            </a:r>
          </a:p>
          <a:p>
            <a:pPr>
              <a:spcAft>
                <a:spcPts val="400"/>
              </a:spcAft>
              <a:defRPr sz="1600"/>
            </a:pPr>
            <a:r>
              <a:t>• Certified EFT therapist: Externship (4 days) + 10 core skills + supervision + exam</a:t>
            </a:r>
          </a:p>
          <a:p>
            <a:pPr>
              <a:spcAft>
                <a:spcPts val="400"/>
              </a:spcAft>
              <a:defRPr sz="1600"/>
            </a:pPr>
            <a:r>
              <a:t>• Key texts: Hold Me Tight (2008); The Practice of EFT (2004); Attachment Theory in Practice (2019)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9 Steps in 3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STAGE 1: DE-ESCALATION (Steps 1-4) - Identify the negative cycle</a:t>
            </a:r>
          </a:p>
          <a:p>
            <a:pPr>
              <a:spcAft>
                <a:spcPts val="400"/>
              </a:spcAft>
              <a:defRPr sz="1600"/>
            </a:pPr>
            <a:r>
              <a:t>  Step 1: Identify the relational conflict issues (content → process)</a:t>
            </a:r>
          </a:p>
          <a:p>
            <a:pPr>
              <a:spcAft>
                <a:spcPts val="400"/>
              </a:spcAft>
              <a:defRPr sz="1600"/>
            </a:pPr>
            <a:r>
              <a:t>  Step 2: Identify the negative interaction cycle (pursue-withdraw / withdraw-withdraw)</a:t>
            </a:r>
          </a:p>
          <a:p>
            <a:pPr>
              <a:spcAft>
                <a:spcPts val="400"/>
              </a:spcAft>
              <a:defRPr sz="1600"/>
            </a:pPr>
            <a:r>
              <a:t>  Step 3: Access unacknowledged emotions underlying interactional positions</a:t>
            </a:r>
          </a:p>
          <a:p>
            <a:pPr>
              <a:spcAft>
                <a:spcPts val="400"/>
              </a:spcAft>
              <a:defRPr sz="1600"/>
            </a:pPr>
            <a:r>
              <a:t>  Step 4: Reframe the problem in terms of the cycle, unmet attachment needs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2: RESTRUCTURING (Steps 5-7) - Create new bonding events</a:t>
            </a:r>
          </a:p>
          <a:p>
            <a:pPr>
              <a:spcAft>
                <a:spcPts val="400"/>
              </a:spcAft>
              <a:defRPr sz="1600"/>
            </a:pPr>
            <a:r>
              <a:t>  Step 5: Promote identification with disowned attachment needs &amp; fears</a:t>
            </a:r>
          </a:p>
          <a:p>
            <a:pPr>
              <a:spcAft>
                <a:spcPts val="400"/>
              </a:spcAft>
              <a:defRPr sz="1600"/>
            </a:pPr>
            <a:r>
              <a:t>  Step 6: Promote acceptance of partner's experience and new interaction patterns</a:t>
            </a:r>
          </a:p>
          <a:p>
            <a:pPr>
              <a:spcAft>
                <a:spcPts val="400"/>
              </a:spcAft>
              <a:defRPr sz="1600"/>
            </a:pPr>
            <a:r>
              <a:t>  Step 7: Facilitate expression of needs and wants - create bonding events</a:t>
            </a:r>
          </a:p>
          <a:p>
            <a:pPr>
              <a:spcAft>
                <a:spcPts val="400"/>
              </a:spcAft>
              <a:defRPr sz="1600"/>
            </a:pPr>
            <a:r>
              <a:t>  • WITHDRAWER RE-ENGAGEMENT: The first key change event</a:t>
            </a:r>
          </a:p>
          <a:p>
            <a:pPr>
              <a:spcAft>
                <a:spcPts val="400"/>
              </a:spcAft>
              <a:defRPr sz="1600"/>
            </a:pPr>
            <a:r>
              <a:t>  • BLAMER SOFTENING: The second key change event (pivotal moment)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3: CONSOLIDATION (Steps 8-9)</a:t>
            </a:r>
          </a:p>
          <a:p>
            <a:pPr>
              <a:spcAft>
                <a:spcPts val="400"/>
              </a:spcAft>
              <a:defRPr sz="1600"/>
            </a:pPr>
            <a:r>
              <a:t>  Step 8: Facilitate new solutions to old problems (from secure base)</a:t>
            </a:r>
          </a:p>
          <a:p>
            <a:pPr>
              <a:spcAft>
                <a:spcPts val="400"/>
              </a:spcAft>
              <a:defRPr sz="1600"/>
            </a:pPr>
            <a:r>
              <a:t>  Step 9: Consolidate new positions and cycles of attachment behavior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RISSSC Micro-Intervention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RISSSC = How to deepen emotional experiencing in session: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R = REPEAT: Repeat the key word/phrase the client said (slows down; heightens)</a:t>
            </a:r>
          </a:p>
          <a:p>
            <a:pPr>
              <a:spcAft>
                <a:spcPts val="400"/>
              </a:spcAft>
              <a:defRPr sz="1600"/>
            </a:pPr>
            <a:r>
              <a:t>  'You said you feel invisible... invisible...'</a:t>
            </a:r>
          </a:p>
          <a:p>
            <a:pPr>
              <a:spcAft>
                <a:spcPts val="400"/>
              </a:spcAft>
              <a:defRPr sz="1600"/>
            </a:pPr>
            <a:r>
              <a:t>• I = IMAGES &amp; METAPHORS: Use client's imagery to evoke deeper experience</a:t>
            </a:r>
          </a:p>
          <a:p>
            <a:pPr>
              <a:spcAft>
                <a:spcPts val="400"/>
              </a:spcAft>
              <a:defRPr sz="1600"/>
            </a:pPr>
            <a:r>
              <a:t>  'It's like you're reaching and reaching and no one takes your hand'</a:t>
            </a:r>
          </a:p>
          <a:p>
            <a:pPr>
              <a:spcAft>
                <a:spcPts val="400"/>
              </a:spcAft>
              <a:defRPr sz="1600"/>
            </a:pPr>
            <a:r>
              <a:t>• S = SIMPLE LANGUAGE: Use short, concrete, everyday words (not clinical jargon)</a:t>
            </a:r>
          </a:p>
          <a:p>
            <a:pPr>
              <a:spcAft>
                <a:spcPts val="400"/>
              </a:spcAft>
              <a:defRPr sz="1600"/>
            </a:pPr>
            <a:r>
              <a:t>  'Scared' not 'experiencing anxiety'; 'alone' not 'isolated'</a:t>
            </a:r>
          </a:p>
          <a:p>
            <a:pPr>
              <a:spcAft>
                <a:spcPts val="400"/>
              </a:spcAft>
              <a:defRPr sz="1600"/>
            </a:pPr>
            <a:r>
              <a:t>• S = SLOW PACE: Slow the session tempo; allow silence; breathe together</a:t>
            </a:r>
          </a:p>
          <a:p>
            <a:pPr>
              <a:spcAft>
                <a:spcPts val="400"/>
              </a:spcAft>
              <a:defRPr sz="1600"/>
            </a:pPr>
            <a:r>
              <a:t>  Pause. Let the emotion land. Don't rush to fix.</a:t>
            </a:r>
          </a:p>
          <a:p>
            <a:pPr>
              <a:spcAft>
                <a:spcPts val="400"/>
              </a:spcAft>
              <a:defRPr sz="1600"/>
            </a:pPr>
            <a:r>
              <a:t>• S = SOFT VOICE: Lower tone and volume to convey safety and gentleness</a:t>
            </a:r>
          </a:p>
          <a:p>
            <a:pPr>
              <a:spcAft>
                <a:spcPts val="400"/>
              </a:spcAft>
              <a:defRPr sz="1600"/>
            </a:pPr>
            <a:r>
              <a:t>  Match the vulnerability of what's being shared</a:t>
            </a:r>
          </a:p>
          <a:p>
            <a:pPr>
              <a:spcAft>
                <a:spcPts val="400"/>
              </a:spcAft>
              <a:defRPr sz="1600"/>
            </a:pPr>
            <a:r>
              <a:t>• C = CLIENT'S OWN WORDS: Use their exact language; don't paraphrase away meaning</a:t>
            </a:r>
          </a:p>
          <a:p>
            <a:pPr>
              <a:spcAft>
                <a:spcPts val="400"/>
              </a:spcAft>
              <a:defRPr sz="1600"/>
            </a:pPr>
            <a:r>
              <a:t>  If they say 'shut out', use 'shut out', not 'excluded'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Practice RISSSC with video review of your own sessions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Pursuer-Withdrawer Cycle (Externalization)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NEGATIVE CYCLE (externalized as 'the enemy'):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PURSUER (typically anxious attachment):</a:t>
            </a:r>
          </a:p>
          <a:p>
            <a:pPr>
              <a:spcAft>
                <a:spcPts val="400"/>
              </a:spcAft>
              <a:defRPr sz="1600"/>
            </a:pPr>
            <a:r>
              <a:t>  - Surface: Criticism, blame, demand, anger, protest</a:t>
            </a:r>
          </a:p>
          <a:p>
            <a:pPr>
              <a:spcAft>
                <a:spcPts val="400"/>
              </a:spcAft>
              <a:defRPr sz="1600"/>
            </a:pPr>
            <a:r>
              <a:t>  - Underneath: Fear of abandonment, loneliness, 'Am I enough?', 'Do you care?'</a:t>
            </a:r>
          </a:p>
          <a:p>
            <a:pPr>
              <a:spcAft>
                <a:spcPts val="400"/>
              </a:spcAft>
              <a:defRPr sz="1600"/>
            </a:pPr>
            <a:r>
              <a:t>  - Attachment need: Reassurance, accessibility, responsiveness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WITHDRAWER (typically avoidant attachment):</a:t>
            </a:r>
          </a:p>
          <a:p>
            <a:pPr>
              <a:spcAft>
                <a:spcPts val="400"/>
              </a:spcAft>
              <a:defRPr sz="1600"/>
            </a:pPr>
            <a:r>
              <a:t>  - Surface: Silence, shutdown, minimizing, logical responses, 'I don't know'</a:t>
            </a:r>
          </a:p>
          <a:p>
            <a:pPr>
              <a:spcAft>
                <a:spcPts val="400"/>
              </a:spcAft>
              <a:defRPr sz="1600"/>
            </a:pPr>
            <a:r>
              <a:t>  - Underneath: Shame, inadequacy, 'I can never get it right', 'I'll make it worse'</a:t>
            </a:r>
          </a:p>
          <a:p>
            <a:pPr>
              <a:spcAft>
                <a:spcPts val="400"/>
              </a:spcAft>
              <a:defRPr sz="1600"/>
            </a:pPr>
            <a:r>
              <a:t>  - Attachment need: Acceptance, feeling competent, safety from criticism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EFT INTERVENTION:</a:t>
            </a:r>
          </a:p>
          <a:p>
            <a:pPr>
              <a:spcAft>
                <a:spcPts val="400"/>
              </a:spcAft>
              <a:defRPr sz="1600"/>
            </a:pPr>
            <a:r>
              <a:t>  1. Map the cycle together: 'When you [pursue], they [withdraw], which makes you [pursue more]'</a:t>
            </a:r>
          </a:p>
          <a:p>
            <a:pPr>
              <a:spcAft>
                <a:spcPts val="400"/>
              </a:spcAft>
              <a:defRPr sz="1600"/>
            </a:pPr>
            <a:r>
              <a:t>  2. Access primary emotions underneath the secondary/reactive ones</a:t>
            </a:r>
          </a:p>
          <a:p>
            <a:pPr>
              <a:spcAft>
                <a:spcPts val="400"/>
              </a:spcAft>
              <a:defRPr sz="1600"/>
            </a:pPr>
            <a:r>
              <a:t>  3. Share vulnerabilities: 'Can you tell them what's underneath the anger?'</a:t>
            </a:r>
          </a:p>
          <a:p>
            <a:pPr>
              <a:spcAft>
                <a:spcPts val="400"/>
              </a:spcAft>
              <a:defRPr sz="1600"/>
            </a:pPr>
            <a:r>
              <a:t>  4. New response: Partner HEARS the vulnerability and responds with care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Blamer Softening &amp; Withdrawer Re-engagement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9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TWO KEY CHANGE EVENTS IN EFT: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WITHDRAWER RE-ENGAGEMENT (usually occurs first):</a:t>
            </a:r>
          </a:p>
          <a:p>
            <a:pPr>
              <a:spcAft>
                <a:spcPts val="400"/>
              </a:spcAft>
              <a:defRPr sz="1600"/>
            </a:pPr>
            <a:r>
              <a:t>   • The withdrawer accesses their own attachment emotions (shame, fear of failure)</a:t>
            </a:r>
          </a:p>
          <a:p>
            <a:pPr>
              <a:spcAft>
                <a:spcPts val="400"/>
              </a:spcAft>
              <a:defRPr sz="1600"/>
            </a:pPr>
            <a:r>
              <a:t>   • Turns toward partner from a vulnerable place: 'I withdraw because I'm scared'</a:t>
            </a:r>
          </a:p>
          <a:p>
            <a:pPr>
              <a:spcAft>
                <a:spcPts val="400"/>
              </a:spcAft>
              <a:defRPr sz="1600"/>
            </a:pPr>
            <a:r>
              <a:t>   • Takes emotional risk; shares what they need</a:t>
            </a:r>
          </a:p>
          <a:p>
            <a:pPr>
              <a:spcAft>
                <a:spcPts val="400"/>
              </a:spcAft>
              <a:defRPr sz="1600"/>
            </a:pPr>
            <a:r>
              <a:t>   • Pursuer is often surprised - sees the human behind the wall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BLAMER/PURSUER SOFTENING:</a:t>
            </a:r>
          </a:p>
          <a:p>
            <a:pPr>
              <a:spcAft>
                <a:spcPts val="400"/>
              </a:spcAft>
              <a:defRPr sz="1600"/>
            </a:pPr>
            <a:r>
              <a:t>   • The pursuer drops the angry/critical stance and shows vulnerability</a:t>
            </a:r>
          </a:p>
          <a:p>
            <a:pPr>
              <a:spcAft>
                <a:spcPts val="400"/>
              </a:spcAft>
              <a:defRPr sz="1600"/>
            </a:pPr>
            <a:r>
              <a:t>   • Says something like: 'I need you. I'm scared you don't love me.'</a:t>
            </a:r>
          </a:p>
          <a:p>
            <a:pPr>
              <a:spcAft>
                <a:spcPts val="400"/>
              </a:spcAft>
              <a:defRPr sz="1600"/>
            </a:pPr>
            <a:r>
              <a:t>   • Reaches from a soft, open place (not demanding)</a:t>
            </a:r>
          </a:p>
          <a:p>
            <a:pPr>
              <a:spcAft>
                <a:spcPts val="400"/>
              </a:spcAft>
              <a:defRPr sz="1600"/>
            </a:pPr>
            <a:r>
              <a:t>   • Withdrawer responds with comfort - BONDING EVENT occurs</a:t>
            </a:r>
          </a:p>
          <a:p>
            <a:pPr>
              <a:spcAft>
                <a:spcPts val="400"/>
              </a:spcAft>
              <a:defRPr sz="1600"/>
            </a:pPr>
            <a:r>
              <a:t>   • This is the moment the relationship shifts toward security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If softening doesn't happen: Look for attachment injuries, individual pathology,</a:t>
            </a:r>
          </a:p>
          <a:p>
            <a:pPr>
              <a:spcAft>
                <a:spcPts val="400"/>
              </a:spcAft>
              <a:defRPr sz="1600"/>
            </a:pPr>
            <a:r>
              <a:t>or lack of safety. May need individual sessions to process blocks.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Attachment Injuries &amp; Forgiveness (Johnson,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Attachment Injury: A specific event where one partner failed the other at a critical moment</a:t>
            </a:r>
          </a:p>
          <a:p>
            <a:pPr>
              <a:spcAft>
                <a:spcPts val="400"/>
              </a:spcAft>
              <a:defRPr sz="1600"/>
            </a:pPr>
            <a:r>
              <a:t>• Example: Not being there during miscarriage, dismissing partner's distress, infidelity</a:t>
            </a:r>
          </a:p>
          <a:p>
            <a:pPr>
              <a:spcAft>
                <a:spcPts val="400"/>
              </a:spcAft>
              <a:defRPr sz="1600"/>
            </a:pPr>
            <a:r>
              <a:t>• Becomes 'stuck point' - the injured partner cannot move forward; frozen in time</a:t>
            </a:r>
          </a:p>
          <a:p>
            <a:pPr>
              <a:spcAft>
                <a:spcPts val="400"/>
              </a:spcAft>
              <a:defRPr sz="1600"/>
            </a:pPr>
            <a:r>
              <a:t>• Repeatedly brought up; becomes filter through which all interactions are interpreted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ATTACHMENT INJURY RESOLUTION MODEL (AIRM):</a:t>
            </a:r>
          </a:p>
          <a:p>
            <a:pPr>
              <a:spcAft>
                <a:spcPts val="400"/>
              </a:spcAft>
              <a:defRPr sz="1600"/>
            </a:pPr>
            <a:r>
              <a:t>  1. Injured partner expresses the pain/impact of the injury with primary emotion</a:t>
            </a:r>
          </a:p>
          <a:p>
            <a:pPr>
              <a:spcAft>
                <a:spcPts val="400"/>
              </a:spcAft>
              <a:defRPr sz="1600"/>
            </a:pPr>
            <a:r>
              <a:t>  2. Injuring partner acknowledges the hurt &amp; takes responsibility (not defensive)</a:t>
            </a:r>
          </a:p>
          <a:p>
            <a:pPr>
              <a:spcAft>
                <a:spcPts val="400"/>
              </a:spcAft>
              <a:defRPr sz="1600"/>
            </a:pPr>
            <a:r>
              <a:t>  3. Injuring partner expresses empathy, remorse, and understanding of impact</a:t>
            </a:r>
          </a:p>
          <a:p>
            <a:pPr>
              <a:spcAft>
                <a:spcPts val="400"/>
              </a:spcAft>
              <a:defRPr sz="1600"/>
            </a:pPr>
            <a:r>
              <a:t>  4. Injured partner risks asking for comfort/reassurance from the injuring partner</a:t>
            </a:r>
          </a:p>
          <a:p>
            <a:pPr>
              <a:spcAft>
                <a:spcPts val="400"/>
              </a:spcAft>
              <a:defRPr sz="1600"/>
            </a:pPr>
            <a:r>
              <a:t>  5. Injuring partner responds with care, accessibility, and responsiveness</a:t>
            </a:r>
          </a:p>
          <a:p>
            <a:pPr>
              <a:spcAft>
                <a:spcPts val="400"/>
              </a:spcAft>
              <a:defRPr sz="1600"/>
            </a:pPr>
            <a:r>
              <a:t>  6. New narrative of the event is co-constructed: 'We survived this together'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This is NOT simple apology - it requires deep emotional processing</a:t>
            </a:r>
          </a:p>
          <a:p>
            <a:pPr>
              <a:spcAft>
                <a:spcPts val="400"/>
              </a:spcAft>
              <a:defRPr sz="1600"/>
            </a:pPr>
            <a:r>
              <a:t>• Cannot be rushed; may take multiple sessions; respects the pace of the injured partner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Gottman Method Couple Therapy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 Method: Session Protocol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ASSESSMENT PHASE (Sessions 1-5):</a:t>
            </a:r>
          </a:p>
          <a:p>
            <a:pPr>
              <a:spcAft>
                <a:spcPts val="400"/>
              </a:spcAft>
              <a:defRPr sz="1600"/>
            </a:pPr>
            <a:r>
              <a:t>  Session 1: Conjoint - Oral history interview (strength of 'we-ness' narrative)</a:t>
            </a:r>
          </a:p>
          <a:p>
            <a:pPr>
              <a:spcAft>
                <a:spcPts val="400"/>
              </a:spcAft>
              <a:defRPr sz="1600"/>
            </a:pPr>
            <a:r>
              <a:t>  Session 2-3: Individual - Meaning, goals, DV screen, commitment</a:t>
            </a:r>
          </a:p>
          <a:p>
            <a:pPr>
              <a:spcAft>
                <a:spcPts val="400"/>
              </a:spcAft>
              <a:defRPr sz="1600"/>
            </a:pPr>
            <a:r>
              <a:t>  Session 4: Conflict discussion (15 min) - SPAFF coded; physiological measures</a:t>
            </a:r>
          </a:p>
          <a:p>
            <a:pPr>
              <a:spcAft>
                <a:spcPts val="400"/>
              </a:spcAft>
              <a:defRPr sz="1600"/>
            </a:pPr>
            <a:r>
              <a:t>  Session 5: Feedback &amp; treatment plan based on Sound Relationship House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THERAPEUTIC FRAMEWORK:</a:t>
            </a:r>
          </a:p>
          <a:p>
            <a:pPr>
              <a:spcAft>
                <a:spcPts val="400"/>
              </a:spcAft>
              <a:defRPr sz="1600"/>
            </a:pPr>
            <a:r>
              <a:t>• Build friendship system (Love Maps, Fondness/Admiration, Turning Toward)</a:t>
            </a:r>
          </a:p>
          <a:p>
            <a:pPr>
              <a:spcAft>
                <a:spcPts val="400"/>
              </a:spcAft>
              <a:defRPr sz="1600"/>
            </a:pPr>
            <a:r>
              <a:t>• Manage conflict: Dreams-within-Conflict, Aftermath of a Fight, Compromise</a:t>
            </a:r>
          </a:p>
          <a:p>
            <a:pPr>
              <a:spcAft>
                <a:spcPts val="400"/>
              </a:spcAft>
              <a:defRPr sz="1600"/>
            </a:pPr>
            <a:r>
              <a:t>• Create shared meaning: Rituals, roles, goals, symbols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INTERVENTIONS:</a:t>
            </a:r>
          </a:p>
          <a:p>
            <a:pPr>
              <a:spcAft>
                <a:spcPts val="400"/>
              </a:spcAft>
              <a:defRPr sz="1600"/>
            </a:pPr>
            <a:r>
              <a:t>• Aftermath of a Fight conversation (structured processing without re-escalation)</a:t>
            </a:r>
          </a:p>
          <a:p>
            <a:pPr>
              <a:spcAft>
                <a:spcPts val="400"/>
              </a:spcAft>
              <a:defRPr sz="1600"/>
            </a:pPr>
            <a:r>
              <a:t>• Dreams-within-Conflict intervention (for gridlocked perpetual problems)</a:t>
            </a:r>
          </a:p>
          <a:p>
            <a:pPr>
              <a:spcAft>
                <a:spcPts val="400"/>
              </a:spcAft>
              <a:defRPr sz="1600"/>
            </a:pPr>
            <a:r>
              <a:t>• Stress-Reducing Conversation (daily 20 min - external stress; empathize, don't solve)</a:t>
            </a:r>
          </a:p>
          <a:p>
            <a:pPr>
              <a:spcAft>
                <a:spcPts val="400"/>
              </a:spcAft>
              <a:defRPr sz="1600"/>
            </a:pPr>
            <a:r>
              <a:t>• Repair checklist (scripted repair attempts to de-escalate in the moment)</a:t>
            </a:r>
          </a:p>
          <a:p>
            <a:pPr>
              <a:spcAft>
                <a:spcPts val="400"/>
              </a:spcAft>
              <a:defRPr sz="1600"/>
            </a:pPr>
            <a:r>
              <a:t>• Rituals of Connection (deliberate positive interactions; daily, weekly, yearly)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 Method: Aftermath of a Fight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7715"/>
            <a:ext cx="10972800" cy="569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STRUCTURED 6-STEP CONVERSATION (used after conflict, not during):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1:</a:t>
            </a:r>
            <a:r>
              <a:rPr b="1"/>
              <a:t> FEELINGS </a:t>
            </a:r>
            <a:r>
              <a:t>- Each partner shares how they felt (use feelings list)</a:t>
            </a:r>
          </a:p>
          <a:p>
            <a:pPr>
              <a:spcAft>
                <a:spcPts val="400"/>
              </a:spcAft>
              <a:defRPr sz="1600"/>
            </a:pPr>
            <a:r>
              <a:t>  • 'During that conversation, I felt defensive, criticized, and misunderstood'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2: </a:t>
            </a:r>
            <a:r>
              <a:rPr b="1"/>
              <a:t>REALITIES </a:t>
            </a:r>
            <a:r>
              <a:t>- Share your subjective experience (both are valid)</a:t>
            </a:r>
          </a:p>
          <a:p>
            <a:pPr>
              <a:spcAft>
                <a:spcPts val="400"/>
              </a:spcAft>
              <a:defRPr sz="1600"/>
            </a:pPr>
            <a:r>
              <a:t>  • Summarize, validate: 'It makes sense you felt that way because...'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3: </a:t>
            </a:r>
            <a:r>
              <a:rPr b="1"/>
              <a:t>TRIGGERS </a:t>
            </a:r>
            <a:r>
              <a:t>- What personal history/vulnerability made this so painful?</a:t>
            </a:r>
          </a:p>
          <a:p>
            <a:pPr>
              <a:spcAft>
                <a:spcPts val="400"/>
              </a:spcAft>
              <a:defRPr sz="1600"/>
            </a:pPr>
            <a:r>
              <a:t>  • 'This reminds me of when my father used to dismiss me...'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4</a:t>
            </a:r>
            <a:r>
              <a:rPr b="1"/>
              <a:t>: RESPONSIBILITY </a:t>
            </a:r>
            <a:r>
              <a:t>- Each owns their part (even 2%)</a:t>
            </a:r>
          </a:p>
          <a:p>
            <a:pPr>
              <a:spcAft>
                <a:spcPts val="400"/>
              </a:spcAft>
              <a:defRPr sz="1600"/>
            </a:pPr>
            <a:r>
              <a:t>  • 'I'm sorry I raised my voice. I could have started more gently.'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5: </a:t>
            </a:r>
            <a:r>
              <a:rPr b="1"/>
              <a:t>CONSTRUCTIVE PLANS</a:t>
            </a:r>
            <a:r>
              <a:t> - One thing each can do differently next time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6: </a:t>
            </a:r>
            <a:r>
              <a:rPr b="1"/>
              <a:t>WHAT I NEED</a:t>
            </a:r>
            <a:r>
              <a:t> - Ask for what would help from partner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Rule: Cannot do this if HR &gt; 100. Self-soothe first (20 min break).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Cognitive-Behavioral Couple Therapy (CBCT)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CBCT: Three Domains (Baucom &amp; Epstein, 1990; Epstein &amp; Baucom,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DOMAIN 1: BEHAVIORAL EXCHANGE</a:t>
            </a:r>
          </a:p>
          <a:p>
            <a:pPr>
              <a:spcAft>
                <a:spcPts val="400"/>
              </a:spcAft>
              <a:defRPr sz="1600"/>
            </a:pPr>
            <a:r>
              <a:t>  • Behavioral theory: Distressed couples have deficit in positive exchanges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Increase positive behaviors; 'caring days'; 'love list'</a:t>
            </a:r>
          </a:p>
          <a:p>
            <a:pPr>
              <a:spcAft>
                <a:spcPts val="400"/>
              </a:spcAft>
              <a:defRPr sz="1600"/>
            </a:pPr>
            <a:r>
              <a:t>  • Thibaut &amp; Kelley (1959): Social exchange theory (CL and CLalt)</a:t>
            </a:r>
          </a:p>
          <a:p>
            <a:pPr>
              <a:spcAft>
                <a:spcPts val="400"/>
              </a:spcAft>
              <a:defRPr sz="1600"/>
            </a:pPr>
            <a:r>
              <a:t>  • Weiss's (1980) 'sentiment override': Behavior alone doesn't predict satisfaction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DOMAIN 2: COMMUNICATION/PROBLEM-SOLVING TRAINING</a:t>
            </a:r>
          </a:p>
          <a:p>
            <a:pPr>
              <a:spcAft>
                <a:spcPts val="400"/>
              </a:spcAft>
              <a:defRPr sz="1600"/>
            </a:pPr>
            <a:r>
              <a:t>  • Speaker-Listener technique (Markman, Stanley &amp; Blumberg, 1994)</a:t>
            </a:r>
          </a:p>
          <a:p>
            <a:pPr>
              <a:spcAft>
                <a:spcPts val="400"/>
              </a:spcAft>
              <a:defRPr sz="1600"/>
            </a:pPr>
            <a:r>
              <a:t>  • Expressive skills: 'I' statements, specific, behavioral descriptions</a:t>
            </a:r>
          </a:p>
          <a:p>
            <a:pPr>
              <a:spcAft>
                <a:spcPts val="400"/>
              </a:spcAft>
              <a:defRPr sz="1600"/>
            </a:pPr>
            <a:r>
              <a:t>  • Receptive skills: Paraphrasing, validation, empathy</a:t>
            </a:r>
          </a:p>
          <a:p>
            <a:pPr>
              <a:spcAft>
                <a:spcPts val="400"/>
              </a:spcAft>
              <a:defRPr sz="1600"/>
            </a:pPr>
            <a:r>
              <a:t>  • Problem-solving: Define → Brainstorm → Evaluate → Choose → Implement → Review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DOMAIN 3: COGNITIVE RESTRUCTURING</a:t>
            </a:r>
          </a:p>
          <a:p>
            <a:pPr>
              <a:spcAft>
                <a:spcPts val="400"/>
              </a:spcAft>
              <a:defRPr sz="1600"/>
            </a:pPr>
            <a:r>
              <a:t>  • 5 types of cognitions: Selective attention, Attributions, Expectancies, Assumptions, Standards</a:t>
            </a:r>
          </a:p>
          <a:p>
            <a:pPr>
              <a:spcAft>
                <a:spcPts val="400"/>
              </a:spcAft>
              <a:defRPr sz="1600"/>
            </a:pPr>
            <a:r>
              <a:t>  • Distressed couples make: Global, stable, internal attributions for negative events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Identify, evaluate, modify maladaptive relationship cognitions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CBCT: Cognitive Distortions in Couples (Epstein &amp; Baucom,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735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FIVE TYPES OF PROBLEMATIC COGNITIONS: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SELECTIVE ATTENTION: Only noticing negatives; ignoring positives</a:t>
            </a:r>
          </a:p>
          <a:p>
            <a:pPr>
              <a:spcAft>
                <a:spcPts val="400"/>
              </a:spcAft>
              <a:defRPr sz="1600"/>
            </a:pPr>
            <a:r>
              <a:t>   • 'He never does anything for me' (despite daily acts of service)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ATTRIBUTIONS: Why did my partner do that? (Causal explanations)</a:t>
            </a:r>
          </a:p>
          <a:p>
            <a:pPr>
              <a:spcAft>
                <a:spcPts val="400"/>
              </a:spcAft>
              <a:defRPr sz="1600"/>
            </a:pPr>
            <a:r>
              <a:t>   • Distressed: 'He's selfish' (internal, global, stable, intentional)</a:t>
            </a:r>
          </a:p>
          <a:p>
            <a:pPr>
              <a:spcAft>
                <a:spcPts val="400"/>
              </a:spcAft>
              <a:defRPr sz="1600"/>
            </a:pPr>
            <a:r>
              <a:t>   • Satisfied: 'He's stressed at work' (external, specific, transient, unintentional)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EXPECTANCIES: Predictions about future partner behavior</a:t>
            </a:r>
          </a:p>
          <a:p>
            <a:pPr>
              <a:spcAft>
                <a:spcPts val="400"/>
              </a:spcAft>
              <a:defRPr sz="1600"/>
            </a:pPr>
            <a:r>
              <a:t>   • 'If I bring it up, she'll just get angry, so why bother?' (self-fulfilling prophecy)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ASSUMPTIONS: Beliefs about the nature of partners/relationships</a:t>
            </a:r>
          </a:p>
          <a:p>
            <a:pPr>
              <a:spcAft>
                <a:spcPts val="400"/>
              </a:spcAft>
              <a:defRPr sz="1600"/>
            </a:pPr>
            <a:r>
              <a:t>   • 'Men can't change' / 'If we argue, our marriage is failing'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5. STANDARDS: What a relationship/partner SHOULD be like</a:t>
            </a:r>
          </a:p>
          <a:p>
            <a:pPr>
              <a:spcAft>
                <a:spcPts val="400"/>
              </a:spcAft>
              <a:defRPr sz="1600"/>
            </a:pPr>
            <a:r>
              <a:t>   • 'A good husband should always prioritize family over work'</a:t>
            </a:r>
          </a:p>
          <a:p>
            <a:pPr>
              <a:spcAft>
                <a:spcPts val="400"/>
              </a:spcAft>
              <a:defRPr sz="1600"/>
            </a:pPr>
            <a:r>
              <a:t>   • Standards can be reasonable but rigid application is problematic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Integrative Behavioral Couple Therapy (IBCT)</a:t>
            </a:r>
            <a:br/>
            <a:r>
              <a:t>Jacobson &amp; Christensen, 1996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IBCT: DEEP Analysis &amp; Acceptance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IBCT adds ACCEPTANCE to traditional behavioral couple therapy (TBCT)</a:t>
            </a:r>
          </a:p>
          <a:p>
            <a:pPr>
              <a:spcAft>
                <a:spcPts val="400"/>
              </a:spcAft>
              <a:defRPr sz="1600"/>
            </a:pPr>
            <a:r>
              <a:t>• TBCT alone had 50% relapse at 2-year follow-up (Jacobson &amp; Addis, 1993)</a:t>
            </a:r>
          </a:p>
          <a:p>
            <a:pPr>
              <a:spcAft>
                <a:spcPts val="400"/>
              </a:spcAft>
              <a:defRPr sz="1600"/>
            </a:pPr>
            <a:r>
              <a:t>• Adding acceptance: More durable effects; d = 0.5 maintained at 5 years</a:t>
            </a:r>
          </a:p>
          <a:p>
            <a:pPr>
              <a:spcAft>
                <a:spcPts val="400"/>
              </a:spcAft>
              <a:defRPr sz="1600"/>
            </a:pPr>
            <a:r>
              <a:t>• Largest RCT: 134 couples; IBCT superior to TBCT at 2-year follow-up (Christensen et al., 2004)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DEEP ANALYSIS (Unified Formulation):</a:t>
            </a:r>
          </a:p>
          <a:p>
            <a:pPr>
              <a:spcAft>
                <a:spcPts val="400"/>
              </a:spcAft>
              <a:defRPr sz="1600"/>
            </a:pPr>
            <a:r>
              <a:t>• D = DIFFERENCES between partners (personality, background, preferences)</a:t>
            </a:r>
          </a:p>
          <a:p>
            <a:pPr>
              <a:spcAft>
                <a:spcPts val="400"/>
              </a:spcAft>
              <a:defRPr sz="1600"/>
            </a:pPr>
            <a:r>
              <a:t>• E = EMOTIONAL SENSITIVITIES (vulnerabilities from history; soft spots)</a:t>
            </a:r>
          </a:p>
          <a:p>
            <a:pPr>
              <a:spcAft>
                <a:spcPts val="400"/>
              </a:spcAft>
              <a:defRPr sz="1600"/>
            </a:pPr>
            <a:r>
              <a:t>• E = EXTERNAL STRESSORS (work, finances, health, in-laws, children)</a:t>
            </a:r>
          </a:p>
          <a:p>
            <a:pPr>
              <a:spcAft>
                <a:spcPts val="400"/>
              </a:spcAft>
              <a:defRPr sz="1600"/>
            </a:pPr>
            <a:r>
              <a:t>• P = PATTERN of interaction (the destructive cycle they get stuck in)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Three ACCEPTANCE strategies:</a:t>
            </a:r>
          </a:p>
          <a:p>
            <a:pPr>
              <a:spcAft>
                <a:spcPts val="400"/>
              </a:spcAft>
              <a:defRPr sz="1600"/>
            </a:pPr>
            <a:r>
              <a:t>1. EMPATHIC JOINING: Share pain/vulnerability (not blame) → partner softens</a:t>
            </a:r>
          </a:p>
          <a:p>
            <a:pPr>
              <a:spcAft>
                <a:spcPts val="400"/>
              </a:spcAft>
              <a:defRPr sz="1600"/>
            </a:pPr>
            <a:r>
              <a:t>2. UNIFIED DETACHMENT: Step back; observe the pattern together with curiosity (not blame)</a:t>
            </a:r>
          </a:p>
          <a:p>
            <a:pPr>
              <a:spcAft>
                <a:spcPts val="400"/>
              </a:spcAft>
              <a:defRPr sz="1600"/>
            </a:pPr>
            <a:r>
              <a:t>3. TOLERANCE BUILDING: Develop compassion for partner's limitations; let go of change agenda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Change strategies retained: Communication training, behavior exchange, problem-solving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5E6F"/>
                </a:solidFill>
              </a:defRPr>
            </a:pPr>
            <a:r>
              <a:t>Comparison of Major Couple Therapy Approaches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588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Gottman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CBCT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IBCT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Theory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+ Humanistic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Behavioral/Observational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Cognitive-Behavioral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Behavioral + Acceptance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Emotional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Friendship + Conflict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 restructuring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Acceptance + Change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Evidence (RCTs)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(2-3 RCTs)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 large RCTs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Effect Size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~0.6-0.9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0.5-0.7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12-20+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20-26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Deep emotional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Psychoeducation;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Structured; measurable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Acceptance; long-term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Training 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Less emotion-focused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May lack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Slow start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injuries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Skill deficits; mild-mod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 distortions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Entrenched patterns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br/>
            <a:r>
              <a:t>Communication, Sexuality &amp; High-Conflict Issues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Communication Skills Training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Speaker-Listener Technique (Markman, Stanley &amp; Blumberg, 1994)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RULES FOR THE SPEAKER (holds the 'floor' - can use physical object):</a:t>
            </a:r>
          </a:p>
          <a:p>
            <a:pPr>
              <a:spcAft>
                <a:spcPts val="400"/>
              </a:spcAft>
              <a:defRPr sz="1600"/>
            </a:pPr>
            <a:r>
              <a:t>  • Speak for yourself; use 'I' statements (I feel... I think... I need...)</a:t>
            </a:r>
          </a:p>
          <a:p>
            <a:pPr>
              <a:spcAft>
                <a:spcPts val="400"/>
              </a:spcAft>
              <a:defRPr sz="1600"/>
            </a:pPr>
            <a:r>
              <a:t>  • Be brief (2-3 sentences at a time); stop and let listener paraphrase</a:t>
            </a:r>
          </a:p>
          <a:p>
            <a:pPr>
              <a:spcAft>
                <a:spcPts val="400"/>
              </a:spcAft>
              <a:defRPr sz="1600"/>
            </a:pPr>
            <a:r>
              <a:t>  • Be specific and behavioral (not character attacks)</a:t>
            </a:r>
          </a:p>
          <a:p>
            <a:pPr>
              <a:spcAft>
                <a:spcPts val="400"/>
              </a:spcAft>
              <a:defRPr sz="1600"/>
            </a:pPr>
            <a:r>
              <a:t>  • Focus on ONE issue at a time (no kitchen-sinking)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RULES FOR THE LISTENER:</a:t>
            </a:r>
          </a:p>
          <a:p>
            <a:pPr>
              <a:spcAft>
                <a:spcPts val="400"/>
              </a:spcAft>
              <a:defRPr sz="1600"/>
            </a:pPr>
            <a:r>
              <a:t>  • Paraphrase what you heard (don't rebut or give opinion)</a:t>
            </a:r>
          </a:p>
          <a:p>
            <a:pPr>
              <a:spcAft>
                <a:spcPts val="400"/>
              </a:spcAft>
              <a:defRPr sz="1600"/>
            </a:pPr>
            <a:r>
              <a:t>  • Check accuracy: 'Did I get that right?'</a:t>
            </a:r>
          </a:p>
          <a:p>
            <a:pPr>
              <a:spcAft>
                <a:spcPts val="400"/>
              </a:spcAft>
              <a:defRPr sz="1600"/>
            </a:pPr>
            <a:r>
              <a:t>  • Validate (not agree): 'It makes sense you feel that way because...'</a:t>
            </a:r>
          </a:p>
          <a:p>
            <a:pPr>
              <a:spcAft>
                <a:spcPts val="400"/>
              </a:spcAft>
              <a:defRPr sz="1600"/>
            </a:pPr>
            <a:r>
              <a:t>  • Don't interrupt; wait for the floor to be passed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GROUND RULES:</a:t>
            </a:r>
          </a:p>
          <a:p>
            <a:pPr>
              <a:spcAft>
                <a:spcPts val="400"/>
              </a:spcAft>
              <a:defRPr sz="1600"/>
            </a:pPr>
            <a:r>
              <a:t>  • Either partner can call a 'time-out' (must return within 24 hrs)</a:t>
            </a:r>
          </a:p>
          <a:p>
            <a:pPr>
              <a:spcAft>
                <a:spcPts val="400"/>
              </a:spcAft>
              <a:defRPr sz="1600"/>
            </a:pPr>
            <a:r>
              <a:t>  • No mind-reading ('You feel...' / 'You think...')</a:t>
            </a:r>
          </a:p>
          <a:p>
            <a:pPr>
              <a:spcAft>
                <a:spcPts val="400"/>
              </a:spcAft>
              <a:defRPr sz="1600"/>
            </a:pPr>
            <a:r>
              <a:t>  • Practice with LOW-stakes topics first before high-conflict issues</a:t>
            </a:r>
          </a:p>
          <a:p>
            <a:pPr>
              <a:spcAft>
                <a:spcPts val="400"/>
              </a:spcAft>
              <a:defRPr sz="1600"/>
            </a:pPr>
            <a:r>
              <a:t>  • PREP/PAIRS program: Structured version used in prevention programs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Active Listening: 6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ATTENDING: Body language - SOLER (Squarely face, Open posture, Lean in, Eye contact, Relaxed)</a:t>
            </a:r>
          </a:p>
          <a:p>
            <a:pPr>
              <a:spcAft>
                <a:spcPts val="400"/>
              </a:spcAft>
              <a:defRPr sz="1600"/>
            </a:pPr>
            <a:r>
              <a:t>   • Indian adaptation: Eye contact norms vary; adjust culturally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REFLECTING/PARAPHRASING: Mirror back content and feeling</a:t>
            </a:r>
          </a:p>
          <a:p>
            <a:pPr>
              <a:spcAft>
                <a:spcPts val="400"/>
              </a:spcAft>
              <a:defRPr sz="1600"/>
            </a:pPr>
            <a:r>
              <a:t>   • 'It sounds like you felt hurt when he didn't call...'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CLARIFYING: Ask open-ended questions to deepen understanding</a:t>
            </a:r>
          </a:p>
          <a:p>
            <a:pPr>
              <a:spcAft>
                <a:spcPts val="400"/>
              </a:spcAft>
              <a:defRPr sz="1600"/>
            </a:pPr>
            <a:r>
              <a:t>   • 'Can you tell me more about what that was like for you?'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SUMMARIZING: Pull together key themes from longer narratives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5. VALIDATING: Acknowledge the partner's experience as understandable</a:t>
            </a:r>
          </a:p>
          <a:p>
            <a:pPr>
              <a:spcAft>
                <a:spcPts val="400"/>
              </a:spcAft>
              <a:defRPr sz="1600"/>
            </a:pPr>
            <a:r>
              <a:t>   • Validation ≠ Agreement; 'I can see why you'd feel that way given...'</a:t>
            </a:r>
          </a:p>
          <a:p>
            <a:pPr>
              <a:spcAft>
                <a:spcPts val="400"/>
              </a:spcAft>
              <a:defRPr sz="1600"/>
            </a:pPr>
            <a:r>
              <a:t>   • Levels of validation (Linehan): Presence → Reflection → Mind-reading →</a:t>
            </a:r>
          </a:p>
          <a:p>
            <a:pPr>
              <a:spcAft>
                <a:spcPts val="400"/>
              </a:spcAft>
              <a:defRPr sz="1600"/>
            </a:pPr>
            <a:r>
              <a:t>     Causes → Normalizing → Radical genuineness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6. EMPATHIC ATTUNEMENT: Emotional resonance; 'I'm with you in this'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Gottman's Repair Attempts &amp; Softened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REPAIR ATTEMPTS (the #1 predictor of marital stability; more than severity of conflict):</a:t>
            </a:r>
          </a:p>
          <a:p>
            <a:pPr>
              <a:spcAft>
                <a:spcPts val="400"/>
              </a:spcAft>
              <a:defRPr sz="1600"/>
            </a:pPr>
            <a:r>
              <a:t>• Any statement/action that prevents negativity from escalating</a:t>
            </a:r>
          </a:p>
          <a:p>
            <a:pPr>
              <a:spcAft>
                <a:spcPts val="400"/>
              </a:spcAft>
              <a:defRPr sz="1600"/>
            </a:pPr>
            <a:r>
              <a:t>• Examples: humor, touch, 'let me start over', 'I'm sorry', 'I see your point'</a:t>
            </a:r>
          </a:p>
          <a:p>
            <a:pPr>
              <a:spcAft>
                <a:spcPts val="400"/>
              </a:spcAft>
              <a:defRPr sz="1600"/>
            </a:pPr>
            <a:r>
              <a:t>• Masters: Repair attempts are received and accepted (even clumsy ones work)</a:t>
            </a:r>
          </a:p>
          <a:p>
            <a:pPr>
              <a:spcAft>
                <a:spcPts val="400"/>
              </a:spcAft>
              <a:defRPr sz="1600"/>
            </a:pPr>
            <a:r>
              <a:t>• Disasters: Repair attempts fail because of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• Gottman Repair Checklist: 47 scripted phrases couples can practice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SOFTENED STARTUP (Gottman &amp; Silver, 1999):</a:t>
            </a:r>
          </a:p>
          <a:p>
            <a:pPr>
              <a:spcAft>
                <a:spcPts val="400"/>
              </a:spcAft>
              <a:defRPr sz="1600"/>
            </a:pPr>
            <a:r>
              <a:t>• First 3 minutes predict the outcome of the entire conversation (96% accuracy)</a:t>
            </a:r>
          </a:p>
          <a:p>
            <a:pPr>
              <a:spcAft>
                <a:spcPts val="400"/>
              </a:spcAft>
              <a:defRPr sz="1600"/>
            </a:pPr>
            <a:r>
              <a:t>• Harsh startup → harsh ending (inevitable; cannot recover mid-conversation)</a:t>
            </a:r>
          </a:p>
          <a:p>
            <a:pPr>
              <a:spcAft>
                <a:spcPts val="400"/>
              </a:spcAft>
              <a:defRPr sz="1600"/>
            </a:pPr>
            <a:r>
              <a:t>• Formula: I feel [emotion] about [specific situation] and I need [positive need]</a:t>
            </a:r>
          </a:p>
          <a:p>
            <a:pPr>
              <a:spcAft>
                <a:spcPts val="400"/>
              </a:spcAft>
              <a:defRPr sz="1600"/>
            </a:pPr>
            <a:r>
              <a:t>• State a POSITIVE NEED (what you DO want, not what you DON'T want)</a:t>
            </a:r>
          </a:p>
          <a:p>
            <a:pPr>
              <a:spcAft>
                <a:spcPts val="400"/>
              </a:spcAft>
              <a:defRPr sz="1600"/>
            </a:pPr>
            <a:r>
              <a:t>• No blame, criticism, or 'you always/never'; no contemptuous tone</a:t>
            </a:r>
          </a:p>
          <a:p>
            <a:pPr>
              <a:spcAft>
                <a:spcPts val="400"/>
              </a:spcAft>
              <a:defRPr sz="1600"/>
            </a:pPr>
            <a:r>
              <a:t>• Start with appreciation: 'I know you've been busy, and I appreciate...'</a:t>
            </a:r>
          </a:p>
          <a:p>
            <a:pPr>
              <a:spcAft>
                <a:spcPts val="400"/>
              </a:spcAft>
              <a:defRPr sz="1600"/>
            </a:pPr>
            <a:r>
              <a:t>• Women initiate 80% of discussions; training in softened startup is crucial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Solvable vs. Perpetual Problems (Gottman, 1999)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69% of all couple conflicts are PERPETUAL (never fully resolved)</a:t>
            </a:r>
          </a:p>
          <a:p>
            <a:pPr>
              <a:spcAft>
                <a:spcPts val="400"/>
              </a:spcAft>
              <a:defRPr sz="1600"/>
            </a:pPr>
            <a:r>
              <a:t>• Based on fundamental differences in personality, values, lifestyle preferences</a:t>
            </a:r>
          </a:p>
          <a:p>
            <a:pPr>
              <a:spcAft>
                <a:spcPts val="400"/>
              </a:spcAft>
              <a:defRPr sz="1600"/>
            </a:pPr>
            <a:r>
              <a:t>• Examples: Introvert/extrovert, neat/messy, saver/spender, closeness/distance needs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SOLVABLE PROBLEMS (31%): Can be resolved with good communication skills</a:t>
            </a:r>
          </a:p>
          <a:p>
            <a:pPr>
              <a:spcAft>
                <a:spcPts val="400"/>
              </a:spcAft>
              <a:defRPr sz="1600"/>
            </a:pPr>
            <a:r>
              <a:t>  • Situational, specific, one-time issues (e.g., division of chores, vacation plans)</a:t>
            </a:r>
          </a:p>
          <a:p>
            <a:pPr>
              <a:spcAft>
                <a:spcPts val="400"/>
              </a:spcAft>
              <a:defRPr sz="1600"/>
            </a:pPr>
            <a:r>
              <a:t>  • Use problem-solving: Define → Brainstorm → Compromise → Implement → Review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PERPETUAL PROBLEMS (69%): Require DIALOGUE, not solution</a:t>
            </a:r>
          </a:p>
          <a:p>
            <a:pPr>
              <a:spcAft>
                <a:spcPts val="400"/>
              </a:spcAft>
              <a:defRPr sz="1600"/>
            </a:pPr>
            <a:r>
              <a:t>  • Goal: Move from gridlock → dialogue (ongoing conversation with humor, affection)</a:t>
            </a:r>
          </a:p>
          <a:p>
            <a:pPr>
              <a:spcAft>
                <a:spcPts val="400"/>
              </a:spcAft>
              <a:defRPr sz="1600"/>
            </a:pPr>
            <a:r>
              <a:t>  • Gridlock signs: No progress after repeated discussions; feel rejected, hurt</a:t>
            </a:r>
          </a:p>
          <a:p>
            <a:pPr>
              <a:spcAft>
                <a:spcPts val="400"/>
              </a:spcAft>
              <a:defRPr sz="1600"/>
            </a:pPr>
            <a:r>
              <a:t>  • Behind gridlock: Unfulfilled dreams or life wishes (the 'dream within the conflict')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Explore the dream/meaning behind each partner's position</a:t>
            </a:r>
          </a:p>
          <a:p>
            <a:pPr>
              <a:spcAft>
                <a:spcPts val="400"/>
              </a:spcAft>
              <a:defRPr sz="1600"/>
            </a:pPr>
            <a:r>
              <a:t>  • Create a temporary compromise that honors both dreams</a:t>
            </a:r>
          </a:p>
          <a:p>
            <a:pPr>
              <a:spcAft>
                <a:spcPts val="400"/>
              </a:spcAft>
              <a:defRPr sz="1600"/>
            </a:pPr>
            <a:r>
              <a:t>  • Accept that some differences will NEVER change - and that's okay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Help couples distinguish between the two types early in therapy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Sexuality in Couple Therapy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Sexual Response Models: From Masters &amp; Johnson to Basson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MASTERS &amp; JOHNSON (1966) LINEAR MODEL:</a:t>
            </a:r>
          </a:p>
          <a:p>
            <a:pPr>
              <a:spcAft>
                <a:spcPts val="400"/>
              </a:spcAft>
              <a:defRPr sz="1600"/>
            </a:pPr>
            <a:r>
              <a:t>  Excitement → Plateau → Orgasm → Resolution</a:t>
            </a:r>
          </a:p>
          <a:p>
            <a:pPr>
              <a:spcAft>
                <a:spcPts val="400"/>
              </a:spcAft>
              <a:defRPr sz="1600"/>
            </a:pPr>
            <a:r>
              <a:t>  • Based on physiological measurement; gender-neutral; criticized as male-centric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KAPLAN'S TRIPHASIC MODEL (1979):</a:t>
            </a:r>
          </a:p>
          <a:p>
            <a:pPr>
              <a:spcAft>
                <a:spcPts val="400"/>
              </a:spcAft>
              <a:defRPr sz="1600"/>
            </a:pPr>
            <a:r>
              <a:t>  Desire → Excitement → Orgasm</a:t>
            </a:r>
          </a:p>
          <a:p>
            <a:pPr>
              <a:spcAft>
                <a:spcPts val="400"/>
              </a:spcAft>
              <a:defRPr sz="1600"/>
            </a:pPr>
            <a:r>
              <a:t>  • Added desire as a distinct phase; recognized desire disorders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BASSON'S CIRCULAR MODEL (2000) - Female Sexual Response:</a:t>
            </a:r>
          </a:p>
          <a:p>
            <a:pPr>
              <a:spcAft>
                <a:spcPts val="400"/>
              </a:spcAft>
              <a:defRPr sz="1600"/>
            </a:pPr>
            <a:r>
              <a:t>  • Women don't always start with spontaneous desire (especially in LTRs)</a:t>
            </a:r>
          </a:p>
          <a:p>
            <a:pPr>
              <a:spcAft>
                <a:spcPts val="400"/>
              </a:spcAft>
              <a:defRPr sz="1600"/>
            </a:pPr>
            <a:r>
              <a:t>  • Emotional INTIMACY + Willingness → Sexual stimulation → Arousal → Desire (responsive)</a:t>
            </a:r>
          </a:p>
          <a:p>
            <a:pPr>
              <a:spcAft>
                <a:spcPts val="400"/>
              </a:spcAft>
              <a:defRPr sz="1600"/>
            </a:pPr>
            <a:r>
              <a:t>  • Responsive desire: Desire FOLLOWS arousal (not precedes it)</a:t>
            </a:r>
          </a:p>
          <a:p>
            <a:pPr>
              <a:spcAft>
                <a:spcPts val="400"/>
              </a:spcAft>
              <a:defRPr sz="1600"/>
            </a:pPr>
            <a:r>
              <a:t>  • Motivations beyond desire: Emotional closeness, partner satisfaction, self-affirmation</a:t>
            </a:r>
          </a:p>
          <a:p>
            <a:pPr>
              <a:spcAft>
                <a:spcPts val="400"/>
              </a:spcAft>
              <a:defRPr sz="1600"/>
            </a:pPr>
            <a:r>
              <a:t>  • This model normalized many women's experience; reduced pathologization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IMPLICATION: Assess desire type (spontaneous vs. responsive) for each partner</a:t>
            </a:r>
          </a:p>
          <a:p>
            <a:pPr>
              <a:spcAft>
                <a:spcPts val="400"/>
              </a:spcAft>
              <a:defRPr sz="1600"/>
            </a:pPr>
            <a:r>
              <a:t>Discrepancy in desire = most common sexual complaint in couple therapy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Sexual Dysfunctions: Assessment &amp; Indian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MALE DYSFUNCTIONS (DSM-5):</a:t>
            </a:r>
          </a:p>
          <a:p>
            <a:pPr>
              <a:spcAft>
                <a:spcPts val="400"/>
              </a:spcAft>
              <a:defRPr sz="1600"/>
            </a:pPr>
            <a:r>
              <a:t>  • Erectile Disorder: 13-21% prevalence in India (Moreira et al., 2001)</a:t>
            </a:r>
          </a:p>
          <a:p>
            <a:pPr>
              <a:spcAft>
                <a:spcPts val="400"/>
              </a:spcAft>
              <a:defRPr sz="1600"/>
            </a:pPr>
            <a:r>
              <a:t>  • Premature Ejaculation: Most common; 22-38% in Indian studies (Rajkumar &amp; Kumaran, 2015)</a:t>
            </a:r>
          </a:p>
          <a:p>
            <a:pPr>
              <a:spcAft>
                <a:spcPts val="400"/>
              </a:spcAft>
              <a:defRPr sz="1600"/>
            </a:pPr>
            <a:r>
              <a:t>  • Delayed Ejaculation; Male Hypoactive Sexual Desire Disorder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FEMALE DYSFUNCTIONS (DSM-5):</a:t>
            </a:r>
          </a:p>
          <a:p>
            <a:pPr>
              <a:spcAft>
                <a:spcPts val="400"/>
              </a:spcAft>
              <a:defRPr sz="1600"/>
            </a:pPr>
            <a:r>
              <a:t>  • Female Sexual Interest/Arousal Disorder: ~30% prevalence</a:t>
            </a:r>
          </a:p>
          <a:p>
            <a:pPr>
              <a:spcAft>
                <a:spcPts val="400"/>
              </a:spcAft>
              <a:defRPr sz="1600"/>
            </a:pPr>
            <a:r>
              <a:t>  • Female Orgasmic Disorder: 11-41% depending on definition</a:t>
            </a:r>
          </a:p>
          <a:p>
            <a:pPr>
              <a:spcAft>
                <a:spcPts val="400"/>
              </a:spcAft>
              <a:defRPr sz="1600"/>
            </a:pPr>
            <a:r>
              <a:t>  • Genito-Pelvic Pain/Penetration Disorder (vaginismus/dyspareunia)</a:t>
            </a:r>
          </a:p>
          <a:p>
            <a:pPr>
              <a:spcAft>
                <a:spcPts val="400"/>
              </a:spcAft>
              <a:defRPr sz="1600"/>
            </a:pPr>
            <a:r>
              <a:t>    - Unconsummated marriages: Significant issue in India (Avasthi et al., 2017)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 CONSIDERATIONS:</a:t>
            </a:r>
          </a:p>
          <a:p>
            <a:pPr>
              <a:spcAft>
                <a:spcPts val="400"/>
              </a:spcAft>
              <a:defRPr sz="1600"/>
            </a:pPr>
            <a:r>
              <a:t>  • Dhat syndrome (semen-loss anxiety): Culture-bound; common in N. India</a:t>
            </a:r>
          </a:p>
          <a:p>
            <a:pPr>
              <a:spcAft>
                <a:spcPts val="400"/>
              </a:spcAft>
              <a:defRPr sz="1600"/>
            </a:pPr>
            <a:r>
              <a:t>  • Inadequate sex education; myths (e.g., masturbation causes weakness)</a:t>
            </a:r>
          </a:p>
          <a:p>
            <a:pPr>
              <a:spcAft>
                <a:spcPts val="400"/>
              </a:spcAft>
              <a:defRPr sz="1600"/>
            </a:pPr>
            <a:r>
              <a:t>  • Wedding-night expectations and performance anxiety in arranged marriages</a:t>
            </a:r>
          </a:p>
          <a:p>
            <a:pPr>
              <a:spcAft>
                <a:spcPts val="400"/>
              </a:spcAft>
              <a:defRPr sz="1600"/>
            </a:pPr>
            <a:r>
              <a:t>  • Lack of privacy in joint families; timing constraints</a:t>
            </a:r>
          </a:p>
          <a:p>
            <a:pPr>
              <a:spcAft>
                <a:spcPts val="400"/>
              </a:spcAft>
              <a:defRPr sz="1600"/>
            </a:pPr>
            <a:r>
              <a:t>  • Gender role beliefs: Women not 'supposed' to enjoy or initiate sex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Sensate Focus: 4 Stages (Masters &amp; Johnson, 1970; adapted)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9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SENSATE FOCUS: Structured touching exercises to reduce performance anxiety</a:t>
            </a:r>
          </a:p>
          <a:p>
            <a:pPr>
              <a:spcAft>
                <a:spcPts val="400"/>
              </a:spcAft>
              <a:defRPr sz="1600"/>
            </a:pPr>
            <a:r>
              <a:t>   &amp; rebuild physical intimacy gradually (homework-based)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1: NON-GENITAL TOUCHING (2-3 times/week; 20-30 min)</a:t>
            </a:r>
          </a:p>
          <a:p>
            <a:pPr>
              <a:spcAft>
                <a:spcPts val="400"/>
              </a:spcAft>
              <a:defRPr sz="1600"/>
            </a:pPr>
            <a:r>
              <a:t>  • Take turns touching partner's body EXCLUDING genitals and breasts</a:t>
            </a:r>
          </a:p>
          <a:p>
            <a:pPr>
              <a:spcAft>
                <a:spcPts val="400"/>
              </a:spcAft>
              <a:defRPr sz="1600"/>
            </a:pPr>
            <a:r>
              <a:t>  • Focus on sensations (not arousal); giver explores, receiver guides</a:t>
            </a:r>
          </a:p>
          <a:p>
            <a:pPr>
              <a:spcAft>
                <a:spcPts val="400"/>
              </a:spcAft>
              <a:defRPr sz="1600"/>
            </a:pPr>
            <a:r>
              <a:t>  • Ban on intercourse/orgasm (removes performance pressure)</a:t>
            </a:r>
          </a:p>
          <a:p>
            <a:pPr>
              <a:spcAft>
                <a:spcPts val="400"/>
              </a:spcAft>
              <a:defRPr sz="1600"/>
            </a:pPr>
            <a:r>
              <a:t>STAGE 2: GENITAL TOUCHING INCLUDED (no orgasm as goal)</a:t>
            </a:r>
          </a:p>
          <a:p>
            <a:pPr>
              <a:spcAft>
                <a:spcPts val="400"/>
              </a:spcAft>
              <a:defRPr sz="1600"/>
            </a:pPr>
            <a:r>
              <a:t>  • Include genitals/breasts in exploration; still non-demand; sensory focus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Communication: 'I like...', 'move here...', 'slower...'</a:t>
            </a:r>
          </a:p>
          <a:p>
            <a:pPr>
              <a:spcAft>
                <a:spcPts val="400"/>
              </a:spcAft>
              <a:defRPr sz="1600"/>
            </a:pPr>
            <a:r>
              <a:t>STAGE 3: MUTUAL TOUCHING (simultaneous; building connection)</a:t>
            </a:r>
          </a:p>
          <a:p>
            <a:pPr>
              <a:spcAft>
                <a:spcPts val="400"/>
              </a:spcAft>
              <a:defRPr sz="1600"/>
            </a:pPr>
            <a:r>
              <a:t>  • Both partners touch simultaneously; orgasm allowed but not the goal</a:t>
            </a:r>
          </a:p>
          <a:p>
            <a:pPr>
              <a:spcAft>
                <a:spcPts val="400"/>
              </a:spcAft>
              <a:defRPr sz="1600"/>
            </a:pPr>
            <a:r>
              <a:t>STAGE 4: GRADUAL RETURN TO INTERCOURSE</a:t>
            </a:r>
          </a:p>
          <a:p>
            <a:pPr>
              <a:spcAft>
                <a:spcPts val="400"/>
              </a:spcAft>
              <a:defRPr sz="1600"/>
            </a:pPr>
            <a:r>
              <a:t>  • Containment without movement → Slow movement → Full intercourse</a:t>
            </a:r>
          </a:p>
          <a:p>
            <a:pPr>
              <a:spcAft>
                <a:spcPts val="400"/>
              </a:spcAft>
              <a:defRPr sz="1600"/>
            </a:pPr>
            <a:r>
              <a:t>  • Focus on pleasure and connection, not performance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Address resistance to homework; normalize awkwardness; process in session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High-Conflict Issues: Violence, Infidelity &amp; In-Laws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Domestic Violence &amp; Coercive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JOHNSON'S (2008) TYPOLOGY OF IPV:</a:t>
            </a:r>
          </a:p>
          <a:p>
            <a:pPr>
              <a:spcAft>
                <a:spcPts val="400"/>
              </a:spcAft>
              <a:defRPr sz="1600"/>
            </a:pPr>
            <a:r>
              <a:t>  1. SITUATIONAL COUPLE VIOLENCE (SCV): 50-60% of IPV</a:t>
            </a:r>
          </a:p>
          <a:p>
            <a:pPr>
              <a:spcAft>
                <a:spcPts val="400"/>
              </a:spcAft>
              <a:defRPr sz="1600"/>
            </a:pPr>
            <a:r>
              <a:t>     - Conflict-driven; bidirectional; no pattern of control; both genders</a:t>
            </a:r>
          </a:p>
          <a:p>
            <a:pPr>
              <a:spcAft>
                <a:spcPts val="400"/>
              </a:spcAft>
              <a:defRPr sz="1600"/>
            </a:pPr>
            <a:r>
              <a:t>     - Couple therapy MAY be appropriate (with safety planning &amp; monitoring)</a:t>
            </a:r>
          </a:p>
          <a:p>
            <a:pPr>
              <a:spcAft>
                <a:spcPts val="400"/>
              </a:spcAft>
              <a:defRPr sz="1600"/>
            </a:pPr>
            <a:r>
              <a:t>  2. INTIMATE TERRORISM (IT): 15-20% of IPV</a:t>
            </a:r>
          </a:p>
          <a:p>
            <a:pPr>
              <a:spcAft>
                <a:spcPts val="400"/>
              </a:spcAft>
              <a:defRPr sz="1600"/>
            </a:pPr>
            <a:r>
              <a:t>     - Pattern of coercive control; power &amp; domination; primarily M→F</a:t>
            </a:r>
          </a:p>
          <a:p>
            <a:pPr>
              <a:spcAft>
                <a:spcPts val="400"/>
              </a:spcAft>
              <a:defRPr sz="1600"/>
            </a:pPr>
            <a:r>
              <a:t>     - Couple therapy ABSOLUTELY CONTRAINDICATED</a:t>
            </a:r>
          </a:p>
          <a:p>
            <a:pPr>
              <a:spcAft>
                <a:spcPts val="400"/>
              </a:spcAft>
              <a:defRPr sz="1600"/>
            </a:pPr>
            <a:r>
              <a:t>  3. VIOLENT RESISTANCE: Response to intimate terrorism (self-defense)</a:t>
            </a:r>
          </a:p>
          <a:p>
            <a:pPr>
              <a:spcAft>
                <a:spcPts val="400"/>
              </a:spcAft>
              <a:defRPr sz="1600"/>
            </a:pPr>
            <a:r>
              <a:t>  4. MUTUAL VIOLENT CONTROL: Both partners controlling (rare)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COERCIVE CONTROL INDICATORS (Stark, 2007):</a:t>
            </a:r>
          </a:p>
          <a:p>
            <a:pPr>
              <a:spcAft>
                <a:spcPts val="400"/>
              </a:spcAft>
              <a:defRPr sz="1600"/>
            </a:pPr>
            <a:r>
              <a:t>  • Isolation from family/friends; monitoring movements/phone/social media</a:t>
            </a:r>
          </a:p>
          <a:p>
            <a:pPr>
              <a:spcAft>
                <a:spcPts val="400"/>
              </a:spcAft>
              <a:defRPr sz="1600"/>
            </a:pPr>
            <a:r>
              <a:t>  • Financial abuse: Controlling money, not allowing employment</a:t>
            </a:r>
          </a:p>
          <a:p>
            <a:pPr>
              <a:spcAft>
                <a:spcPts val="400"/>
              </a:spcAft>
              <a:defRPr sz="1600"/>
            </a:pPr>
            <a:r>
              <a:t>  • Intimidation: Threats, property destruction, harm to pets/children</a:t>
            </a:r>
          </a:p>
          <a:p>
            <a:pPr>
              <a:spcAft>
                <a:spcPts val="400"/>
              </a:spcAft>
              <a:defRPr sz="1600"/>
            </a:pPr>
            <a:r>
              <a:t>  • Sexual coercion: Forced sex, reproductive coercion</a:t>
            </a:r>
          </a:p>
          <a:p>
            <a:pPr>
              <a:spcAft>
                <a:spcPts val="400"/>
              </a:spcAft>
              <a:defRPr sz="1600"/>
            </a:pPr>
            <a:r>
              <a:t>  • Gaslighting: Denying reality, 'you're crazy', manipulating perceptions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498A/304B (dowry death); DV Act 2005; report to Protection Officer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Infidelity: Trust Revival Model (Gottman, 2013)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24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INFIDELITY STATISTICS:</a:t>
            </a:r>
          </a:p>
          <a:p>
            <a:pPr>
              <a:spcAft>
                <a:spcPts val="400"/>
              </a:spcAft>
              <a:defRPr sz="1600"/>
            </a:pPr>
            <a:r>
              <a:t>  • 20-25% of marriages affected by sexual infidelity (Blow &amp; Hartnett, 2005)</a:t>
            </a:r>
          </a:p>
          <a:p>
            <a:pPr>
              <a:spcAft>
                <a:spcPts val="400"/>
              </a:spcAft>
              <a:defRPr sz="1600"/>
            </a:pPr>
            <a:r>
              <a:t>  • Emotional affairs increasingly recognized (especially online)</a:t>
            </a:r>
          </a:p>
          <a:p>
            <a:pPr>
              <a:spcAft>
                <a:spcPts val="400"/>
              </a:spcAft>
              <a:defRPr sz="1600"/>
            </a:pPr>
            <a:r>
              <a:t>  • Indian context: Extramarital affairs now #1 cause of divorce (Amato, 2010)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GOTTMAN'S TRUST REVIVAL METHOD - 3 PHASES: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1: ATONE (Affair partner expresses genuine remorse)</a:t>
            </a:r>
          </a:p>
          <a:p>
            <a:pPr>
              <a:spcAft>
                <a:spcPts val="400"/>
              </a:spcAft>
              <a:defRPr sz="1600"/>
            </a:pPr>
            <a:r>
              <a:t>  • Full transparency: Answer all questions honestly; no trickle truth</a:t>
            </a:r>
          </a:p>
          <a:p>
            <a:pPr>
              <a:spcAft>
                <a:spcPts val="400"/>
              </a:spcAft>
              <a:defRPr sz="1600"/>
            </a:pPr>
            <a:r>
              <a:t>  • Cut all contact with affair partner; full access to devices/accounts</a:t>
            </a:r>
          </a:p>
          <a:p>
            <a:pPr>
              <a:spcAft>
                <a:spcPts val="400"/>
              </a:spcAft>
              <a:defRPr sz="1600"/>
            </a:pPr>
            <a:r>
              <a:t>  • Express remorse, empathy for betrayed partner's pain, take responsibility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2: ATTUNE (Rebuild emotional connection - Gottman's ATTUNE model)</a:t>
            </a:r>
          </a:p>
          <a:p>
            <a:pPr>
              <a:spcAft>
                <a:spcPts val="400"/>
              </a:spcAft>
              <a:defRPr sz="1600"/>
            </a:pPr>
            <a:r>
              <a:t>  • A = Awareness; T = Tolerance; T = Turning toward</a:t>
            </a:r>
          </a:p>
          <a:p>
            <a:pPr>
              <a:spcAft>
                <a:spcPts val="400"/>
              </a:spcAft>
              <a:defRPr sz="1600"/>
            </a:pPr>
            <a:r>
              <a:t>  • U = Understanding; N = Non-defensive responding; E = Empathy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3: ATTACH (Create new relational contract &amp; shared meaning)</a:t>
            </a:r>
          </a:p>
          <a:p>
            <a:pPr>
              <a:spcAft>
                <a:spcPts val="400"/>
              </a:spcAft>
              <a:defRPr sz="1600"/>
            </a:pPr>
            <a:r>
              <a:t>  • What did the affair mean? What was missing? What will be different?</a:t>
            </a:r>
          </a:p>
          <a:p>
            <a:pPr>
              <a:spcAft>
                <a:spcPts val="400"/>
              </a:spcAft>
              <a:defRPr sz="1600"/>
            </a:pPr>
            <a:r>
              <a:t>  • Rebuild rituals of connection; new commitment; post-traumatic growth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In-Law Conflicts: The Indian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#1 presenting problem in Indian couple therapy (Sathyanarayana Rao et al., 2015)</a:t>
            </a:r>
          </a:p>
          <a:p>
            <a:pPr>
              <a:spcAft>
                <a:spcPts val="400"/>
              </a:spcAft>
              <a:defRPr sz="1600"/>
            </a:pPr>
            <a:r>
              <a:t>• Mother-in-law/daughter-in-law conflict: Structural boundary violation</a:t>
            </a:r>
          </a:p>
          <a:p>
            <a:pPr>
              <a:spcAft>
                <a:spcPts val="400"/>
              </a:spcAft>
              <a:defRPr sz="1600"/>
            </a:pPr>
            <a:r>
              <a:t>• Triangulation: Husband caught between mother and wife (loyalty conflict)</a:t>
            </a:r>
          </a:p>
          <a:p>
            <a:pPr>
              <a:spcAft>
                <a:spcPts val="400"/>
              </a:spcAft>
              <a:defRPr sz="1600"/>
            </a:pPr>
            <a:r>
              <a:t>• Patrilocal residence: Wife enters husband's family; adjustment burden on her</a:t>
            </a:r>
          </a:p>
          <a:p>
            <a:pPr>
              <a:spcAft>
                <a:spcPts val="400"/>
              </a:spcAft>
              <a:defRPr sz="1600"/>
            </a:pPr>
            <a:r>
              <a:t>• Power dynamics: MIL had to adjust when she was new bride → now 'her turn' to control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Structural: Strengthen marital subsystem boundary (Minuchin)</a:t>
            </a:r>
          </a:p>
          <a:p>
            <a:pPr>
              <a:spcAft>
                <a:spcPts val="400"/>
              </a:spcAft>
              <a:defRPr sz="1600"/>
            </a:pPr>
            <a:r>
              <a:t>  • Bowen: Differentiation of self; de-triangulation; I-positions</a:t>
            </a:r>
          </a:p>
          <a:p>
            <a:pPr>
              <a:spcAft>
                <a:spcPts val="400"/>
              </a:spcAft>
              <a:defRPr sz="1600"/>
            </a:pPr>
            <a:r>
              <a:t>  • Help husband take a clear position (not choosing sides, but establishing boundary)</a:t>
            </a:r>
          </a:p>
          <a:p>
            <a:pPr>
              <a:spcAft>
                <a:spcPts val="400"/>
              </a:spcAft>
              <a:defRPr sz="1600"/>
            </a:pPr>
            <a:r>
              <a:t>  • 'Leaving and cleaving': Primary loyalty shifts to marital partner</a:t>
            </a:r>
          </a:p>
          <a:p>
            <a:pPr>
              <a:spcAft>
                <a:spcPts val="400"/>
              </a:spcAft>
              <a:defRPr sz="1600"/>
            </a:pPr>
            <a:r>
              <a:t>  • Respect + Autonomy: Can respect elders AND have boundaries (not either/or)</a:t>
            </a:r>
          </a:p>
          <a:p>
            <a:pPr>
              <a:spcAft>
                <a:spcPts val="400"/>
              </a:spcAft>
              <a:defRPr sz="1600"/>
            </a:pPr>
            <a:r>
              <a:t>  • Family meetings: Structured communication including in-laws when appropriate</a:t>
            </a:r>
          </a:p>
          <a:p>
            <a:pPr>
              <a:spcAft>
                <a:spcPts val="400"/>
              </a:spcAft>
              <a:defRPr sz="1600"/>
            </a:pPr>
            <a:r>
              <a:t>  • Pragmatic solutions: Separate kitchen, financial independence, clear domains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Cultural sensitivity: Avoid Western individualism imposition; honor filial piety values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br/>
            <a:r>
              <a:t>Legal Framework, Clinical Skills &amp; Professional Practice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Indian Legal Framework for Marriage &amp; Divorce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4E3B"/>
                </a:solidFill>
              </a:defRPr>
            </a:pPr>
            <a:r>
              <a:t>Indian Marriage Laws: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Applicable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Key Provisions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Hindu Marriage Act, 1955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Hindus, Sikhs, Jains, Buddhists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Marriage registration, divorce (S.13), judicial separation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Special Marriage Act, 1954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citizens (interfaith/civil)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30-day notice; secular; no religious ceremony needed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Muslim Personal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Muslims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Nikaah, Mehr, Talaq, Khula, Mubarat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Divorce Act, 1869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Christians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Divorce grounds; ecclesiastical requirements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Parsi Marriage &amp; Divorce Act, 1936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Matrimonial court; specific cultural provisions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DV Act 2005 (PWDVA)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women in domestic rel.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Civil protection; residence; monetary relief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Section 498A IPC / BNS 84-86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married 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Criminal: cruelty; cognizable, non-bailable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Hindu Marriage Act 1955: Grounds for Divorce (Section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FAULT-BASED GROUNDS (Available to BOTH spouses - S.13(1)):</a:t>
            </a:r>
          </a:p>
          <a:p>
            <a:pPr>
              <a:spcAft>
                <a:spcPts val="400"/>
              </a:spcAft>
              <a:defRPr sz="1600"/>
            </a:pPr>
            <a:r>
              <a:t>  (i) Adultery (voluntary sexual intercourse outside marriage)</a:t>
            </a:r>
          </a:p>
          <a:p>
            <a:pPr>
              <a:spcAft>
                <a:spcPts val="400"/>
              </a:spcAft>
              <a:defRPr sz="1600"/>
            </a:pPr>
            <a:r>
              <a:t>  (ia) Cruelty (physical or mental; includes in-law harassment)</a:t>
            </a:r>
          </a:p>
          <a:p>
            <a:pPr>
              <a:spcAft>
                <a:spcPts val="400"/>
              </a:spcAft>
              <a:defRPr sz="1600"/>
            </a:pPr>
            <a:r>
              <a:t>  (ib) Desertion for 2+ continuous years without reasonable cause</a:t>
            </a:r>
          </a:p>
          <a:p>
            <a:pPr>
              <a:spcAft>
                <a:spcPts val="400"/>
              </a:spcAft>
              <a:defRPr sz="1600"/>
            </a:pPr>
            <a:r>
              <a:t>  (ii) Conversion to another religion</a:t>
            </a:r>
          </a:p>
          <a:p>
            <a:pPr>
              <a:spcAft>
                <a:spcPts val="400"/>
              </a:spcAft>
              <a:defRPr sz="1600"/>
            </a:pPr>
            <a:r>
              <a:t>  (iii) Unsoundness of mind / mental disorder (continuous 3 years)</a:t>
            </a:r>
          </a:p>
          <a:p>
            <a:pPr>
              <a:spcAft>
                <a:spcPts val="400"/>
              </a:spcAft>
              <a:defRPr sz="1600"/>
            </a:pPr>
            <a:r>
              <a:t>  (iv) Leprosy (virulent and incurable form) - now debated</a:t>
            </a:r>
          </a:p>
          <a:p>
            <a:pPr>
              <a:spcAft>
                <a:spcPts val="400"/>
              </a:spcAft>
              <a:defRPr sz="1600"/>
            </a:pPr>
            <a:r>
              <a:t>  (v) Venereal disease (communicable; not contracted from other spouse)</a:t>
            </a:r>
          </a:p>
          <a:p>
            <a:pPr>
              <a:spcAft>
                <a:spcPts val="400"/>
              </a:spcAft>
              <a:defRPr sz="1600"/>
            </a:pPr>
            <a:r>
              <a:t>  (vi) Renunciation of world (entering religious order)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ADDITIONAL GROUNDS FOR WIFE (S.13(2)):</a:t>
            </a:r>
          </a:p>
          <a:p>
            <a:pPr>
              <a:spcAft>
                <a:spcPts val="400"/>
              </a:spcAft>
              <a:defRPr sz="1600"/>
            </a:pPr>
            <a:r>
              <a:t>  (i) Husband guilty of rape, sodomy, or bestiality</a:t>
            </a:r>
          </a:p>
          <a:p>
            <a:pPr>
              <a:spcAft>
                <a:spcPts val="400"/>
              </a:spcAft>
              <a:defRPr sz="1600"/>
            </a:pPr>
            <a:r>
              <a:t>  (ii) Husband has another wife living (bigamy)</a:t>
            </a:r>
          </a:p>
          <a:p>
            <a:pPr>
              <a:spcAft>
                <a:spcPts val="400"/>
              </a:spcAft>
              <a:defRPr sz="1600"/>
            </a:pPr>
            <a:r>
              <a:t>  (iii) Non-resumption of cohabitation after maintenance/restitution decree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MUTUAL CONSENT (S.13B): Both agree; 1 year separation; 6-month cooling period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Protection of Women from Domestic Violence Act, 2005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LANDMARK CIVIL LAW (not criminal) - provides immediate relief: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WHAT CONSTITUTES DOMESTIC VIOLENCE (S.3):</a:t>
            </a:r>
          </a:p>
          <a:p>
            <a:pPr>
              <a:spcAft>
                <a:spcPts val="400"/>
              </a:spcAft>
              <a:defRPr sz="1600"/>
            </a:pPr>
            <a:r>
              <a:t>  • Physical abuse: Bodily pain, harm, danger to life/limb/health</a:t>
            </a:r>
          </a:p>
          <a:p>
            <a:pPr>
              <a:spcAft>
                <a:spcPts val="400"/>
              </a:spcAft>
              <a:defRPr sz="1600"/>
            </a:pPr>
            <a:r>
              <a:t>  • Sexual abuse: Forced sexual intercourse, pornography, humiliating acts</a:t>
            </a:r>
          </a:p>
          <a:p>
            <a:pPr>
              <a:spcAft>
                <a:spcPts val="400"/>
              </a:spcAft>
              <a:defRPr sz="1600"/>
            </a:pPr>
            <a:r>
              <a:t>  • Verbal/Emotional abuse: Insults, ridicule, name-calling, threats</a:t>
            </a:r>
          </a:p>
          <a:p>
            <a:pPr>
              <a:spcAft>
                <a:spcPts val="400"/>
              </a:spcAft>
              <a:defRPr sz="1600"/>
            </a:pPr>
            <a:r>
              <a:t>  • Economic abuse: Deprivation of resources, property, household necessities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PROVISIONS:</a:t>
            </a:r>
          </a:p>
          <a:p>
            <a:pPr>
              <a:spcAft>
                <a:spcPts val="400"/>
              </a:spcAft>
              <a:defRPr sz="1600"/>
            </a:pPr>
            <a:r>
              <a:t>  • Protection Order (S.18): Prohibit DV; prevent alienation of assets</a:t>
            </a:r>
          </a:p>
          <a:p>
            <a:pPr>
              <a:spcAft>
                <a:spcPts val="400"/>
              </a:spcAft>
              <a:defRPr sz="1600"/>
            </a:pPr>
            <a:r>
              <a:t>  • Residence Order (S.19): Right to live in shared household; cannot be evicted</a:t>
            </a:r>
          </a:p>
          <a:p>
            <a:pPr>
              <a:spcAft>
                <a:spcPts val="400"/>
              </a:spcAft>
              <a:defRPr sz="1600"/>
            </a:pPr>
            <a:r>
              <a:t>  • Monetary Relief (S.20): Compensation for injuries, expenses, maintenance</a:t>
            </a:r>
          </a:p>
          <a:p>
            <a:pPr>
              <a:spcAft>
                <a:spcPts val="400"/>
              </a:spcAft>
              <a:defRPr sz="1600"/>
            </a:pPr>
            <a:r>
              <a:t>  • Custody Order (S.21): Temporary custody of children to aggrieved person</a:t>
            </a:r>
          </a:p>
          <a:p>
            <a:pPr>
              <a:spcAft>
                <a:spcPts val="400"/>
              </a:spcAft>
              <a:defRPr sz="1600"/>
            </a:pPr>
            <a:r>
              <a:t>  • Compensation Order (S.22): Mental torture and emotional distress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MECHANISM: Complaint to Protection Officer / Magistrate; 3-day hearing deadline</a:t>
            </a:r>
          </a:p>
          <a:p>
            <a:pPr>
              <a:spcAft>
                <a:spcPts val="400"/>
              </a:spcAft>
              <a:defRPr sz="1600"/>
            </a:pPr>
            <a:r>
              <a:t>Who can file: Wife, live-in partner, sister, mother, or any female in domestic relationship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MHCA 2017 &amp; Section 498A/BNS: Clinical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MENTAL HEALTHCARE ACT, 2017:</a:t>
            </a:r>
          </a:p>
          <a:p>
            <a:pPr>
              <a:spcAft>
                <a:spcPts val="400"/>
              </a:spcAft>
              <a:defRPr sz="1600"/>
            </a:pPr>
            <a:r>
              <a:t>  • Section 115: Attempted suicide decriminalized (repeals S.309 IPC)</a:t>
            </a:r>
          </a:p>
          <a:p>
            <a:pPr>
              <a:spcAft>
                <a:spcPts val="400"/>
              </a:spcAft>
              <a:defRPr sz="1600"/>
            </a:pPr>
            <a:r>
              <a:t>  • Section 21(1): Every person has right to access mental healthcare</a:t>
            </a:r>
          </a:p>
          <a:p>
            <a:pPr>
              <a:spcAft>
                <a:spcPts val="400"/>
              </a:spcAft>
              <a:defRPr sz="1600"/>
            </a:pPr>
            <a:r>
              <a:t>  • Advanced directive provision: Plan for future mental health crises</a:t>
            </a:r>
          </a:p>
          <a:p>
            <a:pPr>
              <a:spcAft>
                <a:spcPts val="400"/>
              </a:spcAft>
              <a:defRPr sz="1600"/>
            </a:pPr>
            <a:r>
              <a:t>  • Relevance: Suicidal ideation in marital distress must be assessed and managed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SECTION 498A IPC (now BNS 84-86): CRUELTY BY HUSBAND/RELATIVES</a:t>
            </a:r>
          </a:p>
          <a:p>
            <a:pPr>
              <a:spcAft>
                <a:spcPts val="400"/>
              </a:spcAft>
              <a:defRPr sz="1600"/>
            </a:pPr>
            <a:r>
              <a:t>  • Cognizable, non-bailable, non-compoundable offense</a:t>
            </a:r>
          </a:p>
          <a:p>
            <a:pPr>
              <a:spcAft>
                <a:spcPts val="400"/>
              </a:spcAft>
              <a:defRPr sz="1600"/>
            </a:pPr>
            <a:r>
              <a:t>  • 'Cruelty': Willful conduct likely to drive woman to suicide or cause grave injury</a:t>
            </a:r>
          </a:p>
          <a:p>
            <a:pPr>
              <a:spcAft>
                <a:spcPts val="400"/>
              </a:spcAft>
              <a:defRPr sz="1600"/>
            </a:pPr>
            <a:r>
              <a:t>  • Includes dowry demands, harassment, emotional cruelty</a:t>
            </a:r>
          </a:p>
          <a:p>
            <a:pPr>
              <a:spcAft>
                <a:spcPts val="400"/>
              </a:spcAft>
              <a:defRPr sz="1600"/>
            </a:pPr>
            <a:r>
              <a:t>  • Criticism: Allegations of misuse; SC guidelines in Rajesh Sharma v. State of UP (2017)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RELEVANCE FOR THERAPISTS:</a:t>
            </a:r>
          </a:p>
          <a:p>
            <a:pPr>
              <a:spcAft>
                <a:spcPts val="400"/>
              </a:spcAft>
              <a:defRPr sz="1600"/>
            </a:pPr>
            <a:r>
              <a:t>  • Confidentiality limits: Duty to warn if imminent danger</a:t>
            </a:r>
          </a:p>
          <a:p>
            <a:pPr>
              <a:spcAft>
                <a:spcPts val="400"/>
              </a:spcAft>
              <a:defRPr sz="1600"/>
            </a:pPr>
            <a:r>
              <a:t>  • Court may request therapy records; maintain clear documentation</a:t>
            </a:r>
          </a:p>
          <a:p>
            <a:pPr>
              <a:spcAft>
                <a:spcPts val="400"/>
              </a:spcAft>
              <a:defRPr sz="1600"/>
            </a:pPr>
            <a:r>
              <a:t>  • Never mediate/do couples work if one partner has filed 498A (conflict of interest)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Premarital Counselling &amp; Special Populations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Premarital Counselling: Evidence-Based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WHY PREMARITAL COUNSELLING?</a:t>
            </a:r>
          </a:p>
          <a:p>
            <a:pPr>
              <a:spcAft>
                <a:spcPts val="400"/>
              </a:spcAft>
              <a:defRPr sz="1600"/>
            </a:pPr>
            <a:r>
              <a:t>  • Meta-analysis: 79% of premarital programs show significant improvement (Carroll &amp; Doherty, 2003)</a:t>
            </a:r>
          </a:p>
          <a:p>
            <a:pPr>
              <a:spcAft>
                <a:spcPts val="400"/>
              </a:spcAft>
              <a:defRPr sz="1600"/>
            </a:pPr>
            <a:r>
              <a:t>  • Reduces divorce risk by ~30% over 5 years (Stanley et al., 2006)</a:t>
            </a:r>
          </a:p>
          <a:p>
            <a:pPr>
              <a:spcAft>
                <a:spcPts val="400"/>
              </a:spcAft>
              <a:defRPr sz="1600"/>
            </a:pPr>
            <a:r>
              <a:t>  • Particularly relevant in India: Arranged marriages = limited pre-marriage interaction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EVIDENCE-BASED PROGRAMS:</a:t>
            </a:r>
          </a:p>
          <a:p>
            <a:pPr>
              <a:spcAft>
                <a:spcPts val="400"/>
              </a:spcAft>
              <a:defRPr sz="1600"/>
            </a:pPr>
            <a:r>
              <a:t>  • PREP (Prevention &amp; Relationship Enhancement Program) - Markman et al.</a:t>
            </a:r>
          </a:p>
          <a:p>
            <a:pPr>
              <a:spcAft>
                <a:spcPts val="400"/>
              </a:spcAft>
              <a:defRPr sz="1600"/>
            </a:pPr>
            <a:r>
              <a:t>  • PREPARE/ENRICH (Olson) - Assessment + feedback + skills</a:t>
            </a:r>
          </a:p>
          <a:p>
            <a:pPr>
              <a:spcAft>
                <a:spcPts val="400"/>
              </a:spcAft>
              <a:defRPr sz="1600"/>
            </a:pPr>
            <a:r>
              <a:t>  • TWO BECOMING ONE / SYMBIS - Faith-based options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DOMAINS TO COVER:</a:t>
            </a:r>
          </a:p>
          <a:p>
            <a:pPr>
              <a:spcAft>
                <a:spcPts val="400"/>
              </a:spcAft>
              <a:defRPr sz="1600"/>
            </a:pPr>
            <a:r>
              <a:t>  • Expectations: Marriage, roles, career, children, finances, in-laws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 skills: Speaker-Listener; conflict management</a:t>
            </a:r>
          </a:p>
          <a:p>
            <a:pPr>
              <a:spcAft>
                <a:spcPts val="400"/>
              </a:spcAft>
              <a:defRPr sz="1600"/>
            </a:pPr>
            <a:r>
              <a:t>  • Families of origin: Genogram; invisible loyalties; boundary negotiation</a:t>
            </a:r>
          </a:p>
          <a:p>
            <a:pPr>
              <a:spcAft>
                <a:spcPts val="400"/>
              </a:spcAft>
              <a:defRPr sz="1600"/>
            </a:pPr>
            <a:r>
              <a:t>  • Sexual expectations: Knowledge, values, frequency expectations</a:t>
            </a:r>
          </a:p>
          <a:p>
            <a:pPr>
              <a:spcAft>
                <a:spcPts val="400"/>
              </a:spcAft>
              <a:defRPr sz="1600"/>
            </a:pPr>
            <a:r>
              <a:t>  • Financial planning: Joint/separate accounts; spending/saving styles</a:t>
            </a:r>
          </a:p>
          <a:p>
            <a:pPr>
              <a:spcAft>
                <a:spcPts val="400"/>
              </a:spcAft>
              <a:defRPr sz="1600"/>
            </a:pPr>
            <a:r>
              <a:t>  • Deal-breakers: Children (how many, when), religion, relocation</a:t>
            </a:r>
          </a:p>
          <a:p>
            <a:pPr>
              <a:spcAft>
                <a:spcPts val="400"/>
              </a:spcAft>
              <a:defRPr sz="1600"/>
            </a:pPr>
            <a:r>
              <a:t>  • Red flags: Control, jealousy, substance use, violence history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4E3B"/>
                </a:solidFill>
              </a:defRPr>
            </a:pPr>
            <a:r>
              <a:t>Special Populations in Couple Therapy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Key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Adapted Approaches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LGBTQIA+ Couples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Minority stress; coming out; no marriage equality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Affirmative therapy; address internalized stigma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Intercaste/Interfaith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Family rejection; honor violence; identity 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Narrative; strengthen couple boundary; safety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Couples with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Parenting alliance; triangulation; child as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Parenting component; protect child from conflict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Grief, blame, medical stress, sexual dysfunction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EFT for grief; normalize; address gender pressure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Chronic Illness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Caregiver burden; role changes; intimacy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Adaptation; new intimacy expressions; respite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Military/PTSD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Emotional numbing; hyperarousal; reintegration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EFT for PTSD; psychoeducation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Substance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Codependency; enabling; relapse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Address substance first; ABCT; systemic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Clinical Session Structure &amp; Protocol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60-Minute Session Structure for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735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MINUTE 0-5: CHECK-IN &amp; AGENDA SETTING</a:t>
            </a:r>
          </a:p>
          <a:p>
            <a:pPr>
              <a:spcAft>
                <a:spcPts val="400"/>
              </a:spcAft>
              <a:defRPr sz="1600"/>
            </a:pPr>
            <a:r>
              <a:t>  • Brief individual check-in: 'How has your week been?' (mood, stress)</a:t>
            </a:r>
          </a:p>
          <a:p>
            <a:pPr>
              <a:spcAft>
                <a:spcPts val="400"/>
              </a:spcAft>
              <a:defRPr sz="1600"/>
            </a:pPr>
            <a:r>
              <a:t>  • Review homework/between-session tasks</a:t>
            </a:r>
          </a:p>
          <a:p>
            <a:pPr>
              <a:spcAft>
                <a:spcPts val="400"/>
              </a:spcAft>
              <a:defRPr sz="1600"/>
            </a:pPr>
            <a:r>
              <a:t>  • Set collaborative agenda: 'What's most important to address today?'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5-20: PROCESS RECENT INTERACTION OR ENACTMENT</a:t>
            </a:r>
          </a:p>
          <a:p>
            <a:pPr>
              <a:spcAft>
                <a:spcPts val="400"/>
              </a:spcAft>
              <a:defRPr sz="1600"/>
            </a:pPr>
            <a:r>
              <a:t>  • Explore a recent conflict/positive event using cycle language</a:t>
            </a:r>
          </a:p>
          <a:p>
            <a:pPr>
              <a:spcAft>
                <a:spcPts val="400"/>
              </a:spcAft>
              <a:defRPr sz="1600"/>
            </a:pPr>
            <a:r>
              <a:t>  • Or: Set up enactment ('Turn to your partner and tell them...')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20-45: CORE THERAPEUTIC WORK</a:t>
            </a:r>
          </a:p>
          <a:p>
            <a:pPr>
              <a:spcAft>
                <a:spcPts val="400"/>
              </a:spcAft>
              <a:defRPr sz="1600"/>
            </a:pPr>
            <a:r>
              <a:t>  • Deepening emotion (EFT), skill practice (CBCT), or pattern analysis (IBCT)</a:t>
            </a:r>
          </a:p>
          <a:p>
            <a:pPr>
              <a:spcAft>
                <a:spcPts val="400"/>
              </a:spcAft>
              <a:defRPr sz="1600"/>
            </a:pPr>
            <a:r>
              <a:t>  • Maintain alliance balance; track both partners' engagement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45-55: CONSOLIDATION &amp; HOMEWORK</a:t>
            </a:r>
          </a:p>
          <a:p>
            <a:pPr>
              <a:spcAft>
                <a:spcPts val="400"/>
              </a:spcAft>
              <a:defRPr sz="1600"/>
            </a:pPr>
            <a:r>
              <a:t>  • Summarize key moments; name what shifted</a:t>
            </a:r>
          </a:p>
          <a:p>
            <a:pPr>
              <a:spcAft>
                <a:spcPts val="400"/>
              </a:spcAft>
              <a:defRPr sz="1600"/>
            </a:pPr>
            <a:r>
              <a:t>  • Assign between-session task (behavioral, reflective, or connecting exercise)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55-60: CLOSING &amp; SAFETY CHECK</a:t>
            </a:r>
          </a:p>
          <a:p>
            <a:pPr>
              <a:spcAft>
                <a:spcPts val="400"/>
              </a:spcAft>
              <a:defRPr sz="1600"/>
            </a:pPr>
            <a:r>
              <a:t>  • 'Is there anything we didn't cover that feels important?'</a:t>
            </a:r>
          </a:p>
          <a:p>
            <a:pPr>
              <a:spcAft>
                <a:spcPts val="400"/>
              </a:spcAft>
              <a:defRPr sz="1600"/>
            </a:pPr>
            <a:r>
              <a:t>  • Ensure both leave in a manageable emotional state (not flooded)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16-Session Treatment Protocol (Integrated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9795"/>
            <a:ext cx="10972800" cy="5395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rPr b="1"/>
              <a:t>PHASE 1: ASSESSMENT &amp; ENGAGEMENT (Sessions 1-4)</a:t>
            </a:r>
            <a:endParaRPr b="1"/>
          </a:p>
          <a:p>
            <a:pPr>
              <a:spcAft>
                <a:spcPts val="400"/>
              </a:spcAft>
              <a:defRPr sz="1600"/>
            </a:pPr>
            <a:r>
              <a:t>  S1: Conjoint intake - presenting problem, goals, relationship history</a:t>
            </a:r>
          </a:p>
          <a:p>
            <a:pPr>
              <a:spcAft>
                <a:spcPts val="400"/>
              </a:spcAft>
              <a:defRPr sz="1600"/>
            </a:pPr>
            <a:r>
              <a:t>  S2: Individual - Partner A (history, attachment, DV screen, commitment)</a:t>
            </a:r>
          </a:p>
          <a:p>
            <a:pPr>
              <a:spcAft>
                <a:spcPts val="400"/>
              </a:spcAft>
              <a:defRPr sz="1600"/>
            </a:pPr>
            <a:r>
              <a:t>  S3: Individual - Partner B (same protocol)</a:t>
            </a:r>
          </a:p>
          <a:p>
            <a:pPr>
              <a:spcAft>
                <a:spcPts val="400"/>
              </a:spcAft>
              <a:defRPr sz="1600"/>
            </a:pPr>
            <a:r>
              <a:t>  S4: Feedback session - formulation, goals, treatment plan (collaborative)</a:t>
            </a:r>
          </a:p>
          <a:p>
            <a:pPr>
              <a:spcAft>
                <a:spcPts val="400"/>
              </a:spcAft>
              <a:defRPr sz="1600"/>
            </a:pPr>
            <a:r>
              <a:rPr b="1"/>
              <a:t>PHASE 2: STABILIZATION &amp; SKILL-BUILDING (Sessions 5-8)</a:t>
            </a:r>
            <a:endParaRPr b="1"/>
          </a:p>
          <a:p>
            <a:pPr>
              <a:spcAft>
                <a:spcPts val="400"/>
              </a:spcAft>
              <a:defRPr sz="1600"/>
            </a:pPr>
            <a:r>
              <a:t>  S5: Psychoeducation (Four Horsemen, cycle, attachment styles)</a:t>
            </a:r>
          </a:p>
          <a:p>
            <a:pPr>
              <a:spcAft>
                <a:spcPts val="400"/>
              </a:spcAft>
              <a:defRPr sz="1600"/>
            </a:pPr>
            <a:r>
              <a:t>  S6: Communication skills (softened startup, active listening, repair)</a:t>
            </a:r>
          </a:p>
          <a:p>
            <a:pPr>
              <a:spcAft>
                <a:spcPts val="400"/>
              </a:spcAft>
              <a:defRPr sz="1600"/>
            </a:pPr>
            <a:r>
              <a:t>  S7: Conflict management (solvable vs. perpetual; time-out protocol)</a:t>
            </a:r>
          </a:p>
          <a:p>
            <a:pPr>
              <a:spcAft>
                <a:spcPts val="400"/>
              </a:spcAft>
              <a:defRPr sz="1600"/>
            </a:pPr>
            <a:r>
              <a:t>  S8: Behavioral exchange (increasing positives; Love Maps; turning toward)</a:t>
            </a:r>
          </a:p>
          <a:p>
            <a:pPr>
              <a:spcAft>
                <a:spcPts val="400"/>
              </a:spcAft>
              <a:defRPr sz="1600"/>
            </a:pPr>
            <a:r>
              <a:rPr b="1"/>
              <a:t>PHASE 3: DEEPENING &amp; RESTRUCTURING (Sessions 9-13)</a:t>
            </a:r>
            <a:endParaRPr b="1"/>
          </a:p>
          <a:p>
            <a:pPr>
              <a:spcAft>
                <a:spcPts val="400"/>
              </a:spcAft>
              <a:defRPr sz="1600"/>
            </a:pPr>
            <a:r>
              <a:t>  S9-11: Core emotional work (EFT Steps 5-7; access &amp; share vulnerability)</a:t>
            </a:r>
          </a:p>
          <a:p>
            <a:pPr>
              <a:spcAft>
                <a:spcPts val="400"/>
              </a:spcAft>
              <a:defRPr sz="1600"/>
            </a:pPr>
            <a:r>
              <a:t>  S12: Address specific issue (sex, in-laws, finances, parenting)</a:t>
            </a:r>
          </a:p>
          <a:p>
            <a:pPr>
              <a:spcAft>
                <a:spcPts val="400"/>
              </a:spcAft>
              <a:defRPr sz="1600"/>
            </a:pPr>
            <a:r>
              <a:t>  S13: Perpetual problem dialogue (dreams-within-conflict)</a:t>
            </a:r>
          </a:p>
          <a:p>
            <a:pPr>
              <a:spcAft>
                <a:spcPts val="400"/>
              </a:spcAft>
              <a:defRPr sz="1600"/>
            </a:pPr>
            <a:r>
              <a:rPr b="1"/>
              <a:t>PHASE 4: CONSOLIDATION &amp; TERMINATION (Sessions 14-16)</a:t>
            </a:r>
          </a:p>
          <a:p>
            <a:pPr>
              <a:spcAft>
                <a:spcPts val="400"/>
              </a:spcAft>
              <a:defRPr sz="1600"/>
            </a:pPr>
            <a:r>
              <a:t>  S14: Review gains; relapse prevention; identify remaining growth areas</a:t>
            </a:r>
          </a:p>
          <a:p>
            <a:pPr>
              <a:spcAft>
                <a:spcPts val="400"/>
              </a:spcAft>
              <a:defRPr sz="1600"/>
            </a:pPr>
            <a:r>
              <a:t>  S15: Shared meaning; future rituals; renewed commitment statement</a:t>
            </a:r>
          </a:p>
          <a:p>
            <a:pPr>
              <a:spcAft>
                <a:spcPts val="400"/>
              </a:spcAft>
              <a:defRPr sz="1600"/>
            </a:pPr>
            <a:r>
              <a:t>  S16: Termination; booster session plan (1 month, 3 months, 6 months)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Ethics in Couple Therapy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Ethical Challenges Unique to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WHO IS THE CLIENT? The relationship (not either individual alone)</a:t>
            </a:r>
          </a:p>
          <a:p>
            <a:pPr>
              <a:spcAft>
                <a:spcPts val="400"/>
              </a:spcAft>
              <a:defRPr sz="1600"/>
            </a:pPr>
            <a:r>
              <a:t>  • Informed consent with BOTH partners; clarify from the start</a:t>
            </a:r>
          </a:p>
          <a:p>
            <a:pPr>
              <a:spcAft>
                <a:spcPts val="400"/>
              </a:spcAft>
              <a:defRPr sz="1600"/>
            </a:pPr>
            <a:r>
              <a:t>  • 'I am the therapist for your relationship, not for either of you individually'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CONFIDENTIALITY: The Secrets Policy (MUST establish in Session 1)</a:t>
            </a:r>
          </a:p>
          <a:p>
            <a:pPr>
              <a:spcAft>
                <a:spcPts val="400"/>
              </a:spcAft>
              <a:defRPr sz="1600"/>
            </a:pPr>
            <a:r>
              <a:t>  OPTIONS:</a:t>
            </a:r>
          </a:p>
          <a:p>
            <a:pPr>
              <a:spcAft>
                <a:spcPts val="400"/>
              </a:spcAft>
              <a:defRPr sz="1600"/>
            </a:pPr>
            <a:r>
              <a:t>  a) No secrets: Anything shared individually may be brought into conjoint sessions</a:t>
            </a:r>
          </a:p>
          <a:p>
            <a:pPr>
              <a:spcAft>
                <a:spcPts val="400"/>
              </a:spcAft>
              <a:defRPr sz="1600"/>
            </a:pPr>
            <a:r>
              <a:t>  b) Limited secrets: Therapist holds secret but may terminate if it impedes therapy</a:t>
            </a:r>
          </a:p>
          <a:p>
            <a:pPr>
              <a:spcAft>
                <a:spcPts val="400"/>
              </a:spcAft>
              <a:defRPr sz="1600"/>
            </a:pPr>
            <a:r>
              <a:t>  c) Full confidentiality: Individual content is private (problematic in couples work)</a:t>
            </a:r>
          </a:p>
          <a:p>
            <a:pPr>
              <a:spcAft>
                <a:spcPts val="400"/>
              </a:spcAft>
              <a:defRPr sz="1600"/>
            </a:pPr>
            <a:r>
              <a:t>  • RECOMMENDED: 'No secrets' policy stated explicitly at intake</a:t>
            </a:r>
          </a:p>
          <a:p>
            <a:pPr>
              <a:spcAft>
                <a:spcPts val="400"/>
              </a:spcAft>
              <a:defRPr sz="1600"/>
            </a:pPr>
            <a:r>
              <a:t>  • If affair disclosed individually: Cannot continue couples work without disclosure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NEUTRALITY / MULTI-DIRECTIONAL PARTIALITY (Boszormenyi-Nagy):</a:t>
            </a:r>
          </a:p>
          <a:p>
            <a:pPr>
              <a:spcAft>
                <a:spcPts val="400"/>
              </a:spcAft>
              <a:defRPr sz="1600"/>
            </a:pPr>
            <a:r>
              <a:t>  • Take turns being empathic with each partner; avoid coalitions</a:t>
            </a:r>
          </a:p>
          <a:p>
            <a:pPr>
              <a:spcAft>
                <a:spcPts val="400"/>
              </a:spcAft>
              <a:defRPr sz="1600"/>
            </a:pPr>
            <a:r>
              <a:t>  • Exception: Safety issues override neutrality (protect the vulnerable)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INFORMED CONSENT: Both partners consent to conjoint format</a:t>
            </a:r>
          </a:p>
          <a:p>
            <a:pPr>
              <a:spcAft>
                <a:spcPts val="400"/>
              </a:spcAft>
              <a:defRPr sz="1600"/>
            </a:pPr>
            <a:r>
              <a:t>5. DUTY TO WARN: If one partner threatens violence toward the other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The Secrets Dilemma: Clinical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81405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COMMON SECRETS IN COUPLE THERAPY:</a:t>
            </a:r>
          </a:p>
          <a:p>
            <a:pPr>
              <a:spcAft>
                <a:spcPts val="400"/>
              </a:spcAft>
              <a:defRPr sz="1600"/>
            </a:pPr>
            <a:r>
              <a:t>  • Ongoing affairs (most clinically challenging)</a:t>
            </a:r>
          </a:p>
          <a:p>
            <a:pPr>
              <a:spcAft>
                <a:spcPts val="400"/>
              </a:spcAft>
              <a:defRPr sz="1600"/>
            </a:pPr>
            <a:r>
              <a:t>  • Homosexuality/sexual orientation (not yet disclosed to partner)</a:t>
            </a:r>
          </a:p>
          <a:p>
            <a:pPr>
              <a:spcAft>
                <a:spcPts val="400"/>
              </a:spcAft>
              <a:defRPr sz="1600"/>
            </a:pPr>
            <a:r>
              <a:t>  • Financial deception (hidden debts, gambling, secret accounts)</a:t>
            </a:r>
          </a:p>
          <a:p>
            <a:pPr>
              <a:spcAft>
                <a:spcPts val="400"/>
              </a:spcAft>
              <a:defRPr sz="1600"/>
            </a:pPr>
            <a:r>
              <a:t>  • Substance use (relapse, hidden use)</a:t>
            </a:r>
          </a:p>
          <a:p>
            <a:pPr>
              <a:spcAft>
                <a:spcPts val="400"/>
              </a:spcAft>
              <a:defRPr sz="1600"/>
            </a:pPr>
            <a:r>
              <a:t>  • Past trauma (childhood sexual abuse, not yet disclosed)</a:t>
            </a:r>
          </a:p>
          <a:p>
            <a:pPr>
              <a:spcAft>
                <a:spcPts val="400"/>
              </a:spcAft>
              <a:defRPr sz="1600"/>
            </a:pPr>
            <a:r>
              <a:t>  • Ambivalence about the relationship (one foot out the door)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GUIDELINES:</a:t>
            </a:r>
          </a:p>
          <a:p>
            <a:pPr>
              <a:spcAft>
                <a:spcPts val="400"/>
              </a:spcAft>
              <a:defRPr sz="1600"/>
            </a:pPr>
            <a:r>
              <a:t>  • Establish policy BEFORE individual sessions (cannot retroactively change rules)</a:t>
            </a:r>
          </a:p>
          <a:p>
            <a:pPr>
              <a:spcAft>
                <a:spcPts val="400"/>
              </a:spcAft>
              <a:defRPr sz="1600"/>
            </a:pPr>
            <a:r>
              <a:t>  • If affair is disclosed: 'I cannot help you as a couple while this continues'</a:t>
            </a:r>
          </a:p>
          <a:p>
            <a:pPr>
              <a:spcAft>
                <a:spcPts val="400"/>
              </a:spcAft>
              <a:defRPr sz="1600"/>
            </a:pPr>
            <a:r>
              <a:t>  • Give deadline: 'You have X sessions to either end the affair or disclose'</a:t>
            </a:r>
          </a:p>
          <a:p>
            <a:pPr>
              <a:spcAft>
                <a:spcPts val="400"/>
              </a:spcAft>
              <a:defRPr sz="1600"/>
            </a:pPr>
            <a:r>
              <a:t>  • If not resolved: Therapist withdraws from case (cannot proceed with deception)</a:t>
            </a:r>
          </a:p>
          <a:p>
            <a:pPr>
              <a:spcAft>
                <a:spcPts val="400"/>
              </a:spcAft>
              <a:defRPr sz="1600"/>
            </a:pPr>
            <a:r>
              <a:t>  • Document the dilemma and your clinical reasoning</a:t>
            </a:r>
          </a:p>
          <a:p>
            <a:pPr>
              <a:spcAft>
                <a:spcPts val="400"/>
              </a:spcAft>
              <a:defRPr sz="1600"/>
            </a:pPr>
            <a:r>
              <a:t>  • Supervision: Always consult when facing ethical dilemmas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RCI Code of Ethics (2018): Duty of care; non-maleficence; respect for autonomy; justice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Documentation &amp; SOAP Notes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SOAP Notes for Couple Therapy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SUBJECTIVE (S): What the couple reported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partner's perspective on the week/presenting issue</a:t>
            </a:r>
          </a:p>
          <a:p>
            <a:pPr>
              <a:spcAft>
                <a:spcPts val="400"/>
              </a:spcAft>
              <a:defRPr sz="1600"/>
            </a:pPr>
            <a:r>
              <a:t>  • Self-reported mood, stressors, relationship events</a:t>
            </a:r>
          </a:p>
          <a:p>
            <a:pPr>
              <a:spcAft>
                <a:spcPts val="400"/>
              </a:spcAft>
              <a:defRPr sz="1600"/>
            </a:pPr>
            <a:r>
              <a:t>  • Homework completion and experience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OBJECTIVE (O): What you observed in session</a:t>
            </a:r>
          </a:p>
          <a:p>
            <a:pPr>
              <a:spcAft>
                <a:spcPts val="400"/>
              </a:spcAft>
              <a:defRPr sz="1600"/>
            </a:pPr>
            <a:r>
              <a:t>  • Interactional patterns: Who initiated? Eye contact? Physical proximity?</a:t>
            </a:r>
          </a:p>
          <a:p>
            <a:pPr>
              <a:spcAft>
                <a:spcPts val="400"/>
              </a:spcAft>
              <a:defRPr sz="1600"/>
            </a:pPr>
            <a:r>
              <a:t>  • Emotional tone: Flat, agitated, tearful, defensive, open</a:t>
            </a:r>
          </a:p>
          <a:p>
            <a:pPr>
              <a:spcAft>
                <a:spcPts val="400"/>
              </a:spcAft>
              <a:defRPr sz="1600"/>
            </a:pPr>
            <a:r>
              <a:t>  • Four Horsemen observed? Repair attempts? Turning toward/away?</a:t>
            </a:r>
          </a:p>
          <a:p>
            <a:pPr>
              <a:spcAft>
                <a:spcPts val="400"/>
              </a:spcAft>
              <a:defRPr sz="1600"/>
            </a:pPr>
            <a:r>
              <a:t>  • Non-verbal communication: Body language, sighing, eye-rolling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ASSESSMENT (A): Clinical formulation/interpretation</a:t>
            </a:r>
          </a:p>
          <a:p>
            <a:pPr>
              <a:spcAft>
                <a:spcPts val="400"/>
              </a:spcAft>
              <a:defRPr sz="1600"/>
            </a:pPr>
            <a:r>
              <a:t>  • Progress toward goals; cycle activation/de-escalation</a:t>
            </a:r>
          </a:p>
          <a:p>
            <a:pPr>
              <a:spcAft>
                <a:spcPts val="400"/>
              </a:spcAft>
              <a:defRPr sz="1600"/>
            </a:pPr>
            <a:r>
              <a:t>  • Alliance quality with each partner; risk assessment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PLAN (P): Next steps</a:t>
            </a:r>
          </a:p>
          <a:p>
            <a:pPr>
              <a:spcAft>
                <a:spcPts val="400"/>
              </a:spcAft>
              <a:defRPr sz="1600"/>
            </a:pPr>
            <a:r>
              <a:t>  • Focus for next session; homework assigned; referrals; frequency</a:t>
            </a:r>
          </a:p>
          <a:p>
            <a:pPr>
              <a:spcAft>
                <a:spcPts val="400"/>
              </a:spcAft>
              <a:defRPr sz="1600"/>
            </a:pPr>
            <a:r>
              <a:t>  • Safety concerns; follow-up needed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Documentation Best Practices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Write notes within 24 hours (memory accuracy declines rapidly)</a:t>
            </a:r>
          </a:p>
          <a:p>
            <a:pPr>
              <a:spcAft>
                <a:spcPts val="400"/>
              </a:spcAft>
              <a:defRPr sz="1600"/>
            </a:pPr>
            <a:r>
              <a:t>• Keep notes balanced: Document BOTH partners' contributions</a:t>
            </a:r>
          </a:p>
          <a:p>
            <a:pPr>
              <a:spcAft>
                <a:spcPts val="400"/>
              </a:spcAft>
              <a:defRPr sz="1600"/>
            </a:pPr>
            <a:r>
              <a:t>• Avoid taking sides in documentation (notes may be subpoenaed)</a:t>
            </a:r>
          </a:p>
          <a:p>
            <a:pPr>
              <a:spcAft>
                <a:spcPts val="400"/>
              </a:spcAft>
              <a:defRPr sz="1600"/>
            </a:pPr>
            <a:r>
              <a:t>• Document risk: DV screening results, suicidal ideation, safety plans</a:t>
            </a:r>
          </a:p>
          <a:p>
            <a:pPr>
              <a:spcAft>
                <a:spcPts val="400"/>
              </a:spcAft>
              <a:defRPr sz="1600"/>
            </a:pPr>
            <a:r>
              <a:t>• Record informed consent process: Confidentiality policy, secrets policy</a:t>
            </a:r>
          </a:p>
          <a:p>
            <a:pPr>
              <a:spcAft>
                <a:spcPts val="400"/>
              </a:spcAft>
              <a:defRPr sz="1600"/>
            </a:pPr>
            <a:r>
              <a:t>• Track therapeutic goals: Use session-by-session outcome measures </a:t>
            </a:r>
          </a:p>
          <a:p>
            <a:pPr>
              <a:spcAft>
                <a:spcPts val="400"/>
              </a:spcAft>
              <a:defRPr sz="1600"/>
            </a:pPr>
            <a:r>
              <a:t>• Cultural considerations: Note relevant cultural/contextual factors</a:t>
            </a:r>
          </a:p>
          <a:p>
            <a:pPr>
              <a:spcAft>
                <a:spcPts val="400"/>
              </a:spcAft>
              <a:defRPr sz="1600"/>
            </a:pPr>
            <a:r>
              <a:t>• Treatment plan: Written, collaborative, signed by both partners</a:t>
            </a:r>
          </a:p>
          <a:p>
            <a:pPr>
              <a:spcAft>
                <a:spcPts val="400"/>
              </a:spcAft>
              <a:defRPr sz="1600"/>
            </a:pPr>
            <a:r>
              <a:t>• Release of information: Both partners must consent to release conjoint records</a:t>
            </a:r>
          </a:p>
          <a:p>
            <a:pPr>
              <a:spcAft>
                <a:spcPts val="400"/>
              </a:spcAft>
              <a:defRPr sz="1600"/>
            </a:pPr>
            <a:r>
              <a:t>• Electronic records: Encryption; HIPAA-equivalent standards; access controls</a:t>
            </a:r>
          </a:p>
          <a:p>
            <a:pPr>
              <a:spcAft>
                <a:spcPts val="400"/>
              </a:spcAft>
              <a:defRPr sz="1600"/>
            </a:pPr>
            <a:r>
              <a:t>• Supervision notes: Separate from client file; document consultation decisions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LEGAL PROTECTION:</a:t>
            </a:r>
          </a:p>
          <a:p>
            <a:pPr>
              <a:spcAft>
                <a:spcPts val="400"/>
              </a:spcAft>
              <a:defRPr sz="1600"/>
            </a:pPr>
            <a:r>
              <a:t>  • 'If it's not documented, it didn't happen'</a:t>
            </a:r>
          </a:p>
          <a:p>
            <a:pPr>
              <a:spcAft>
                <a:spcPts val="400"/>
              </a:spcAft>
              <a:defRPr sz="1600"/>
            </a:pPr>
            <a:r>
              <a:t>  • Clear, factual, behavioral descriptions (not interpretive language)</a:t>
            </a:r>
          </a:p>
          <a:p>
            <a:pPr>
              <a:spcAft>
                <a:spcPts val="400"/>
              </a:spcAft>
              <a:defRPr sz="1600"/>
            </a:pPr>
            <a:r>
              <a:t>  • Document informed consent, confidentiality discussion, and any boundary issues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10 Commandments of Couple Therapy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10 Commandments of Couple Therapy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THOU SHALT NOT TAKE SIDES: Multi-directional partiality; relationship is the client</a:t>
            </a:r>
          </a:p>
          <a:p>
            <a:pPr>
              <a:spcAft>
                <a:spcPts val="400"/>
              </a:spcAft>
              <a:defRPr sz="1600"/>
            </a:pPr>
            <a:r>
              <a:t>2. THOU SHALT SCREEN FOR VIOLENCE: Always, individually, before any conjoint work</a:t>
            </a:r>
          </a:p>
          <a:p>
            <a:pPr>
              <a:spcAft>
                <a:spcPts val="400"/>
              </a:spcAft>
              <a:defRPr sz="1600"/>
            </a:pPr>
            <a:r>
              <a:t>3. THOU SHALT ESTABLISH A SECRETS POLICY: Before individual sessions, in writing</a:t>
            </a:r>
          </a:p>
          <a:p>
            <a:pPr>
              <a:spcAft>
                <a:spcPts val="400"/>
              </a:spcAft>
              <a:defRPr sz="1600"/>
            </a:pPr>
            <a:r>
              <a:t>4. THOU SHALT TRACK THE PROCESS, NOT JUST CONTENT: Patterns &gt; topics</a:t>
            </a:r>
          </a:p>
          <a:p>
            <a:pPr>
              <a:spcAft>
                <a:spcPts val="400"/>
              </a:spcAft>
              <a:defRPr sz="1600"/>
            </a:pPr>
            <a:r>
              <a:t>5. THOU SHALT MANAGE THY OWN COUNTERTRANSFERENCE: Supervision; personal therapy</a:t>
            </a:r>
          </a:p>
          <a:p>
            <a:pPr>
              <a:spcAft>
                <a:spcPts val="400"/>
              </a:spcAft>
              <a:defRPr sz="1600"/>
            </a:pPr>
            <a:r>
              <a:t>6. THOU SHALT NOT DO INDIVIDUAL THERAPY DISGUISED AS COUPLE THERAPY:</a:t>
            </a:r>
          </a:p>
          <a:p>
            <a:pPr>
              <a:spcAft>
                <a:spcPts val="400"/>
              </a:spcAft>
              <a:defRPr sz="1600"/>
            </a:pPr>
            <a:r>
              <a:t>   - Avoid creating identified patient; maintain systemic lens</a:t>
            </a:r>
          </a:p>
          <a:p>
            <a:pPr>
              <a:spcAft>
                <a:spcPts val="400"/>
              </a:spcAft>
              <a:defRPr sz="1600"/>
            </a:pPr>
            <a:r>
              <a:t>7. THOU SHALT RESPECT CULTURAL CONTEXT: Adapt models; don't impose Western norms</a:t>
            </a:r>
          </a:p>
          <a:p>
            <a:pPr>
              <a:spcAft>
                <a:spcPts val="400"/>
              </a:spcAft>
              <a:defRPr sz="1600"/>
            </a:pPr>
            <a:r>
              <a:t>8. THOU SHALT OBTAIN INFORMED CONSENT FROM BOTH: Goals, format, limits, recordings</a:t>
            </a:r>
          </a:p>
          <a:p>
            <a:pPr>
              <a:spcAft>
                <a:spcPts val="400"/>
              </a:spcAft>
              <a:defRPr sz="1600"/>
            </a:pPr>
            <a:r>
              <a:t>9. THOU SHALT KNOW THY LIMITS: Refer when beyond competence (sex therapy, DV, addiction)</a:t>
            </a:r>
          </a:p>
          <a:p>
            <a:pPr>
              <a:spcAft>
                <a:spcPts val="400"/>
              </a:spcAft>
              <a:defRPr sz="1600"/>
            </a:pPr>
            <a:r>
              <a:t>10. THOU SHALT MAINTAIN HOPE: Couples arrive hopeless; your belief matters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BONUS: Repair your alliance ruptures (you WILL make mistakes; acknowledge &amp; repair)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Professional Development &amp; Training Pathways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Professional Development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TRAINING PATHWAYS IN INDIA:</a:t>
            </a:r>
          </a:p>
          <a:p>
            <a:pPr>
              <a:spcAft>
                <a:spcPts val="400"/>
              </a:spcAft>
              <a:defRPr sz="1600"/>
            </a:pPr>
            <a:r>
              <a:t>  • M.Phil Clinical Psychology (RCI recognized) - 2 years</a:t>
            </a:r>
          </a:p>
          <a:p>
            <a:pPr>
              <a:spcAft>
                <a:spcPts val="400"/>
              </a:spcAft>
              <a:defRPr sz="1600"/>
            </a:pPr>
            <a:r>
              <a:t>  • Certificate/Diploma in Couple &amp; Family Therapy (NIMHANS, TISS, Medico Pastoral Assn)</a:t>
            </a:r>
          </a:p>
          <a:p>
            <a:pPr>
              <a:spcAft>
                <a:spcPts val="400"/>
              </a:spcAft>
              <a:defRPr sz="1600"/>
            </a:pPr>
            <a:r>
              <a:t>  • EFT Externship (4 days) + Core Skills Training + ICEEFT certification</a:t>
            </a:r>
          </a:p>
          <a:p>
            <a:pPr>
              <a:spcAft>
                <a:spcPts val="400"/>
              </a:spcAft>
              <a:defRPr sz="1600"/>
            </a:pPr>
            <a:r>
              <a:t>  • Gottman Level 1, 2, 3 Training (Gottman Institute; available internationally)</a:t>
            </a:r>
          </a:p>
          <a:p>
            <a:pPr>
              <a:spcAft>
                <a:spcPts val="400"/>
              </a:spcAft>
              <a:defRPr sz="1600"/>
            </a:pPr>
            <a:r>
              <a:t>  • AAMFT (American Association of Marriage &amp; Family Therapy) - international membership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COMPETENCY DEVELOPMENT:</a:t>
            </a:r>
          </a:p>
          <a:p>
            <a:pPr>
              <a:spcAft>
                <a:spcPts val="400"/>
              </a:spcAft>
              <a:defRPr sz="1600"/>
            </a:pPr>
            <a:r>
              <a:t>  • Live supervision with couples (gold standard for skill development)</a:t>
            </a:r>
          </a:p>
          <a:p>
            <a:pPr>
              <a:spcAft>
                <a:spcPts val="400"/>
              </a:spcAft>
              <a:defRPr sz="1600"/>
            </a:pPr>
            <a:r>
              <a:t>  • Video review of own sessions (with client consent)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therapy: Understanding own attachment &amp;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Reading: Stay current with journals (JMFT, Family Process, Couple &amp; Family Psychology)</a:t>
            </a:r>
          </a:p>
          <a:p>
            <a:pPr>
              <a:spcAft>
                <a:spcPts val="400"/>
              </a:spcAft>
              <a:defRPr sz="1600"/>
            </a:pPr>
            <a:r>
              <a:t>  • Peer consultation group: Monthly case discussions with colleagues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SELF-OF-THE-THERAPIST WORK:</a:t>
            </a:r>
          </a:p>
          <a:p>
            <a:pPr>
              <a:spcAft>
                <a:spcPts val="400"/>
              </a:spcAft>
              <a:defRPr sz="1600"/>
            </a:pPr>
            <a:r>
              <a:t>  • Your own attachment style affects your work with couples</a:t>
            </a:r>
          </a:p>
          <a:p>
            <a:pPr>
              <a:spcAft>
                <a:spcPts val="400"/>
              </a:spcAft>
              <a:defRPr sz="1600"/>
            </a:pPr>
            <a:r>
              <a:t>  • Countertransference: Whose side do you instinctively take? Why?</a:t>
            </a:r>
          </a:p>
          <a:p>
            <a:pPr>
              <a:spcAft>
                <a:spcPts val="400"/>
              </a:spcAft>
              <a:defRPr sz="1600"/>
            </a:pPr>
            <a:r>
              <a:t>  • Personal genogram: Know your own family patterns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Countertransference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COMMON COUNTERTRANSFERENCE REACTIONS:</a:t>
            </a:r>
          </a:p>
          <a:p>
            <a:pPr>
              <a:spcAft>
                <a:spcPts val="400"/>
              </a:spcAft>
              <a:defRPr sz="1600"/>
            </a:pPr>
            <a:r>
              <a:t>  • SIDING WITH ONE PARTNER: Identifying with the 'victim' or the 'reasonable' one</a:t>
            </a:r>
          </a:p>
          <a:p>
            <a:pPr>
              <a:spcAft>
                <a:spcPts val="400"/>
              </a:spcAft>
              <a:defRPr sz="1600"/>
            </a:pPr>
            <a:r>
              <a:t>  • RESCUING: Wanting to 'save' one partner from the other</a:t>
            </a:r>
          </a:p>
          <a:p>
            <a:pPr>
              <a:spcAft>
                <a:spcPts val="400"/>
              </a:spcAft>
              <a:defRPr sz="1600"/>
            </a:pPr>
            <a:r>
              <a:t>  • AVOIDANCE: Steering away from personally triggering topics (sex, infidelity)</a:t>
            </a:r>
          </a:p>
          <a:p>
            <a:pPr>
              <a:spcAft>
                <a:spcPts val="400"/>
              </a:spcAft>
              <a:defRPr sz="1600"/>
            </a:pPr>
            <a:r>
              <a:t>  • HOPELESSNESS: Absorbing the couple's despair; losing therapeutic neutrality</a:t>
            </a:r>
          </a:p>
          <a:p>
            <a:pPr>
              <a:spcAft>
                <a:spcPts val="400"/>
              </a:spcAft>
              <a:defRPr sz="1600"/>
            </a:pPr>
            <a:r>
              <a:t>  • AROUSAL: Sexual material in session can trigger discomfort or attraction</a:t>
            </a:r>
          </a:p>
          <a:p>
            <a:pPr>
              <a:spcAft>
                <a:spcPts val="400"/>
              </a:spcAft>
              <a:defRPr sz="1600"/>
            </a:pPr>
            <a:r>
              <a:t>  • ANGER: At controlling or abusive partner; difficulty maintaining empathy</a:t>
            </a:r>
          </a:p>
          <a:p>
            <a:pPr>
              <a:spcAft>
                <a:spcPts val="400"/>
              </a:spcAft>
              <a:defRPr sz="1600"/>
            </a:pPr>
            <a:r>
              <a:t>  • BOREDOM: With repetitive cycles; indicator of therapist disengagement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MANAGEMENT STRATEGIES:</a:t>
            </a:r>
          </a:p>
          <a:p>
            <a:pPr>
              <a:spcAft>
                <a:spcPts val="400"/>
              </a:spcAft>
              <a:defRPr sz="1600"/>
            </a:pPr>
            <a:r>
              <a:t>  • Regular supervision (peer and expert) - mandatory, not optional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 to explore own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Mindfulness practice: Notice reactions without acting on them</a:t>
            </a:r>
          </a:p>
          <a:p>
            <a:pPr>
              <a:spcAft>
                <a:spcPts val="400"/>
              </a:spcAft>
              <a:defRPr sz="1600"/>
            </a:pPr>
            <a:r>
              <a:t>  • Self-reflection after sessions: 'What got activated in me?'</a:t>
            </a:r>
          </a:p>
          <a:p>
            <a:pPr>
              <a:spcAft>
                <a:spcPts val="400"/>
              </a:spcAft>
              <a:defRPr sz="1600"/>
            </a:pPr>
            <a:r>
              <a:t>  • Know when to refer: If countertransference is unmanageable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Outcome Monitoring: Session-by-Session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ROUTINE OUTCOME MONITORING (ROM):</a:t>
            </a:r>
          </a:p>
          <a:p>
            <a:pPr>
              <a:spcAft>
                <a:spcPts val="400"/>
              </a:spcAft>
              <a:defRPr sz="1600"/>
            </a:pPr>
            <a:r>
              <a:t>  • Feedback-Informed Treatment (FIT) improves outcomes by 25-65% (Lambert, 2010)</a:t>
            </a:r>
          </a:p>
          <a:p>
            <a:pPr>
              <a:spcAft>
                <a:spcPts val="400"/>
              </a:spcAft>
              <a:defRPr sz="1600"/>
            </a:pPr>
            <a:r>
              <a:t>  • Reduces dropout by 50%; early identification of therapeutic ruptures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 TOOLS:</a:t>
            </a:r>
          </a:p>
          <a:p>
            <a:pPr>
              <a:spcAft>
                <a:spcPts val="400"/>
              </a:spcAft>
              <a:defRPr sz="1600"/>
            </a:pPr>
            <a:r>
              <a:t>  • ORS (Outcome Rating Scale - 4 items): Individual, Relational, Social, Overall</a:t>
            </a:r>
          </a:p>
          <a:p>
            <a:pPr>
              <a:spcAft>
                <a:spcPts val="400"/>
              </a:spcAft>
              <a:defRPr sz="1600"/>
            </a:pPr>
            <a:r>
              <a:t>     - Clinical cutoff: 25; score below = clinically distressed</a:t>
            </a:r>
          </a:p>
          <a:p>
            <a:pPr>
              <a:spcAft>
                <a:spcPts val="400"/>
              </a:spcAft>
              <a:defRPr sz="1600"/>
            </a:pPr>
            <a:r>
              <a:t>  • SRS (Session Rating Scale - 4 items): Relationship, Goals, Approach, Overall</a:t>
            </a:r>
          </a:p>
          <a:p>
            <a:pPr>
              <a:spcAft>
                <a:spcPts val="400"/>
              </a:spcAft>
              <a:defRPr sz="1600"/>
            </a:pPr>
            <a:r>
              <a:t>     - Score below 36 = alliance rupture; discuss immediately</a:t>
            </a:r>
          </a:p>
          <a:p>
            <a:pPr>
              <a:spcAft>
                <a:spcPts val="400"/>
              </a:spcAft>
              <a:defRPr sz="1600"/>
            </a:pPr>
            <a:r>
              <a:t>  • CSI-4 (Couple Satisfaction Index - 4 items): Quick relationship satisfaction check</a:t>
            </a:r>
          </a:p>
          <a:p>
            <a:pPr>
              <a:spcAft>
                <a:spcPts val="400"/>
              </a:spcAft>
              <a:defRPr sz="1600"/>
            </a:pPr>
            <a:r>
              <a:t>  • PHQ-2/GAD-2: Brief individual mental health screen each session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IMPLEMENTATION:</a:t>
            </a:r>
          </a:p>
          <a:p>
            <a:pPr>
              <a:spcAft>
                <a:spcPts val="400"/>
              </a:spcAft>
              <a:defRPr sz="1600"/>
            </a:pPr>
            <a:r>
              <a:t>  • Administer at START of each session (takes 30 seconds)</a:t>
            </a:r>
          </a:p>
          <a:p>
            <a:pPr>
              <a:spcAft>
                <a:spcPts val="400"/>
              </a:spcAft>
              <a:defRPr sz="1600"/>
            </a:pPr>
            <a:r>
              <a:t>  • Graph scores over time; look for trajectory</a:t>
            </a:r>
          </a:p>
          <a:p>
            <a:pPr>
              <a:spcAft>
                <a:spcPts val="400"/>
              </a:spcAft>
              <a:defRPr sz="1600"/>
            </a:pPr>
            <a:r>
              <a:t>  • Discuss with couple: 'Your scores show improvement in X but not Y...'</a:t>
            </a:r>
          </a:p>
          <a:p>
            <a:pPr>
              <a:spcAft>
                <a:spcPts val="400"/>
              </a:spcAft>
              <a:defRPr sz="1600"/>
            </a:pPr>
            <a:r>
              <a:t>  • If no change by session 6: Re-evaluate formulation; consider consultation/referral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Supplementary Content &amp; Advanced Topics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Gottman's Distance &amp; Isolation Cascade (Gottman, 1994)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CASCADE TOWARD DIVORCE (Predictive Sequence):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  Criticism → Contempt → Defensiveness → Stonewalling</a:t>
            </a:r>
          </a:p>
          <a:p>
            <a:pPr>
              <a:spcAft>
                <a:spcPts val="400"/>
              </a:spcAft>
              <a:defRPr sz="1600"/>
            </a:pPr>
            <a:r>
              <a:t>  → Flooding (DPA) →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  → Failed Repair Attempts → Rewriting History Negatively</a:t>
            </a:r>
          </a:p>
          <a:p>
            <a:pPr>
              <a:spcAft>
                <a:spcPts val="400"/>
              </a:spcAft>
              <a:defRPr sz="1600"/>
            </a:pPr>
            <a:r>
              <a:t>  → Parallel Lives (Emotional Disengagement)</a:t>
            </a:r>
          </a:p>
          <a:p>
            <a:pPr>
              <a:spcAft>
                <a:spcPts val="400"/>
              </a:spcAft>
              <a:defRPr sz="1600"/>
            </a:pPr>
            <a:r>
              <a:t>  → Loneliness → Separation/Divorce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TIPPING POINTS:</a:t>
            </a:r>
          </a:p>
          <a:p>
            <a:pPr>
              <a:spcAft>
                <a:spcPts val="400"/>
              </a:spcAft>
              <a:defRPr sz="1600"/>
            </a:pPr>
            <a:r>
              <a:t>  • When partners stop turning toward bids (ratio drops below 3:1)</a:t>
            </a:r>
          </a:p>
          <a:p>
            <a:pPr>
              <a:spcAft>
                <a:spcPts val="400"/>
              </a:spcAft>
              <a:defRPr sz="1600"/>
            </a:pPr>
            <a:r>
              <a:t>  • When positive sentiment override shifts to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  • When the 'story of us' is retold negatively (revisionist history)</a:t>
            </a:r>
          </a:p>
          <a:p>
            <a:pPr>
              <a:spcAft>
                <a:spcPts val="400"/>
              </a:spcAft>
              <a:defRPr sz="1600"/>
            </a:pPr>
            <a:r>
              <a:t>  • When one/both partners develop 'alternative attachment figure' (affair)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IMPLICATION:</a:t>
            </a:r>
          </a:p>
          <a:p>
            <a:pPr>
              <a:spcAft>
                <a:spcPts val="400"/>
              </a:spcAft>
              <a:defRPr sz="1600"/>
            </a:pPr>
            <a:r>
              <a:t>  • Early intervention is key - assess where in the cascade the couple currently is</a:t>
            </a:r>
          </a:p>
          <a:p>
            <a:pPr>
              <a:spcAft>
                <a:spcPts val="400"/>
              </a:spcAft>
              <a:defRPr sz="1600"/>
            </a:pPr>
            <a:r>
              <a:t>  • Late-stage (parallel lives) = much harder to treat; may need individual readiness work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Tango Moves (5 Therapeutic Movements)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0735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EFT TANGO (Johnson, 2019) - Core Intervention Framework: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1: REFLECTING THE PRESENT PROCESS</a:t>
            </a:r>
          </a:p>
          <a:p>
            <a:pPr>
              <a:spcAft>
                <a:spcPts val="400"/>
              </a:spcAft>
              <a:defRPr sz="1600"/>
            </a:pPr>
            <a:r>
              <a:t>  • Mirror what's happening in the room right now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2: AFFECT ASSEMBLY &amp; DEEPENING</a:t>
            </a:r>
          </a:p>
          <a:p>
            <a:pPr>
              <a:spcAft>
                <a:spcPts val="400"/>
              </a:spcAft>
              <a:defRPr sz="1600"/>
            </a:pPr>
            <a:r>
              <a:t>  • Move from secondary (anger, numbing) to primary emotion (fear, sadness, shame)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3: CHOREOGRAPHING ENGAGED ENCOUNTER</a:t>
            </a:r>
          </a:p>
          <a:p>
            <a:pPr>
              <a:spcAft>
                <a:spcPts val="400"/>
              </a:spcAft>
              <a:defRPr sz="1600"/>
            </a:pPr>
            <a:r>
              <a:t>  • Set up enactment: 'Can you turn and tell them what you just told me?'</a:t>
            </a:r>
          </a:p>
          <a:p>
            <a:pPr>
              <a:spcAft>
                <a:spcPts val="400"/>
              </a:spcAft>
              <a:defRPr sz="1600"/>
            </a:pPr>
            <a:r>
              <a:t>  • The moment of change: Vulnerable sharing → responsive partner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4: PROCESSING THE ENCOUNTER</a:t>
            </a:r>
          </a:p>
          <a:p>
            <a:pPr>
              <a:spcAft>
                <a:spcPts val="400"/>
              </a:spcAft>
              <a:defRPr sz="1600"/>
            </a:pPr>
            <a:r>
              <a:t>  • 'What was it like to hear that? What happened for you?'</a:t>
            </a:r>
          </a:p>
          <a:p>
            <a:pPr>
              <a:spcAft>
                <a:spcPts val="400"/>
              </a:spcAft>
              <a:defRPr sz="1600"/>
            </a:pPr>
            <a:r>
              <a:t>  • Integrate the new experience; make meaning of it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5: INTEGRATING &amp; VALIDATING</a:t>
            </a:r>
          </a:p>
          <a:p>
            <a:pPr>
              <a:spcAft>
                <a:spcPts val="400"/>
              </a:spcAft>
              <a:defRPr sz="1600"/>
            </a:pPr>
            <a:r>
              <a:t>  • Name the new pattern; validate courage; anchor the shift</a:t>
            </a:r>
          </a:p>
          <a:p>
            <a:pPr>
              <a:spcAft>
                <a:spcPts val="400"/>
              </a:spcAft>
              <a:defRPr sz="1600"/>
            </a:pPr>
            <a:r>
              <a:t>  • 'This is different from your usual dance. You took a risk and they caught you.'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Gottman's ATTUNE Model for Rebuilding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24560"/>
            <a:ext cx="10972800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ATTUNE = Micro-skills for everyday emotional connection: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 = AWARENESS of partner's emotions</a:t>
            </a:r>
          </a:p>
          <a:p>
            <a:pPr>
              <a:spcAft>
                <a:spcPts val="400"/>
              </a:spcAft>
              <a:defRPr sz="1600"/>
            </a:pPr>
            <a:r>
              <a:t>  • Notice when partner is stressed, sad, anxious - without being told</a:t>
            </a:r>
          </a:p>
          <a:p>
            <a:pPr>
              <a:spcAft>
                <a:spcPts val="400"/>
              </a:spcAft>
              <a:defRPr sz="1600"/>
            </a:pPr>
            <a:r>
              <a:t>T = TOLERANCE: Accept that partner's feelings are valid</a:t>
            </a:r>
          </a:p>
          <a:p>
            <a:pPr>
              <a:spcAft>
                <a:spcPts val="400"/>
              </a:spcAft>
              <a:defRPr sz="1600"/>
            </a:pPr>
            <a:r>
              <a:t>  • Don't dismiss, fix, or minimize their experience</a:t>
            </a:r>
          </a:p>
          <a:p>
            <a:pPr>
              <a:spcAft>
                <a:spcPts val="400"/>
              </a:spcAft>
              <a:defRPr sz="1600"/>
            </a:pPr>
            <a:r>
              <a:t>T = TURNING TOWARD the partner's emotional need</a:t>
            </a:r>
          </a:p>
          <a:p>
            <a:pPr>
              <a:spcAft>
                <a:spcPts val="400"/>
              </a:spcAft>
              <a:defRPr sz="1600"/>
            </a:pPr>
            <a:r>
              <a:t>  • Physically and emotionally orient toward them when they bid</a:t>
            </a:r>
          </a:p>
          <a:p>
            <a:pPr>
              <a:spcAft>
                <a:spcPts val="400"/>
              </a:spcAft>
              <a:defRPr sz="1600"/>
            </a:pPr>
            <a:r>
              <a:t>U = UNDERSTANDING: Seek to understand their subjective experience</a:t>
            </a:r>
          </a:p>
          <a:p>
            <a:pPr>
              <a:spcAft>
                <a:spcPts val="400"/>
              </a:spcAft>
              <a:defRPr sz="1600"/>
            </a:pPr>
            <a:r>
              <a:t>  • Ask questions; listen without judgment; empathize</a:t>
            </a:r>
          </a:p>
          <a:p>
            <a:pPr>
              <a:spcAft>
                <a:spcPts val="400"/>
              </a:spcAft>
              <a:defRPr sz="1600"/>
            </a:pPr>
            <a:r>
              <a:t>N = NON-DEFENSIVE responding</a:t>
            </a:r>
          </a:p>
          <a:p>
            <a:pPr>
              <a:spcAft>
                <a:spcPts val="400"/>
              </a:spcAft>
              <a:defRPr sz="1600"/>
            </a:pPr>
            <a:r>
              <a:t>  • Accept influence; take responsibility; don't counter-attack</a:t>
            </a:r>
          </a:p>
          <a:p>
            <a:pPr>
              <a:spcAft>
                <a:spcPts val="400"/>
              </a:spcAft>
              <a:defRPr sz="1600"/>
            </a:pPr>
            <a:r>
              <a:t>E = EMPATHY: Communicate 'I feel with you; you're not alone'</a:t>
            </a:r>
          </a:p>
          <a:p>
            <a:pPr>
              <a:spcAft>
                <a:spcPts val="400"/>
              </a:spcAft>
              <a:defRPr sz="1600"/>
            </a:pPr>
            <a:r>
              <a:t>  • Emotional resonance; 'I can imagine how painful that must be'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Practice: Daily stress-reducing conversation (20 min; external stress only)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The Gottman-Rapoport Blueprint for Conflict (3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PHASE 1: UNDERSTANDING (Not solving yet!)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 is the SPEAKER while other is LISTENER</a:t>
            </a:r>
          </a:p>
          <a:p>
            <a:pPr>
              <a:spcAft>
                <a:spcPts val="400"/>
              </a:spcAft>
              <a:defRPr sz="1600"/>
            </a:pPr>
            <a:r>
              <a:t>  • Listener's job: Postpone own agenda; summarize; validate (not agree)</a:t>
            </a:r>
          </a:p>
          <a:p>
            <a:pPr>
              <a:spcAft>
                <a:spcPts val="400"/>
              </a:spcAft>
              <a:defRPr sz="1600"/>
            </a:pPr>
            <a:r>
              <a:t>  • Switch roles: Now the other partner speaks; first partner listens</a:t>
            </a:r>
          </a:p>
          <a:p>
            <a:pPr>
              <a:spcAft>
                <a:spcPts val="400"/>
              </a:spcAft>
              <a:defRPr sz="1600"/>
            </a:pPr>
            <a:r>
              <a:t>  • Goal: Both feel understood (not necessarily agreed with)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2: COMPROMISE &amp; PROBLEM-SOLVING</a:t>
            </a:r>
          </a:p>
          <a:p>
            <a:pPr>
              <a:spcAft>
                <a:spcPts val="400"/>
              </a:spcAft>
              <a:defRPr sz="1600"/>
            </a:pPr>
            <a:r>
              <a:t>  • Only after BOTH feel heard - now collaborate on solutions</a:t>
            </a:r>
          </a:p>
          <a:p>
            <a:pPr>
              <a:spcAft>
                <a:spcPts val="400"/>
              </a:spcAft>
              <a:defRPr sz="1600"/>
            </a:pPr>
            <a:r>
              <a:t>  • Two circles exercise: Inner circle = cannot give on; Outer = flexible</a:t>
            </a:r>
          </a:p>
          <a:p>
            <a:pPr>
              <a:spcAft>
                <a:spcPts val="400"/>
              </a:spcAft>
              <a:defRPr sz="1600"/>
            </a:pPr>
            <a:r>
              <a:t>  • Build a TEMPORARY compromise from the overlapping 'outer circles'</a:t>
            </a:r>
          </a:p>
          <a:p>
            <a:pPr>
              <a:spcAft>
                <a:spcPts val="400"/>
              </a:spcAft>
              <a:defRPr sz="1600"/>
            </a:pPr>
            <a:r>
              <a:t>  • Accept influence from partner (especially important for men; Gottman, 1999)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3: REPAIR &amp; AFTERMATH</a:t>
            </a:r>
          </a:p>
          <a:p>
            <a:pPr>
              <a:spcAft>
                <a:spcPts val="400"/>
              </a:spcAft>
              <a:defRPr sz="1600"/>
            </a:pPr>
            <a:r>
              <a:t>  • If conversation goes off track: Use repair attempts</a:t>
            </a:r>
          </a:p>
          <a:p>
            <a:pPr>
              <a:spcAft>
                <a:spcPts val="400"/>
              </a:spcAft>
              <a:defRPr sz="1600"/>
            </a:pPr>
            <a:r>
              <a:t>  • If failed: Take 20-min break, then use Aftermath of a Fight protocol</a:t>
            </a:r>
          </a:p>
          <a:p>
            <a:pPr>
              <a:spcAft>
                <a:spcPts val="400"/>
              </a:spcAft>
              <a:defRPr sz="1600"/>
            </a:pPr>
            <a:r>
              <a:t>  • If perpetual: Use Dreams-Within-Conflict intervention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NOTE: 'Understanding must precede advice' (Gottman-Rapoport rule)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EFIT for Blocked Partners &amp; Individual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Sometimes one partner is too blocked/defended for EFT couples work</a:t>
            </a:r>
          </a:p>
          <a:p>
            <a:pPr>
              <a:spcAft>
                <a:spcPts val="400"/>
              </a:spcAft>
              <a:defRPr sz="1600"/>
            </a:pPr>
            <a:r>
              <a:t>• EFIT (Johnson, 2017): Individual therapy using EFT framework</a:t>
            </a:r>
          </a:p>
          <a:p>
            <a:pPr>
              <a:spcAft>
                <a:spcPts val="400"/>
              </a:spcAft>
              <a:defRPr sz="1600"/>
            </a:pPr>
            <a:r>
              <a:t>• Accesses attachment emotions in a safe individual space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WHEN TO CONSIDER INDIVIDUAL SESSIONS:</a:t>
            </a:r>
          </a:p>
          <a:p>
            <a:pPr>
              <a:spcAft>
                <a:spcPts val="400"/>
              </a:spcAft>
              <a:defRPr sz="1600"/>
            </a:pPr>
            <a:r>
              <a:t>  • History of complex trauma (especially childhood attachment trauma)</a:t>
            </a:r>
          </a:p>
          <a:p>
            <a:pPr>
              <a:spcAft>
                <a:spcPts val="400"/>
              </a:spcAft>
              <a:defRPr sz="1600"/>
            </a:pPr>
            <a:r>
              <a:t>  • Severe alexithymia (cannot identify or name emotions)</a:t>
            </a:r>
          </a:p>
          <a:p>
            <a:pPr>
              <a:spcAft>
                <a:spcPts val="400"/>
              </a:spcAft>
              <a:defRPr sz="1600"/>
            </a:pPr>
            <a:r>
              <a:t>  • Extreme avoidance that prevents any vulnerability in conjoint</a:t>
            </a:r>
          </a:p>
          <a:p>
            <a:pPr>
              <a:spcAft>
                <a:spcPts val="400"/>
              </a:spcAft>
              <a:defRPr sz="1600"/>
            </a:pPr>
            <a:r>
              <a:t>  • Depression or anxiety severe enough to prevent engagement</a:t>
            </a:r>
          </a:p>
          <a:p>
            <a:pPr>
              <a:spcAft>
                <a:spcPts val="400"/>
              </a:spcAft>
              <a:defRPr sz="1600"/>
            </a:pPr>
            <a:r>
              <a:t>  • Processing an attachment injury too raw for partner to witness yet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FORMAT:</a:t>
            </a:r>
          </a:p>
          <a:p>
            <a:pPr>
              <a:spcAft>
                <a:spcPts val="400"/>
              </a:spcAft>
              <a:defRPr sz="1600"/>
            </a:pPr>
            <a:r>
              <a:t>  • Typically 3-5 individual sessions interspersed with conjoint work</a:t>
            </a:r>
          </a:p>
          <a:p>
            <a:pPr>
              <a:spcAft>
                <a:spcPts val="400"/>
              </a:spcAft>
              <a:defRPr sz="1600"/>
            </a:pPr>
            <a:r>
              <a:t>  • Same therapist (maintains trust) or different (if boundary concerns)</a:t>
            </a:r>
          </a:p>
          <a:p>
            <a:pPr>
              <a:spcAft>
                <a:spcPts val="400"/>
              </a:spcAft>
              <a:defRPr sz="1600"/>
            </a:pPr>
            <a:r>
              <a:t>  • Content can be brought into conjoint with permission</a:t>
            </a:r>
          </a:p>
          <a:p>
            <a:pPr>
              <a:spcAft>
                <a:spcPts val="400"/>
              </a:spcAft>
              <a:defRPr sz="1600"/>
            </a:pPr>
            <a:r>
              <a:t>  • Goal: Build emotional capacity so the partner CAN engage in EFT Steps 5-7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Working with Ambivalence: Mixed-Agenda Couples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Common scenario: One partner wants to work on marriage; other is ambivalent/leaving</a:t>
            </a:r>
          </a:p>
          <a:p>
            <a:pPr>
              <a:spcAft>
                <a:spcPts val="400"/>
              </a:spcAft>
              <a:defRPr sz="1600"/>
            </a:pPr>
            <a:r>
              <a:t>• 'Mixed-agenda' = partners have different goals for therapy (Doherty, 2013)</a:t>
            </a:r>
          </a:p>
          <a:p>
            <a:pPr>
              <a:spcAft>
                <a:spcPts val="400"/>
              </a:spcAft>
              <a:defRPr sz="1600"/>
            </a:pPr>
            <a:r>
              <a:t>• Cannot do standard couple therapy if one partner has decided to leave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OPTIONS:</a:t>
            </a:r>
          </a:p>
          <a:p>
            <a:pPr>
              <a:spcAft>
                <a:spcPts val="400"/>
              </a:spcAft>
              <a:defRPr sz="1600"/>
            </a:pPr>
            <a:r>
              <a:t>  • DISCERNMENT COUNSELLING (Doherty, 2013): 1-5 sessions</a:t>
            </a:r>
          </a:p>
          <a:p>
            <a:pPr>
              <a:spcAft>
                <a:spcPts val="400"/>
              </a:spcAft>
              <a:defRPr sz="1600"/>
            </a:pPr>
            <a:r>
              <a:t>    - Not therapy; it's a decision-making process</a:t>
            </a:r>
          </a:p>
          <a:p>
            <a:pPr>
              <a:spcAft>
                <a:spcPts val="400"/>
              </a:spcAft>
              <a:defRPr sz="1600"/>
            </a:pPr>
            <a:r>
              <a:t>    - Three paths: Status quo, divorce, or 6-month all-out effort</a:t>
            </a:r>
          </a:p>
          <a:p>
            <a:pPr>
              <a:spcAft>
                <a:spcPts val="400"/>
              </a:spcAft>
              <a:defRPr sz="1600"/>
            </a:pPr>
            <a:r>
              <a:t>    - Each partner explores their own contribution to problems</a:t>
            </a:r>
          </a:p>
          <a:p>
            <a:pPr>
              <a:spcAft>
                <a:spcPts val="400"/>
              </a:spcAft>
              <a:defRPr sz="1600"/>
            </a:pPr>
            <a:r>
              <a:t>    - Leaning-out partner: What would make you confident enough to try?</a:t>
            </a:r>
          </a:p>
          <a:p>
            <a:pPr>
              <a:spcAft>
                <a:spcPts val="400"/>
              </a:spcAft>
              <a:defRPr sz="1600"/>
            </a:pPr>
            <a:r>
              <a:t>    - Leaning-in partner: What would you change about yourself?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Assess commitment level in individual sessions (1-10 scale)</a:t>
            </a:r>
          </a:p>
          <a:p>
            <a:pPr>
              <a:spcAft>
                <a:spcPts val="400"/>
              </a:spcAft>
              <a:defRPr sz="1600"/>
            </a:pPr>
            <a:r>
              <a:t>  If below 5: Discernment counselling, not couple therapy</a:t>
            </a:r>
          </a:p>
          <a:p>
            <a:pPr>
              <a:spcAft>
                <a:spcPts val="400"/>
              </a:spcAft>
              <a:defRPr sz="1600"/>
            </a:pPr>
            <a:r>
              <a:t>  If both above 7: Proceed with chosen modality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Cross-Cultural Considerations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899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Majority of couple therapy models developed in Western, individualist contexts</a:t>
            </a:r>
          </a:p>
          <a:p>
            <a:pPr>
              <a:spcAft>
                <a:spcPts val="400"/>
              </a:spcAft>
              <a:defRPr sz="1600"/>
            </a:pPr>
            <a:r>
              <a:t>• Adaptation needed for Indian/collectivist couples (Mittal &amp; Hardy, 2005)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ADAPTATIONS:</a:t>
            </a:r>
          </a:p>
          <a:p>
            <a:pPr>
              <a:spcAft>
                <a:spcPts val="400"/>
              </a:spcAft>
              <a:defRPr sz="1600"/>
            </a:pPr>
            <a:r>
              <a:t>  • Include extended family in formulation (even if not in room)</a:t>
            </a:r>
          </a:p>
          <a:p>
            <a:pPr>
              <a:spcAft>
                <a:spcPts val="400"/>
              </a:spcAft>
              <a:defRPr sz="1600"/>
            </a:pPr>
            <a:r>
              <a:t>  • Respect filial piety while establishing marital boundary</a:t>
            </a:r>
          </a:p>
          <a:p>
            <a:pPr>
              <a:spcAft>
                <a:spcPts val="400"/>
              </a:spcAft>
              <a:defRPr sz="1600"/>
            </a:pPr>
            <a:r>
              <a:t>  • Gender role expectations: Explore without imposing egalitarian model</a:t>
            </a:r>
          </a:p>
          <a:p>
            <a:pPr>
              <a:spcAft>
                <a:spcPts val="400"/>
              </a:spcAft>
              <a:defRPr sz="1600"/>
            </a:pPr>
            <a:r>
              <a:t>  • Religious/spiritual dimensions: Can be therapeutic resource</a:t>
            </a:r>
          </a:p>
          <a:p>
            <a:pPr>
              <a:spcAft>
                <a:spcPts val="400"/>
              </a:spcAft>
              <a:defRPr sz="1600"/>
            </a:pPr>
            <a:r>
              <a:t>  • Language: Therapy in mother tongue accesses deeper emotion</a:t>
            </a:r>
          </a:p>
          <a:p>
            <a:pPr>
              <a:spcAft>
                <a:spcPts val="400"/>
              </a:spcAft>
              <a:defRPr sz="1600"/>
            </a:pPr>
            <a:r>
              <a:t>  • Shame: Higher in collectivist cultures; normalize carefully</a:t>
            </a:r>
          </a:p>
          <a:p>
            <a:pPr>
              <a:spcAft>
                <a:spcPts val="400"/>
              </a:spcAft>
              <a:defRPr sz="1600"/>
            </a:pPr>
            <a:r>
              <a:t>  • Saving face (izzat): Both partners need to maintain dignity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AVOID:</a:t>
            </a:r>
          </a:p>
          <a:p>
            <a:pPr>
              <a:spcAft>
                <a:spcPts val="400"/>
              </a:spcAft>
              <a:defRPr sz="1600"/>
            </a:pPr>
            <a:r>
              <a:t>  • Pathologizing arranged marriage or joint family systems</a:t>
            </a:r>
          </a:p>
          <a:p>
            <a:pPr>
              <a:spcAft>
                <a:spcPts val="400"/>
              </a:spcAft>
              <a:defRPr sz="1600"/>
            </a:pPr>
            <a:r>
              <a:t>  • Imposing individual autonomy as the only healthy model</a:t>
            </a:r>
          </a:p>
          <a:p>
            <a:pPr>
              <a:spcAft>
                <a:spcPts val="400"/>
              </a:spcAft>
              <a:defRPr sz="1600"/>
            </a:pPr>
            <a:r>
              <a:t>  • Ignoring economic realities (cannot leave if financially dependent)</a:t>
            </a:r>
          </a:p>
          <a:p>
            <a:pPr>
              <a:spcAft>
                <a:spcPts val="400"/>
              </a:spcAft>
              <a:defRPr sz="1600"/>
            </a:pPr>
            <a:r>
              <a:t>  • Assuming Western communication styles (directness) are superior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Balance: Human universals (attachment needs) + Cultural specifics (how expressed)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Working with Finances &amp; Money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Financial conflict = second most common cause of divorce (Dew et al., 2012)</a:t>
            </a:r>
          </a:p>
          <a:p>
            <a:pPr>
              <a:spcAft>
                <a:spcPts val="400"/>
              </a:spcAft>
              <a:defRPr sz="1600"/>
            </a:pPr>
            <a:r>
              <a:t>• Money represents: Power, security, freedom, love, control, values</a:t>
            </a:r>
          </a:p>
          <a:p>
            <a:pPr>
              <a:spcAft>
                <a:spcPts val="400"/>
              </a:spcAft>
              <a:defRPr sz="1600"/>
            </a:pPr>
            <a:r>
              <a:t>• Financial infidelity: Secret accounts, hidden debts, undisclosed spending (33% of couples)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ASSESSMENT: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partner's money 'story' (family of origin relationship with money)</a:t>
            </a:r>
          </a:p>
          <a:p>
            <a:pPr>
              <a:spcAft>
                <a:spcPts val="400"/>
              </a:spcAft>
              <a:defRPr sz="1600"/>
            </a:pPr>
            <a:r>
              <a:t>  • Current financial situation: Income, debts, assets, insurance</a:t>
            </a:r>
          </a:p>
          <a:p>
            <a:pPr>
              <a:spcAft>
                <a:spcPts val="400"/>
              </a:spcAft>
              <a:defRPr sz="1600"/>
            </a:pPr>
            <a:r>
              <a:t>  • Money management style: Saver vs. spender; planner vs. spontaneous</a:t>
            </a:r>
          </a:p>
          <a:p>
            <a:pPr>
              <a:spcAft>
                <a:spcPts val="400"/>
              </a:spcAft>
              <a:defRPr sz="1600"/>
            </a:pPr>
            <a:r>
              <a:t>  • Power dynamics: Who earns more? Who controls spending?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Genogram: Money messages from family of origin ('Money is...')</a:t>
            </a:r>
          </a:p>
          <a:p>
            <a:pPr>
              <a:spcAft>
                <a:spcPts val="400"/>
              </a:spcAft>
              <a:defRPr sz="1600"/>
            </a:pPr>
            <a:r>
              <a:t>  • Values clarification: What does money mean to each partner?</a:t>
            </a:r>
          </a:p>
          <a:p>
            <a:pPr>
              <a:spcAft>
                <a:spcPts val="400"/>
              </a:spcAft>
              <a:defRPr sz="1600"/>
            </a:pPr>
            <a:r>
              <a:t>  • Practical: Monthly money meeting; transparent budgeting; yours/mine/ours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Communication: Speaker-Listener for financial discussions</a:t>
            </a:r>
          </a:p>
          <a:p>
            <a:pPr>
              <a:spcAft>
                <a:spcPts val="400"/>
              </a:spcAft>
              <a:defRPr sz="1600"/>
            </a:pPr>
            <a:r>
              <a:t>  • Referral to financial counselor for complex situations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Dowry expectations; in-law financial demands; gold as security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Parenting Alliance &amp; Co-Parenting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Transition to parenthood: Satisfaction drops 40-70% in first year (Gottman, 2012)</a:t>
            </a:r>
          </a:p>
          <a:p>
            <a:pPr>
              <a:spcAft>
                <a:spcPts val="400"/>
              </a:spcAft>
              <a:defRPr sz="1600"/>
            </a:pPr>
            <a:r>
              <a:t>• Key protective factor: Strong friendship BEFORE baby arrives</a:t>
            </a:r>
          </a:p>
          <a:p>
            <a:pPr>
              <a:spcAft>
                <a:spcPts val="400"/>
              </a:spcAft>
              <a:defRPr sz="1600"/>
            </a:pPr>
            <a:r>
              <a:t>• Unequal division of childcare: Major source of resentment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PARENTING ALLIANCE ASSESSMENT:</a:t>
            </a:r>
          </a:p>
          <a:p>
            <a:pPr>
              <a:spcAft>
                <a:spcPts val="400"/>
              </a:spcAft>
              <a:defRPr sz="1600"/>
            </a:pPr>
            <a:r>
              <a:t>  • Do parents agree on discipline style? Consistent rules?</a:t>
            </a:r>
          </a:p>
          <a:p>
            <a:pPr>
              <a:spcAft>
                <a:spcPts val="400"/>
              </a:spcAft>
              <a:defRPr sz="1600"/>
            </a:pPr>
            <a:r>
              <a:t>  • Does one parent undermine the other? (splits in authority)</a:t>
            </a:r>
          </a:p>
          <a:p>
            <a:pPr>
              <a:spcAft>
                <a:spcPts val="400"/>
              </a:spcAft>
              <a:defRPr sz="1600"/>
            </a:pPr>
            <a:r>
              <a:t>  • Is child triangulated? (used as messenger, confidant, or weapon)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'Bringing Baby Home' program (Gottman): Transition to parenthood workshop</a:t>
            </a:r>
          </a:p>
          <a:p>
            <a:pPr>
              <a:spcAft>
                <a:spcPts val="400"/>
              </a:spcAft>
              <a:defRPr sz="1600"/>
            </a:pPr>
            <a:r>
              <a:t>  • United front: Parents discuss differences PRIVATELY, present consistent to child</a:t>
            </a:r>
          </a:p>
          <a:p>
            <a:pPr>
              <a:spcAft>
                <a:spcPts val="400"/>
              </a:spcAft>
              <a:defRPr sz="1600"/>
            </a:pPr>
            <a:r>
              <a:t>  • Protect couple time: Regular date nights; couple identity beyond 'parents'</a:t>
            </a:r>
          </a:p>
          <a:p>
            <a:pPr>
              <a:spcAft>
                <a:spcPts val="400"/>
              </a:spcAft>
              <a:defRPr sz="1600"/>
            </a:pPr>
            <a:r>
              <a:t>  • Structural: Strengthen parental subsystem (Minuchin); clear hierarchy</a:t>
            </a:r>
          </a:p>
          <a:p>
            <a:pPr>
              <a:spcAft>
                <a:spcPts val="400"/>
              </a:spcAft>
              <a:defRPr sz="1600"/>
            </a:pPr>
            <a:r>
              <a:t>  • If separated: Parallel parenting (low-conflict) or cooperative co-parenting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Grandparents as co-parents; conflicting advice from in-laws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Forgiveness &amp; Reconciliation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FORGIVENESS (Worthington, 2005; Enright &amp; Fitzgibbons, 2015):</a:t>
            </a:r>
          </a:p>
          <a:p>
            <a:pPr>
              <a:spcAft>
                <a:spcPts val="400"/>
              </a:spcAft>
              <a:defRPr sz="1600"/>
            </a:pPr>
            <a:r>
              <a:t>  • Forgiveness ≠ Condoning, excusing, forgetting, or reconciling</a:t>
            </a:r>
          </a:p>
          <a:p>
            <a:pPr>
              <a:spcAft>
                <a:spcPts val="400"/>
              </a:spcAft>
              <a:defRPr sz="1600"/>
            </a:pPr>
            <a:r>
              <a:t>  • Forgiveness = Letting go of desire for revenge; releasing resentment</a:t>
            </a:r>
          </a:p>
          <a:p>
            <a:pPr>
              <a:spcAft>
                <a:spcPts val="400"/>
              </a:spcAft>
              <a:defRPr sz="1600"/>
            </a:pPr>
            <a:r>
              <a:t>  • It is a PROCESS, not an event (takes time; cannot be forced)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REACH MODEL (Worthington, 2005):</a:t>
            </a:r>
          </a:p>
          <a:p>
            <a:pPr>
              <a:spcAft>
                <a:spcPts val="400"/>
              </a:spcAft>
              <a:defRPr sz="1600"/>
            </a:pPr>
            <a:r>
              <a:t>  R = Recall the hurt (face it honestly, don't minimize)</a:t>
            </a:r>
          </a:p>
          <a:p>
            <a:pPr>
              <a:spcAft>
                <a:spcPts val="400"/>
              </a:spcAft>
              <a:defRPr sz="1600"/>
            </a:pPr>
            <a:r>
              <a:t>  E = Empathize with the offending partner (understand their context)</a:t>
            </a:r>
          </a:p>
          <a:p>
            <a:pPr>
              <a:spcAft>
                <a:spcPts val="400"/>
              </a:spcAft>
              <a:defRPr sz="1600"/>
            </a:pPr>
            <a:r>
              <a:t>  A = Altruistic gift of forgiveness (choose to give what you didn't receive)</a:t>
            </a:r>
          </a:p>
          <a:p>
            <a:pPr>
              <a:spcAft>
                <a:spcPts val="400"/>
              </a:spcAft>
              <a:defRPr sz="1600"/>
            </a:pPr>
            <a:r>
              <a:t>  C = Commit publicly to forgive (tell partner, write a letter, ceremony)</a:t>
            </a:r>
          </a:p>
          <a:p>
            <a:pPr>
              <a:spcAft>
                <a:spcPts val="400"/>
              </a:spcAft>
              <a:defRPr sz="1600"/>
            </a:pPr>
            <a:r>
              <a:t>  H = Hold on to forgiveness when doubts arise (it's normal to fluctuate)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CONSIDERATIONS:</a:t>
            </a:r>
          </a:p>
          <a:p>
            <a:pPr>
              <a:spcAft>
                <a:spcPts val="400"/>
              </a:spcAft>
              <a:defRPr sz="1600"/>
            </a:pPr>
            <a:r>
              <a:t>  • Cannot forgive if hurt is ongoing (affair must END before forgiveness)</a:t>
            </a:r>
          </a:p>
          <a:p>
            <a:pPr>
              <a:spcAft>
                <a:spcPts val="400"/>
              </a:spcAft>
              <a:defRPr sz="1600"/>
            </a:pPr>
            <a:r>
              <a:t>  • Premature forgiveness = emotional avoidance (ensure genuine processing first)</a:t>
            </a:r>
          </a:p>
          <a:p>
            <a:pPr>
              <a:spcAft>
                <a:spcPts val="400"/>
              </a:spcAft>
              <a:defRPr sz="1600"/>
            </a:pPr>
            <a:r>
              <a:t>  • Trust is rebuilt through consistent actions over time (not just words/apology)</a:t>
            </a:r>
          </a:p>
          <a:p>
            <a:pPr>
              <a:spcAft>
                <a:spcPts val="400"/>
              </a:spcAft>
              <a:defRPr sz="1600"/>
            </a:pPr>
            <a:r>
              <a:t>  • Indian context: Family pressure to 'forgive and adjust' - be cautious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Integrative Approaches: Choosing the Right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DECISION TREE FOR MODEL SELECTION: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High emotional avoidance + Attachment injuries → EFT</a:t>
            </a:r>
          </a:p>
          <a:p>
            <a:pPr>
              <a:spcAft>
                <a:spcPts val="400"/>
              </a:spcAft>
              <a:defRPr sz="1600"/>
            </a:pPr>
            <a:r>
              <a:t>• Skill deficits + Mild-moderate distress → Gottman Method or CBCT</a:t>
            </a:r>
          </a:p>
          <a:p>
            <a:pPr>
              <a:spcAft>
                <a:spcPts val="400"/>
              </a:spcAft>
              <a:defRPr sz="1600"/>
            </a:pPr>
            <a:r>
              <a:t>• Entrenched patterns + Acceptance needed → IBCT</a:t>
            </a:r>
          </a:p>
          <a:p>
            <a:pPr>
              <a:spcAft>
                <a:spcPts val="400"/>
              </a:spcAft>
              <a:defRPr sz="1600"/>
            </a:pPr>
            <a:r>
              <a:t>• Domestic violence (situational) → Safety-first + modified CBCT</a:t>
            </a:r>
          </a:p>
          <a:p>
            <a:pPr>
              <a:spcAft>
                <a:spcPts val="400"/>
              </a:spcAft>
              <a:defRPr sz="1600"/>
            </a:pPr>
            <a:r>
              <a:t>• External stressors primary → Structural/systemic + psychoeducation</a:t>
            </a:r>
          </a:p>
          <a:p>
            <a:pPr>
              <a:spcAft>
                <a:spcPts val="400"/>
              </a:spcAft>
              <a:defRPr sz="1600"/>
            </a:pPr>
            <a:r>
              <a:t>• Narrative problems (oppressive stories) → Narrative therapy</a:t>
            </a:r>
          </a:p>
          <a:p>
            <a:pPr>
              <a:spcAft>
                <a:spcPts val="400"/>
              </a:spcAft>
              <a:defRPr sz="1600"/>
            </a:pPr>
            <a:r>
              <a:t>• Brief/solution-focused needs → SFBT (3-8 sessions)</a:t>
            </a:r>
          </a:p>
          <a:p>
            <a:pPr>
              <a:spcAft>
                <a:spcPts val="400"/>
              </a:spcAft>
              <a:defRPr sz="1600"/>
            </a:pPr>
            <a:r>
              <a:t>• Intercultural/power issues → Feminist/multicultural approaches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PLURALISTIC STANCE (Cooper &amp; McLeod, 2011):</a:t>
            </a:r>
          </a:p>
          <a:p>
            <a:pPr>
              <a:spcAft>
                <a:spcPts val="400"/>
              </a:spcAft>
              <a:defRPr sz="1600"/>
            </a:pPr>
            <a:r>
              <a:t>  • No single model works for all couples - be flexible</a:t>
            </a:r>
          </a:p>
          <a:p>
            <a:pPr>
              <a:spcAft>
                <a:spcPts val="400"/>
              </a:spcAft>
              <a:defRPr sz="1600"/>
            </a:pPr>
            <a:r>
              <a:t>  • Collaborative goal-setting: Ask couple what would help</a:t>
            </a:r>
          </a:p>
          <a:p>
            <a:pPr>
              <a:spcAft>
                <a:spcPts val="400"/>
              </a:spcAft>
              <a:defRPr sz="1600"/>
            </a:pPr>
            <a:r>
              <a:t>  • Track outcomes: If not working by session 6, pivot approach</a:t>
            </a:r>
          </a:p>
          <a:p>
            <a:pPr>
              <a:spcAft>
                <a:spcPts val="400"/>
              </a:spcAft>
              <a:defRPr sz="1600"/>
            </a:pPr>
            <a:r>
              <a:t>  • Core competencies across models: Empathy, alliance, reframe, enactment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APA recommendation: Empirically supported treatments + therapeutic alliance = best outcomes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Research Trends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CURRENT TRENDS IN COUPLE THERAPY RESEARCH: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Neurobiological correlates of couple interactions (fMRI studies)</a:t>
            </a:r>
          </a:p>
          <a:p>
            <a:pPr>
              <a:spcAft>
                <a:spcPts val="400"/>
              </a:spcAft>
              <a:defRPr sz="1600"/>
            </a:pPr>
            <a:r>
              <a:t>• Telehealth/digital couple therapy (post-COVID expansion; app-based interventions)</a:t>
            </a:r>
          </a:p>
          <a:p>
            <a:pPr>
              <a:spcAft>
                <a:spcPts val="400"/>
              </a:spcAft>
              <a:defRPr sz="1600"/>
            </a:pPr>
            <a:r>
              <a:t>• AI-assisted assessment (natural language processing of couple communication)</a:t>
            </a:r>
          </a:p>
          <a:p>
            <a:pPr>
              <a:spcAft>
                <a:spcPts val="400"/>
              </a:spcAft>
              <a:defRPr sz="1600"/>
            </a:pPr>
            <a:r>
              <a:t>• Precision medicine approach: Matching couples to optimal treatment</a:t>
            </a:r>
          </a:p>
          <a:p>
            <a:pPr>
              <a:spcAft>
                <a:spcPts val="400"/>
              </a:spcAft>
              <a:defRPr sz="1600"/>
            </a:pPr>
            <a:r>
              <a:t>• Transdiagnostic models: Couple therapy for anxiety, depression, PTSD, addiction</a:t>
            </a:r>
          </a:p>
          <a:p>
            <a:pPr>
              <a:spcAft>
                <a:spcPts val="400"/>
              </a:spcAft>
              <a:defRPr sz="1600"/>
            </a:pPr>
            <a:r>
              <a:t>• Diversity &amp; inclusion: LGBTQIA+ relationships, polyamory, consensual non-monogamy</a:t>
            </a:r>
          </a:p>
          <a:p>
            <a:pPr>
              <a:spcAft>
                <a:spcPts val="400"/>
              </a:spcAft>
              <a:defRPr sz="1600"/>
            </a:pPr>
            <a:r>
              <a:t>• Global South research: India-specific RCTs desperately needed</a:t>
            </a:r>
          </a:p>
          <a:p>
            <a:pPr>
              <a:spcAft>
                <a:spcPts val="400"/>
              </a:spcAft>
              <a:defRPr sz="1600"/>
            </a:pPr>
            <a:r>
              <a:t>• Prevention: Large-scale premarital programs; workplace relationship skills</a:t>
            </a:r>
          </a:p>
          <a:p>
            <a:pPr>
              <a:spcAft>
                <a:spcPts val="400"/>
              </a:spcAft>
              <a:defRPr sz="1600"/>
            </a:pPr>
            <a:r>
              <a:t>• Attachment neuroscience: Oxytocin, cortisol, HPA axis in couple regulation</a:t>
            </a:r>
          </a:p>
          <a:p>
            <a:pPr>
              <a:spcAft>
                <a:spcPts val="400"/>
              </a:spcAft>
              <a:defRPr sz="1600"/>
            </a:pPr>
            <a:r>
              <a:t>• Micro-interventions: Brief (1-3 session) couple interventions in primary care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RESEARCH GAPS IN INDIAN CONTEXT:</a:t>
            </a:r>
          </a:p>
          <a:p>
            <a:pPr>
              <a:spcAft>
                <a:spcPts val="400"/>
              </a:spcAft>
              <a:defRPr sz="1600"/>
            </a:pPr>
            <a:r>
              <a:t>  • Very few RCTs of couple therapy in India</a:t>
            </a:r>
          </a:p>
          <a:p>
            <a:pPr>
              <a:spcAft>
                <a:spcPts val="400"/>
              </a:spcAft>
              <a:defRPr sz="1600"/>
            </a:pPr>
            <a:r>
              <a:t>  • Need culturally adapted manuals validated with Indian populations</a:t>
            </a:r>
          </a:p>
          <a:p>
            <a:pPr>
              <a:spcAft>
                <a:spcPts val="400"/>
              </a:spcAft>
              <a:defRPr sz="1600"/>
            </a:pPr>
            <a:r>
              <a:t>  • Qualitative research on Indian couple therapy experiences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Baucom, D.H. &amp; Epstein, N.B. (1990). Cognitive-Behavioral Marital Therapy. Brunner/Mazel.</a:t>
            </a:r>
          </a:p>
          <a:p>
            <a:pPr>
              <a:spcAft>
                <a:spcPts val="400"/>
              </a:spcAft>
              <a:defRPr sz="1600"/>
            </a:pPr>
            <a:r>
              <a:t>• Bowlby, J. (1969/1982). Attachment and Loss: Vol 1. Basic Books.</a:t>
            </a:r>
          </a:p>
          <a:p>
            <a:pPr>
              <a:spcAft>
                <a:spcPts val="400"/>
              </a:spcAft>
              <a:defRPr sz="1600"/>
            </a:pPr>
            <a:r>
              <a:t>• Bowen, M. (1978). Family Therapy in Clinical Practice. Jason Aronson.</a:t>
            </a:r>
          </a:p>
          <a:p>
            <a:pPr>
              <a:spcAft>
                <a:spcPts val="400"/>
              </a:spcAft>
              <a:defRPr sz="1600"/>
            </a:pPr>
            <a:r>
              <a:t>• Christensen, A. et al. (2004). Traditional vs. integrative behavioral couple therapy. JCCP, 72.</a:t>
            </a:r>
          </a:p>
          <a:p>
            <a:pPr>
              <a:spcAft>
                <a:spcPts val="400"/>
              </a:spcAft>
              <a:defRPr sz="1600"/>
            </a:pPr>
            <a:r>
              <a:t>• Doherty, W.J. (2013). Take Back Your Marriage (2nd ed.). Guilford.</a:t>
            </a:r>
          </a:p>
          <a:p>
            <a:pPr>
              <a:spcAft>
                <a:spcPts val="400"/>
              </a:spcAft>
              <a:defRPr sz="1600"/>
            </a:pPr>
            <a:r>
              <a:t>• Epstein, N.B. &amp; Baucom, D.H. (2002). Enhanced CBT for Couples. APA.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(1994). What Predicts Divorce? Lawrence Erlbaum.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(1999). The Marriage Clinic. W.W. Norton.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&amp; Silver, N. (2015). The Seven Principles (rev ed). Harmony.</a:t>
            </a:r>
          </a:p>
          <a:p>
            <a:pPr>
              <a:spcAft>
                <a:spcPts val="400"/>
              </a:spcAft>
              <a:defRPr sz="1600"/>
            </a:pPr>
            <a:r>
              <a:t>• Gurman, A.S. et al. (2015). Clinical Handbook of Couple Therapy (5th ed). Guilford.</a:t>
            </a:r>
          </a:p>
          <a:p>
            <a:pPr>
              <a:spcAft>
                <a:spcPts val="400"/>
              </a:spcAft>
              <a:defRPr sz="1600"/>
            </a:pPr>
            <a:r>
              <a:t>• Hazan, C. &amp; Shaver, P. (1987). Romantic love as attachment. JPSP, 52, 511-524.</a:t>
            </a:r>
          </a:p>
          <a:p>
            <a:pPr>
              <a:spcAft>
                <a:spcPts val="400"/>
              </a:spcAft>
              <a:defRPr sz="1600"/>
            </a:pPr>
            <a:r>
              <a:t>• Johnson, M.P. (2008). A Typology of Domestic Violence. Northeastern UP.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Johnson, S.M. (2004). The Practice of EFT (2nd ed).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• Johnson, S.M. (2008). Hold Me Tight. Little, Brown.</a:t>
            </a:r>
          </a:p>
          <a:p>
            <a:pPr>
              <a:spcAft>
                <a:spcPts val="400"/>
              </a:spcAft>
              <a:defRPr sz="1600"/>
            </a:pPr>
            <a:r>
              <a:t>• Johnson, S.M. (2019). Attachment Theory in Practice. Guilford.</a:t>
            </a:r>
          </a:p>
          <a:p>
            <a:pPr>
              <a:spcAft>
                <a:spcPts val="400"/>
              </a:spcAft>
              <a:defRPr sz="1600"/>
            </a:pPr>
            <a:r>
              <a:t>• Jacobson, N.S. &amp; Christensen, A. (1998). Acceptance and Change in Couple Therapy. Norton.</a:t>
            </a:r>
          </a:p>
          <a:p>
            <a:pPr>
              <a:spcAft>
                <a:spcPts val="400"/>
              </a:spcAft>
              <a:defRPr sz="1600"/>
            </a:pPr>
            <a:r>
              <a:t>• Lambert, M.J. (2010). Prevention of Treatment Failure. APA.</a:t>
            </a:r>
          </a:p>
          <a:p>
            <a:pPr>
              <a:spcAft>
                <a:spcPts val="400"/>
              </a:spcAft>
              <a:defRPr sz="1600"/>
            </a:pPr>
            <a:r>
              <a:t>• Markman, H.J. et al. (1994). Fighting for Your Marriage. Jossey-Bass.</a:t>
            </a:r>
          </a:p>
          <a:p>
            <a:pPr>
              <a:spcAft>
                <a:spcPts val="400"/>
              </a:spcAft>
              <a:defRPr sz="1600"/>
            </a:pPr>
            <a:r>
              <a:t>• Masters, W.H. &amp; Johnson, V.E. (1966). Human Sexual Response. Little, Brown.</a:t>
            </a:r>
          </a:p>
          <a:p>
            <a:pPr>
              <a:spcAft>
                <a:spcPts val="400"/>
              </a:spcAft>
              <a:defRPr sz="1600"/>
            </a:pPr>
            <a:r>
              <a:t>• McGoldrick, M. et al. (2008). Genograms (3rd ed). Norton.</a:t>
            </a:r>
          </a:p>
          <a:p>
            <a:pPr>
              <a:spcAft>
                <a:spcPts val="400"/>
              </a:spcAft>
              <a:defRPr sz="1600"/>
            </a:pPr>
            <a:r>
              <a:t>• Minuchin, S. (1974). Families &amp; Family Therapy. Harvard UP.</a:t>
            </a:r>
          </a:p>
          <a:p>
            <a:pPr>
              <a:spcAft>
                <a:spcPts val="400"/>
              </a:spcAft>
              <a:defRPr sz="1600"/>
            </a:pPr>
            <a:r>
              <a:t>• NFHS-5 (2021). National Family Health Survey India. MoHFW.</a:t>
            </a:r>
          </a:p>
          <a:p>
            <a:pPr>
              <a:spcAft>
                <a:spcPts val="400"/>
              </a:spcAft>
              <a:defRPr sz="1600"/>
            </a:pPr>
            <a:r>
              <a:t>• Satir, V. (1972). Peoplemaking. Science and Behavior Books.</a:t>
            </a:r>
          </a:p>
          <a:p>
            <a:pPr>
              <a:spcAft>
                <a:spcPts val="400"/>
              </a:spcAft>
              <a:defRPr sz="1600"/>
            </a:pPr>
            <a:r>
              <a:t>• Sternberg, R.J. (1986). A triangular theory of love. Psych Review, 93, 119-135.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Basson, R. (2000). The female sexual response. J Sex Marital Ther, 26, 51-65.</a:t>
            </a:r>
          </a:p>
          <a:p>
            <a:pPr>
              <a:spcAft>
                <a:spcPts val="400"/>
              </a:spcAft>
              <a:defRPr sz="1600"/>
            </a:pPr>
            <a:r>
              <a:t>• Bartholomew, K. &amp; Horowitz, L. (1991). Attachment styles. JPSP, 61, 226-244.</a:t>
            </a:r>
          </a:p>
          <a:p>
            <a:pPr>
              <a:spcAft>
                <a:spcPts val="400"/>
              </a:spcAft>
              <a:defRPr sz="1600"/>
            </a:pPr>
            <a:r>
              <a:t>• Blow, A.J. &amp; Hartnett, K. (2005). Infidelity review. JMFT, 31, 217-233.</a:t>
            </a:r>
          </a:p>
          <a:p>
            <a:pPr>
              <a:spcAft>
                <a:spcPts val="400"/>
              </a:spcAft>
              <a:defRPr sz="1600"/>
            </a:pPr>
            <a:r>
              <a:t>• Campbell, J.C. (2003). Danger Assessment. Johns Hopkins University.</a:t>
            </a:r>
          </a:p>
          <a:p>
            <a:pPr>
              <a:spcAft>
                <a:spcPts val="400"/>
              </a:spcAft>
              <a:defRPr sz="1600"/>
            </a:pPr>
            <a:r>
              <a:t>• Carroll, J.S. &amp; Doherty, W.J. (2003). Premarital prevention. Family Relations, 52, 105-118.</a:t>
            </a:r>
          </a:p>
          <a:p>
            <a:pPr>
              <a:spcAft>
                <a:spcPts val="400"/>
              </a:spcAft>
              <a:defRPr sz="1600"/>
            </a:pPr>
            <a:r>
              <a:t>• de Shazer, S. (1985). Keys to Solution in Brief Therapy. Norton.</a:t>
            </a:r>
          </a:p>
          <a:p>
            <a:pPr>
              <a:spcAft>
                <a:spcPts val="400"/>
              </a:spcAft>
              <a:defRPr sz="1600"/>
            </a:pPr>
            <a:r>
              <a:t>• Fraley, R.C. et al. (2000). ECR analysis. Personal Relationships, 7, 25-43.</a:t>
            </a:r>
          </a:p>
          <a:p>
            <a:pPr>
              <a:spcAft>
                <a:spcPts val="400"/>
              </a:spcAft>
              <a:defRPr sz="1600"/>
            </a:pPr>
            <a:r>
              <a:t>• Funk, J.L. &amp; Rogge, R.D. (2007). CSI. JPSP, 92, 572-591.</a:t>
            </a:r>
          </a:p>
          <a:p>
            <a:pPr>
              <a:spcAft>
                <a:spcPts val="400"/>
              </a:spcAft>
              <a:defRPr sz="1600"/>
            </a:pPr>
            <a:r>
              <a:t>• Malouff, J.M. et al. (2010). Big Five and satisfaction. JRSP, 27, 29-33.</a:t>
            </a:r>
          </a:p>
          <a:p>
            <a:pPr>
              <a:spcAft>
                <a:spcPts val="400"/>
              </a:spcAft>
              <a:defRPr sz="1600"/>
            </a:pPr>
            <a:r>
              <a:t>• Sathyanarayana Rao, T.S. et al. (2015). Marital therapy India. Indian J Psychiatry, 57(S2).</a:t>
            </a:r>
          </a:p>
          <a:p>
            <a:pPr>
              <a:spcAft>
                <a:spcPts val="400"/>
              </a:spcAft>
              <a:defRPr sz="1600"/>
            </a:pPr>
            <a:r>
              <a:t>• White, M. &amp; Epston, D. (1990). Narrative Means to Therapeutic Ends. Norton.</a:t>
            </a:r>
          </a:p>
          <a:p>
            <a:pPr>
              <a:spcAft>
                <a:spcPts val="400"/>
              </a:spcAft>
              <a:defRPr sz="1600"/>
            </a:pPr>
            <a:r>
              <a:t>• Worthington, E.L. (2005). Handbook of Forgiveness. Routledge.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Termination &amp; Relapse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WHEN TO TERMINATE:</a:t>
            </a:r>
          </a:p>
          <a:p>
            <a:pPr>
              <a:spcAft>
                <a:spcPts val="400"/>
              </a:spcAft>
              <a:defRPr sz="1600"/>
            </a:pPr>
            <a:r>
              <a:t>  • Goals achieved; couple reports sustained improvement (4+ weeks stable)</a:t>
            </a:r>
          </a:p>
          <a:p>
            <a:pPr>
              <a:spcAft>
                <a:spcPts val="400"/>
              </a:spcAft>
              <a:defRPr sz="1600"/>
            </a:pPr>
            <a:r>
              <a:t>  • Outcome measures (ORS/CSI) in non-clinical range consistently</a:t>
            </a:r>
          </a:p>
          <a:p>
            <a:pPr>
              <a:spcAft>
                <a:spcPts val="400"/>
              </a:spcAft>
              <a:defRPr sz="1600"/>
            </a:pPr>
            <a:r>
              <a:t>  • Couple can identify their cycle and de-escalate independently</a:t>
            </a:r>
          </a:p>
          <a:p>
            <a:pPr>
              <a:spcAft>
                <a:spcPts val="400"/>
              </a:spcAft>
              <a:defRPr sz="1600"/>
            </a:pPr>
            <a:r>
              <a:t>  • One or both partners choose to leave the relationship (ethical to support)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TERMINATION PROCESS:</a:t>
            </a:r>
          </a:p>
          <a:p>
            <a:pPr>
              <a:spcAft>
                <a:spcPts val="400"/>
              </a:spcAft>
              <a:defRPr sz="1600"/>
            </a:pPr>
            <a:r>
              <a:t>  • Discuss 2-3 sessions in advance (not abruptly)</a:t>
            </a:r>
          </a:p>
          <a:p>
            <a:pPr>
              <a:spcAft>
                <a:spcPts val="400"/>
              </a:spcAft>
              <a:defRPr sz="1600"/>
            </a:pPr>
            <a:r>
              <a:t>  • Review progress: 'Where were you when you started? Where are you now?'</a:t>
            </a:r>
          </a:p>
          <a:p>
            <a:pPr>
              <a:spcAft>
                <a:spcPts val="400"/>
              </a:spcAft>
              <a:defRPr sz="1600"/>
            </a:pPr>
            <a:r>
              <a:t>  • Identify remaining growth areas (normalize ongoing work)</a:t>
            </a:r>
          </a:p>
          <a:p>
            <a:pPr>
              <a:spcAft>
                <a:spcPts val="400"/>
              </a:spcAft>
              <a:defRPr sz="1600"/>
            </a:pPr>
            <a:r>
              <a:t>  • Create relapse prevention plan: Early warning signs; what to do; when to return</a:t>
            </a:r>
          </a:p>
          <a:p>
            <a:pPr>
              <a:spcAft>
                <a:spcPts val="400"/>
              </a:spcAft>
              <a:defRPr sz="1600"/>
            </a:pPr>
            <a:r>
              <a:t>  • Booster sessions: Schedule at 1 month, 3 months, 6 months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RELAPSE PREVENTION PLAN:</a:t>
            </a:r>
          </a:p>
          <a:p>
            <a:pPr>
              <a:spcAft>
                <a:spcPts val="400"/>
              </a:spcAft>
              <a:defRPr sz="1600"/>
            </a:pPr>
            <a:r>
              <a:t>  • 'Our cycle starts when...' (trigger recognition)</a:t>
            </a:r>
          </a:p>
          <a:p>
            <a:pPr>
              <a:spcAft>
                <a:spcPts val="400"/>
              </a:spcAft>
              <a:defRPr sz="1600"/>
            </a:pPr>
            <a:r>
              <a:t>  • 'We will interrupt it by...' (exit strategies, time-out protocol)</a:t>
            </a:r>
          </a:p>
          <a:p>
            <a:pPr>
              <a:spcAft>
                <a:spcPts val="400"/>
              </a:spcAft>
              <a:defRPr sz="1600"/>
            </a:pPr>
            <a:r>
              <a:t>  • 'We will maintain connection through...' (rituals, date nights, check-ins)</a:t>
            </a:r>
          </a:p>
          <a:p>
            <a:pPr>
              <a:spcAft>
                <a:spcPts val="400"/>
              </a:spcAft>
              <a:defRPr sz="1600"/>
            </a:pPr>
            <a:r>
              <a:t>  • 'We will seek help again if...' (clear criteria for return)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Self-Care for the Couple Therapist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VICARIOUS TRAUMA &amp; BURNOUT RISKS:</a:t>
            </a:r>
          </a:p>
          <a:p>
            <a:pPr>
              <a:spcAft>
                <a:spcPts val="400"/>
              </a:spcAft>
              <a:defRPr sz="1600"/>
            </a:pPr>
            <a:r>
              <a:t>  • Exposure to DV narratives, infidelity pain, childhood trauma disclosures</a:t>
            </a:r>
          </a:p>
          <a:p>
            <a:pPr>
              <a:spcAft>
                <a:spcPts val="400"/>
              </a:spcAft>
              <a:defRPr sz="1600"/>
            </a:pPr>
            <a:r>
              <a:t>  • Absorbing hopelessness from highly distressed couples</a:t>
            </a:r>
          </a:p>
          <a:p>
            <a:pPr>
              <a:spcAft>
                <a:spcPts val="400"/>
              </a:spcAft>
              <a:defRPr sz="1600"/>
            </a:pPr>
            <a:r>
              <a:t>  • Compassion fatigue: Emotional depletion from empathic engagement</a:t>
            </a:r>
          </a:p>
          <a:p>
            <a:pPr>
              <a:spcAft>
                <a:spcPts val="400"/>
              </a:spcAft>
              <a:defRPr sz="1600"/>
            </a:pPr>
            <a:r>
              <a:t>  • Countertransference activation: Own relationship issues triggered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PREVENTION STRATEGIES:</a:t>
            </a:r>
          </a:p>
          <a:p>
            <a:pPr>
              <a:spcAft>
                <a:spcPts val="400"/>
              </a:spcAft>
              <a:defRPr sz="1600"/>
            </a:pPr>
            <a:r>
              <a:t>  • Regular supervision (not optional; ethical requirement)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therapy: Process your own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Caseload management: Limit number of high-conflict couples per week</a:t>
            </a:r>
          </a:p>
          <a:p>
            <a:pPr>
              <a:spcAft>
                <a:spcPts val="400"/>
              </a:spcAft>
              <a:defRPr sz="1600"/>
            </a:pPr>
            <a:r>
              <a:t>  • Peer support: Consultation groups; community of practice</a:t>
            </a:r>
          </a:p>
          <a:p>
            <a:pPr>
              <a:spcAft>
                <a:spcPts val="400"/>
              </a:spcAft>
              <a:defRPr sz="1600"/>
            </a:pPr>
            <a:r>
              <a:t>  • Boundaries: Clear working hours; avoid taking work home</a:t>
            </a:r>
          </a:p>
          <a:p>
            <a:pPr>
              <a:spcAft>
                <a:spcPts val="400"/>
              </a:spcAft>
              <a:defRPr sz="1600"/>
            </a:pPr>
            <a:r>
              <a:t>  • Physical self-care: Exercise, sleep, nutrition (the basics matter)</a:t>
            </a:r>
          </a:p>
          <a:p>
            <a:pPr>
              <a:spcAft>
                <a:spcPts val="400"/>
              </a:spcAft>
              <a:defRPr sz="1600"/>
            </a:pPr>
            <a:r>
              <a:t>  • Spiritual/existential: Meaning-making; connection to purpose</a:t>
            </a:r>
          </a:p>
          <a:p>
            <a:pPr>
              <a:spcAft>
                <a:spcPts val="400"/>
              </a:spcAft>
              <a:defRPr sz="1600"/>
            </a:pPr>
            <a:r>
              <a:t>  • Own relationship investment: Practice what you preach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Remember: You cannot pour from an empty cup. Model healthy relating.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Teletherapy for Couples: Post-COVID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Rapid shift to online therapy during COVID-19 (March 2020 onwards)</a:t>
            </a:r>
          </a:p>
          <a:p>
            <a:pPr>
              <a:spcAft>
                <a:spcPts val="400"/>
              </a:spcAft>
              <a:defRPr sz="1600"/>
            </a:pPr>
            <a:r>
              <a:t>• Research: Comparable outcomes for mild-moderate distress (Wrape &amp; McGinn, 2019)</a:t>
            </a:r>
          </a:p>
          <a:p>
            <a:pPr>
              <a:spcAft>
                <a:spcPts val="400"/>
              </a:spcAft>
              <a:defRPr sz="1600"/>
            </a:pPr>
            <a:r>
              <a:t>• Advantages: Access (rural India), convenience, reduced stigma, scheduling flexibility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CHALLENGES SPECIFIC TO COUPLE TELETHERAPY:</a:t>
            </a:r>
          </a:p>
          <a:p>
            <a:pPr>
              <a:spcAft>
                <a:spcPts val="400"/>
              </a:spcAft>
              <a:defRPr sz="1600"/>
            </a:pPr>
            <a:r>
              <a:t>  • Cannot read full body language; limited non-verbal cues</a:t>
            </a:r>
          </a:p>
          <a:p>
            <a:pPr>
              <a:spcAft>
                <a:spcPts val="400"/>
              </a:spcAft>
              <a:defRPr sz="1600"/>
            </a:pPr>
            <a:r>
              <a:t>  • Partners may be in same room or different rooms (implications for each)</a:t>
            </a:r>
          </a:p>
          <a:p>
            <a:pPr>
              <a:spcAft>
                <a:spcPts val="400"/>
              </a:spcAft>
              <a:defRPr sz="1600"/>
            </a:pPr>
            <a:r>
              <a:t>  • Privacy concerns: Others in household may overhear</a:t>
            </a:r>
          </a:p>
          <a:p>
            <a:pPr>
              <a:spcAft>
                <a:spcPts val="400"/>
              </a:spcAft>
              <a:defRPr sz="1600"/>
            </a:pPr>
            <a:r>
              <a:t>  • Technical disruptions can mirror relational disconnection</a:t>
            </a:r>
          </a:p>
          <a:p>
            <a:pPr>
              <a:spcAft>
                <a:spcPts val="400"/>
              </a:spcAft>
              <a:defRPr sz="1600"/>
            </a:pPr>
            <a:r>
              <a:t>  • Harder to manage escalation (cannot physically intervene)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BEST PRACTICES:</a:t>
            </a:r>
          </a:p>
          <a:p>
            <a:pPr>
              <a:spcAft>
                <a:spcPts val="400"/>
              </a:spcAft>
              <a:defRPr sz="1600"/>
            </a:pPr>
            <a:r>
              <a:t>  • Both partners use separate devices (if possible)</a:t>
            </a:r>
          </a:p>
          <a:p>
            <a:pPr>
              <a:spcAft>
                <a:spcPts val="400"/>
              </a:spcAft>
              <a:defRPr sz="1600"/>
            </a:pPr>
            <a:r>
              <a:t>  • Establish safety protocol: What to do if session is escalating</a:t>
            </a:r>
          </a:p>
          <a:p>
            <a:pPr>
              <a:spcAft>
                <a:spcPts val="400"/>
              </a:spcAft>
              <a:defRPr sz="1600"/>
            </a:pPr>
            <a:r>
              <a:t>  • Use chat/breakout rooms for individual check-ins</a:t>
            </a:r>
          </a:p>
          <a:p>
            <a:pPr>
              <a:spcAft>
                <a:spcPts val="400"/>
              </a:spcAft>
              <a:defRPr sz="1600"/>
            </a:pPr>
            <a:r>
              <a:t>  • Ensure confidential, private space for both partners</a:t>
            </a:r>
          </a:p>
          <a:p>
            <a:pPr>
              <a:spcAft>
                <a:spcPts val="400"/>
              </a:spcAft>
              <a:defRPr sz="1600"/>
            </a:pPr>
            <a:r>
              <a:t>  • CONTRAINDICATED for: Active DV, severe distress, safety concerns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When to Refer: Recognizing Limits of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REFER TO INDIVIDUAL THERAPY WHEN:</a:t>
            </a:r>
          </a:p>
          <a:p>
            <a:pPr>
              <a:spcAft>
                <a:spcPts val="400"/>
              </a:spcAft>
              <a:defRPr sz="1600"/>
            </a:pPr>
            <a:r>
              <a:t>  • Severe individual psychopathology (psychosis, severe personality disorder)</a:t>
            </a:r>
          </a:p>
          <a:p>
            <a:pPr>
              <a:spcAft>
                <a:spcPts val="400"/>
              </a:spcAft>
              <a:defRPr sz="1600"/>
            </a:pPr>
            <a:r>
              <a:t>  • Active substance dependence (addiction treatment first, then couples)</a:t>
            </a:r>
          </a:p>
          <a:p>
            <a:pPr>
              <a:spcAft>
                <a:spcPts val="400"/>
              </a:spcAft>
              <a:defRPr sz="1600"/>
            </a:pPr>
            <a:r>
              <a:t>  • Severe PTSD with dissociation (stabilization needed first)</a:t>
            </a:r>
          </a:p>
          <a:p>
            <a:pPr>
              <a:spcAft>
                <a:spcPts val="400"/>
              </a:spcAft>
              <a:defRPr sz="1600"/>
            </a:pPr>
            <a:r>
              <a:t>  • One partner refuses to engage or is clearly not committed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REFER TO SPECIALIZED SERVICES WHEN:</a:t>
            </a:r>
          </a:p>
          <a:p>
            <a:pPr>
              <a:spcAft>
                <a:spcPts val="400"/>
              </a:spcAft>
              <a:defRPr sz="1600"/>
            </a:pPr>
            <a:r>
              <a:t>  • Intimate terrorism identified → DV services, legal aid, safety planning</a:t>
            </a:r>
          </a:p>
          <a:p>
            <a:pPr>
              <a:spcAft>
                <a:spcPts val="400"/>
              </a:spcAft>
              <a:defRPr sz="1600"/>
            </a:pPr>
            <a:r>
              <a:t>  • Sexual dysfunction requiring medical evaluation (erectile, pain)</a:t>
            </a:r>
          </a:p>
          <a:p>
            <a:pPr>
              <a:spcAft>
                <a:spcPts val="400"/>
              </a:spcAft>
              <a:defRPr sz="1600"/>
            </a:pPr>
            <a:r>
              <a:t>  • Psychiatric medication evaluation needed (depression, bipolar)</a:t>
            </a:r>
          </a:p>
          <a:p>
            <a:pPr>
              <a:spcAft>
                <a:spcPts val="400"/>
              </a:spcAft>
              <a:defRPr sz="1600"/>
            </a:pPr>
            <a:r>
              <a:t>  • Legal matters (divorce, custody) → family law attorney</a:t>
            </a:r>
          </a:p>
          <a:p>
            <a:pPr>
              <a:spcAft>
                <a:spcPts val="400"/>
              </a:spcAft>
              <a:defRPr sz="1600"/>
            </a:pPr>
            <a:r>
              <a:t>  • Financial distress → financial counselor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CONSIDER CO-THERAPY (Two therapists) WHEN:</a:t>
            </a:r>
          </a:p>
          <a:p>
            <a:pPr>
              <a:spcAft>
                <a:spcPts val="400"/>
              </a:spcAft>
              <a:defRPr sz="1600"/>
            </a:pPr>
            <a:r>
              <a:t>  • High-conflict couples where alliance management is very difficult</a:t>
            </a:r>
          </a:p>
          <a:p>
            <a:pPr>
              <a:spcAft>
                <a:spcPts val="400"/>
              </a:spcAft>
              <a:defRPr sz="1600"/>
            </a:pPr>
            <a:r>
              <a:t>  • Cross-gender team reduces bias perception</a:t>
            </a:r>
          </a:p>
          <a:p>
            <a:pPr>
              <a:spcAft>
                <a:spcPts val="400"/>
              </a:spcAft>
              <a:defRPr sz="1600"/>
            </a:pPr>
            <a:r>
              <a:t>  • Training purposes: Experienced + trainee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 Reading &amp;</a:t>
            </a:r>
            <a:r>
              <a:rPr lang="en-IN"/>
              <a:t> </a:t>
            </a: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ESSENTIAL TEXTBOOKS:</a:t>
            </a:r>
          </a:p>
          <a:p>
            <a:pPr>
              <a:spcAft>
                <a:spcPts val="400"/>
              </a:spcAft>
              <a:defRPr sz="1600"/>
            </a:pPr>
            <a:r>
              <a:t>  • Johnson, S.M. (2004). The Practice of EFT (2nd ed).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  • Gottman, J.M. (1999). The Marriage Clinic. W.W. Norton.</a:t>
            </a:r>
          </a:p>
          <a:p>
            <a:pPr>
              <a:spcAft>
                <a:spcPts val="400"/>
              </a:spcAft>
              <a:defRPr sz="1600"/>
            </a:pPr>
            <a:r>
              <a:t>  • Gurman, A.S. et al. (2015). Clinical Handbook of Couple Therapy (5th ed). Guilford.</a:t>
            </a:r>
          </a:p>
          <a:p>
            <a:pPr>
              <a:spcAft>
                <a:spcPts val="400"/>
              </a:spcAft>
              <a:defRPr sz="1600"/>
            </a:pPr>
            <a:r>
              <a:t>  • Epstein, N.B. &amp; Baucom, D.H. (2002). Enhanced CBT for Couples. APA.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FOR CLIENTS (Bibliotherapy):</a:t>
            </a:r>
          </a:p>
          <a:p>
            <a:pPr>
              <a:spcAft>
                <a:spcPts val="400"/>
              </a:spcAft>
              <a:defRPr sz="1600"/>
            </a:pPr>
            <a:r>
              <a:t>  • Gottman &amp; Silver (2015). The Seven Principles for Making Marriage Work.</a:t>
            </a:r>
          </a:p>
          <a:p>
            <a:pPr>
              <a:spcAft>
                <a:spcPts val="400"/>
              </a:spcAft>
              <a:defRPr sz="1600"/>
            </a:pPr>
            <a:r>
              <a:t>  • Johnson, S.M. (2008). Hold Me Tight.</a:t>
            </a:r>
          </a:p>
          <a:p>
            <a:pPr>
              <a:spcAft>
                <a:spcPts val="400"/>
              </a:spcAft>
              <a:defRPr sz="1600"/>
            </a:pPr>
            <a:r>
              <a:t>  • Chapman, G. (1992). The Five Love Languages.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JOURNALS: JMFT | Family Process | Couple &amp; Family Psychology | J Sex &amp; Marital Therapy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TRAINING: ICEEFT.com (EFT) | Gottman.com | AAMFT.org | RCI India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RESOURCES: NIMHANS | TISS | IPS Marriage &amp; Family Section</a:t>
            </a:r>
          </a:p>
          <a:p>
            <a:pPr>
              <a:spcAft>
                <a:spcPts val="400"/>
              </a:spcAft>
              <a:defRPr sz="1600"/>
            </a:pPr>
            <a:r>
              <a:t>Helplines: Vandrevala Foundation (1860-2662-345) | iCall (9152987821)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6125" y="3075940"/>
            <a:ext cx="106984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78249</Words>
  <Application>WPS Presentation</Application>
  <PresentationFormat>On-screen Show (4:3)</PresentationFormat>
  <Paragraphs>1802</Paragraphs>
  <Slides>111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111</vt:i4>
      </vt:variant>
    </vt:vector>
  </HeadingPairs>
  <TitlesOfParts>
    <vt:vector size="120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Avani Shah</cp:lastModifiedBy>
  <cp:revision>6</cp:revision>
  <dcterms:created xsi:type="dcterms:W3CDTF">2013-01-27T09:14:00Z</dcterms:created>
  <dcterms:modified xsi:type="dcterms:W3CDTF">2026-07-21T05:09:54Z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622DD8ECBB0845E383CEB49758D78884_13</vt:lpwstr>
  </property>
</Properties>
</file>