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0"/>
  </p:notesMasterIdLst>
  <p:sldIdLst>
    <p:sldId id="256" r:id="rId2"/>
    <p:sldId id="260" r:id="rId3"/>
    <p:sldId id="276" r:id="rId4"/>
    <p:sldId id="298" r:id="rId5"/>
    <p:sldId id="263" r:id="rId6"/>
    <p:sldId id="265" r:id="rId7"/>
    <p:sldId id="258" r:id="rId8"/>
    <p:sldId id="262" r:id="rId9"/>
    <p:sldId id="332" r:id="rId10"/>
    <p:sldId id="280" r:id="rId11"/>
    <p:sldId id="281" r:id="rId12"/>
    <p:sldId id="266" r:id="rId13"/>
    <p:sldId id="269" r:id="rId14"/>
    <p:sldId id="333" r:id="rId15"/>
    <p:sldId id="299" r:id="rId16"/>
    <p:sldId id="270" r:id="rId17"/>
    <p:sldId id="300" r:id="rId18"/>
    <p:sldId id="282" r:id="rId19"/>
    <p:sldId id="275" r:id="rId20"/>
    <p:sldId id="283" r:id="rId21"/>
    <p:sldId id="284" r:id="rId22"/>
    <p:sldId id="285" r:id="rId23"/>
    <p:sldId id="286" r:id="rId24"/>
    <p:sldId id="287" r:id="rId25"/>
    <p:sldId id="288" r:id="rId26"/>
    <p:sldId id="289" r:id="rId27"/>
    <p:sldId id="290" r:id="rId28"/>
    <p:sldId id="291" r:id="rId29"/>
    <p:sldId id="293" r:id="rId30"/>
    <p:sldId id="292" r:id="rId31"/>
    <p:sldId id="294" r:id="rId32"/>
    <p:sldId id="295" r:id="rId33"/>
    <p:sldId id="303" r:id="rId34"/>
    <p:sldId id="334" r:id="rId35"/>
    <p:sldId id="306" r:id="rId36"/>
    <p:sldId id="309" r:id="rId37"/>
    <p:sldId id="310" r:id="rId38"/>
    <p:sldId id="312" r:id="rId39"/>
    <p:sldId id="313" r:id="rId40"/>
    <p:sldId id="314" r:id="rId41"/>
    <p:sldId id="316" r:id="rId42"/>
    <p:sldId id="317" r:id="rId43"/>
    <p:sldId id="335" r:id="rId44"/>
    <p:sldId id="324" r:id="rId45"/>
    <p:sldId id="320" r:id="rId46"/>
    <p:sldId id="319" r:id="rId47"/>
    <p:sldId id="321" r:id="rId48"/>
    <p:sldId id="322" r:id="rId49"/>
    <p:sldId id="323" r:id="rId50"/>
    <p:sldId id="325" r:id="rId51"/>
    <p:sldId id="326" r:id="rId52"/>
    <p:sldId id="328" r:id="rId53"/>
    <p:sldId id="336" r:id="rId54"/>
    <p:sldId id="329" r:id="rId55"/>
    <p:sldId id="337" r:id="rId56"/>
    <p:sldId id="338" r:id="rId57"/>
    <p:sldId id="339" r:id="rId58"/>
    <p:sldId id="297"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660"/>
  </p:normalViewPr>
  <p:slideViewPr>
    <p:cSldViewPr snapToGrid="0">
      <p:cViewPr varScale="1">
        <p:scale>
          <a:sx n="107" d="100"/>
          <a:sy n="107" d="100"/>
        </p:scale>
        <p:origin x="13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6F049-3F11-4709-A2DA-CDCE7193CBCC}" type="datetimeFigureOut">
              <a:rPr lang="en-IN" smtClean="0"/>
              <a:t>30-08-2026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59B105-FFBF-4AF4-8644-1AE3037EEAC7}" type="slidenum">
              <a:rPr lang="en-IN" smtClean="0"/>
              <a:t>‹#›</a:t>
            </a:fld>
            <a:endParaRPr lang="en-IN"/>
          </a:p>
        </p:txBody>
      </p:sp>
    </p:spTree>
    <p:extLst>
      <p:ext uri="{BB962C8B-B14F-4D97-AF65-F5344CB8AC3E}">
        <p14:creationId xmlns:p14="http://schemas.microsoft.com/office/powerpoint/2010/main" val="121544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7</a:t>
            </a:fld>
            <a:endParaRPr lang="en-IN"/>
          </a:p>
        </p:txBody>
      </p:sp>
    </p:spTree>
    <p:extLst>
      <p:ext uri="{BB962C8B-B14F-4D97-AF65-F5344CB8AC3E}">
        <p14:creationId xmlns:p14="http://schemas.microsoft.com/office/powerpoint/2010/main" val="809755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8</a:t>
            </a:fld>
            <a:endParaRPr lang="en-IN"/>
          </a:p>
        </p:txBody>
      </p:sp>
    </p:spTree>
    <p:extLst>
      <p:ext uri="{BB962C8B-B14F-4D97-AF65-F5344CB8AC3E}">
        <p14:creationId xmlns:p14="http://schemas.microsoft.com/office/powerpoint/2010/main" val="4091015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1B43-A8CD-5457-6A14-398A22855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59144-F172-99C4-26AF-C594BBB65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4AC1-590A-5167-1719-B94D0623D1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5258A8-F487-2275-2820-2DCE7451892B}"/>
              </a:ext>
            </a:extLst>
          </p:cNvPr>
          <p:cNvSpPr>
            <a:spLocks noGrp="1"/>
          </p:cNvSpPr>
          <p:nvPr>
            <p:ph type="sldNum" sz="quarter" idx="5"/>
          </p:nvPr>
        </p:nvSpPr>
        <p:spPr/>
        <p:txBody>
          <a:bodyPr/>
          <a:lstStyle/>
          <a:p>
            <a:fld id="{6459B105-FFBF-4AF4-8644-1AE3037EEAC7}" type="slidenum">
              <a:rPr lang="en-IN" smtClean="0"/>
              <a:t>10</a:t>
            </a:fld>
            <a:endParaRPr lang="en-IN"/>
          </a:p>
        </p:txBody>
      </p:sp>
    </p:spTree>
    <p:extLst>
      <p:ext uri="{BB962C8B-B14F-4D97-AF65-F5344CB8AC3E}">
        <p14:creationId xmlns:p14="http://schemas.microsoft.com/office/powerpoint/2010/main" val="1679280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45DED-915F-763A-0759-1B4DE456A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926F1-3184-A6D3-6D71-F06DFC33B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EB87B-C722-061A-2D10-D783A98BFAE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0434DE-7B5C-908D-656C-DE6AFA3D9E32}"/>
              </a:ext>
            </a:extLst>
          </p:cNvPr>
          <p:cNvSpPr>
            <a:spLocks noGrp="1"/>
          </p:cNvSpPr>
          <p:nvPr>
            <p:ph type="sldNum" sz="quarter" idx="5"/>
          </p:nvPr>
        </p:nvSpPr>
        <p:spPr/>
        <p:txBody>
          <a:bodyPr/>
          <a:lstStyle/>
          <a:p>
            <a:fld id="{6459B105-FFBF-4AF4-8644-1AE3037EEAC7}" type="slidenum">
              <a:rPr lang="en-IN" smtClean="0"/>
              <a:t>11</a:t>
            </a:fld>
            <a:endParaRPr lang="en-IN"/>
          </a:p>
        </p:txBody>
      </p:sp>
    </p:spTree>
    <p:extLst>
      <p:ext uri="{BB962C8B-B14F-4D97-AF65-F5344CB8AC3E}">
        <p14:creationId xmlns:p14="http://schemas.microsoft.com/office/powerpoint/2010/main" val="3284597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12</a:t>
            </a:fld>
            <a:endParaRPr lang="en-IN"/>
          </a:p>
        </p:txBody>
      </p:sp>
    </p:spTree>
    <p:extLst>
      <p:ext uri="{BB962C8B-B14F-4D97-AF65-F5344CB8AC3E}">
        <p14:creationId xmlns:p14="http://schemas.microsoft.com/office/powerpoint/2010/main" val="4136449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27</a:t>
            </a:fld>
            <a:endParaRPr lang="en-IN"/>
          </a:p>
        </p:txBody>
      </p:sp>
    </p:spTree>
    <p:extLst>
      <p:ext uri="{BB962C8B-B14F-4D97-AF65-F5344CB8AC3E}">
        <p14:creationId xmlns:p14="http://schemas.microsoft.com/office/powerpoint/2010/main" val="1460184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38</a:t>
            </a:fld>
            <a:endParaRPr lang="en-IN"/>
          </a:p>
        </p:txBody>
      </p:sp>
    </p:spTree>
    <p:extLst>
      <p:ext uri="{BB962C8B-B14F-4D97-AF65-F5344CB8AC3E}">
        <p14:creationId xmlns:p14="http://schemas.microsoft.com/office/powerpoint/2010/main" val="1046523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41</a:t>
            </a:fld>
            <a:endParaRPr lang="en-IN"/>
          </a:p>
        </p:txBody>
      </p:sp>
    </p:spTree>
    <p:extLst>
      <p:ext uri="{BB962C8B-B14F-4D97-AF65-F5344CB8AC3E}">
        <p14:creationId xmlns:p14="http://schemas.microsoft.com/office/powerpoint/2010/main" val="1484977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46</a:t>
            </a:fld>
            <a:endParaRPr lang="en-IN"/>
          </a:p>
        </p:txBody>
      </p:sp>
    </p:spTree>
    <p:extLst>
      <p:ext uri="{BB962C8B-B14F-4D97-AF65-F5344CB8AC3E}">
        <p14:creationId xmlns:p14="http://schemas.microsoft.com/office/powerpoint/2010/main" val="2262685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4855-FA82-9A62-C8F9-196D4909B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FEC8C-4A44-192E-6B61-0DAF373BEE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9A331-429F-ECCC-7B2D-00F66E517C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0901428-6738-6619-CD32-464E60F7CB39}"/>
              </a:ext>
            </a:extLst>
          </p:cNvPr>
          <p:cNvSpPr>
            <a:spLocks noGrp="1"/>
          </p:cNvSpPr>
          <p:nvPr>
            <p:ph type="sldNum" sz="quarter" idx="5"/>
          </p:nvPr>
        </p:nvSpPr>
        <p:spPr/>
        <p:txBody>
          <a:bodyPr/>
          <a:lstStyle/>
          <a:p>
            <a:fld id="{6459B105-FFBF-4AF4-8644-1AE3037EEAC7}" type="slidenum">
              <a:rPr lang="en-IN" smtClean="0"/>
              <a:t>47</a:t>
            </a:fld>
            <a:endParaRPr lang="en-IN"/>
          </a:p>
        </p:txBody>
      </p:sp>
    </p:spTree>
    <p:extLst>
      <p:ext uri="{BB962C8B-B14F-4D97-AF65-F5344CB8AC3E}">
        <p14:creationId xmlns:p14="http://schemas.microsoft.com/office/powerpoint/2010/main" val="464183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E6408-29DC-8BEC-17D8-05F60C2DA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E4A71-137B-E0A1-27FF-9053EB149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0E6D0-A699-B3A0-136A-3EF7F24BFBA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AECAF3-6F4E-6747-772F-12DCC848DD37}"/>
              </a:ext>
            </a:extLst>
          </p:cNvPr>
          <p:cNvSpPr>
            <a:spLocks noGrp="1"/>
          </p:cNvSpPr>
          <p:nvPr>
            <p:ph type="sldNum" sz="quarter" idx="5"/>
          </p:nvPr>
        </p:nvSpPr>
        <p:spPr/>
        <p:txBody>
          <a:bodyPr/>
          <a:lstStyle/>
          <a:p>
            <a:fld id="{6459B105-FFBF-4AF4-8644-1AE3037EEAC7}" type="slidenum">
              <a:rPr lang="en-IN" smtClean="0"/>
              <a:t>48</a:t>
            </a:fld>
            <a:endParaRPr lang="en-IN"/>
          </a:p>
        </p:txBody>
      </p:sp>
    </p:spTree>
    <p:extLst>
      <p:ext uri="{BB962C8B-B14F-4D97-AF65-F5344CB8AC3E}">
        <p14:creationId xmlns:p14="http://schemas.microsoft.com/office/powerpoint/2010/main" val="3815867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30243-37BA-924B-2353-F7C1FA052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33F50-9EC7-DF27-8E32-28385B329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F725E-1996-6557-DD14-ABAD42AC46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F9B7831-A879-3614-C5F6-53B55C9D1E39}"/>
              </a:ext>
            </a:extLst>
          </p:cNvPr>
          <p:cNvSpPr>
            <a:spLocks noGrp="1"/>
          </p:cNvSpPr>
          <p:nvPr>
            <p:ph type="sldNum" sz="quarter" idx="5"/>
          </p:nvPr>
        </p:nvSpPr>
        <p:spPr/>
        <p:txBody>
          <a:bodyPr/>
          <a:lstStyle/>
          <a:p>
            <a:fld id="{6459B105-FFBF-4AF4-8644-1AE3037EEAC7}" type="slidenum">
              <a:rPr lang="en-IN" smtClean="0"/>
              <a:t>49</a:t>
            </a:fld>
            <a:endParaRPr lang="en-IN"/>
          </a:p>
        </p:txBody>
      </p:sp>
    </p:spTree>
    <p:extLst>
      <p:ext uri="{BB962C8B-B14F-4D97-AF65-F5344CB8AC3E}">
        <p14:creationId xmlns:p14="http://schemas.microsoft.com/office/powerpoint/2010/main" val="2378898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20A8-8E09-D178-BD0A-0D684B45C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BDA4F-0C7C-8554-5F4A-F434DE0D8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66D23-5C29-A03A-37C2-788B8EBE6F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DA91FB-637D-B38D-6BC7-04AD347D4129}"/>
              </a:ext>
            </a:extLst>
          </p:cNvPr>
          <p:cNvSpPr>
            <a:spLocks noGrp="1"/>
          </p:cNvSpPr>
          <p:nvPr>
            <p:ph type="sldNum" sz="quarter" idx="5"/>
          </p:nvPr>
        </p:nvSpPr>
        <p:spPr/>
        <p:txBody>
          <a:bodyPr/>
          <a:lstStyle/>
          <a:p>
            <a:fld id="{6459B105-FFBF-4AF4-8644-1AE3037EEAC7}" type="slidenum">
              <a:rPr lang="en-IN" smtClean="0"/>
              <a:t>50</a:t>
            </a:fld>
            <a:endParaRPr lang="en-IN"/>
          </a:p>
        </p:txBody>
      </p:sp>
    </p:spTree>
    <p:extLst>
      <p:ext uri="{BB962C8B-B14F-4D97-AF65-F5344CB8AC3E}">
        <p14:creationId xmlns:p14="http://schemas.microsoft.com/office/powerpoint/2010/main" val="2952204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586D-91B0-9832-83A5-DCA125565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92F9B-F40C-4ACC-B772-384DF4066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59D7F-9C13-03D7-2D17-BED43F4BFC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092CBB-949B-7F60-572D-71136AECB883}"/>
              </a:ext>
            </a:extLst>
          </p:cNvPr>
          <p:cNvSpPr>
            <a:spLocks noGrp="1"/>
          </p:cNvSpPr>
          <p:nvPr>
            <p:ph type="sldNum" sz="quarter" idx="5"/>
          </p:nvPr>
        </p:nvSpPr>
        <p:spPr/>
        <p:txBody>
          <a:bodyPr/>
          <a:lstStyle/>
          <a:p>
            <a:fld id="{6459B105-FFBF-4AF4-8644-1AE3037EEAC7}" type="slidenum">
              <a:rPr lang="en-IN" smtClean="0"/>
              <a:t>51</a:t>
            </a:fld>
            <a:endParaRPr lang="en-IN"/>
          </a:p>
        </p:txBody>
      </p:sp>
    </p:spTree>
    <p:extLst>
      <p:ext uri="{BB962C8B-B14F-4D97-AF65-F5344CB8AC3E}">
        <p14:creationId xmlns:p14="http://schemas.microsoft.com/office/powerpoint/2010/main" val="2608966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A4FB5-97E1-171B-BEF8-39036D404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5E4F0-A4ED-5DB3-8869-DFB31EBD5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053F5-A78E-98AB-467F-7460391214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6FEDCA-99E1-653A-741A-0B23339C677A}"/>
              </a:ext>
            </a:extLst>
          </p:cNvPr>
          <p:cNvSpPr>
            <a:spLocks noGrp="1"/>
          </p:cNvSpPr>
          <p:nvPr>
            <p:ph type="sldNum" sz="quarter" idx="5"/>
          </p:nvPr>
        </p:nvSpPr>
        <p:spPr/>
        <p:txBody>
          <a:bodyPr/>
          <a:lstStyle/>
          <a:p>
            <a:fld id="{6459B105-FFBF-4AF4-8644-1AE3037EEAC7}" type="slidenum">
              <a:rPr lang="en-IN" smtClean="0"/>
              <a:t>52</a:t>
            </a:fld>
            <a:endParaRPr lang="en-IN"/>
          </a:p>
        </p:txBody>
      </p:sp>
    </p:spTree>
    <p:extLst>
      <p:ext uri="{BB962C8B-B14F-4D97-AF65-F5344CB8AC3E}">
        <p14:creationId xmlns:p14="http://schemas.microsoft.com/office/powerpoint/2010/main" val="2411623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3B6B1-052E-9586-4636-A91BC3159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A82F3-84A0-5CBE-08CB-730B3BBA8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CDEC4-E917-192C-E2B3-B528656A934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82ED0D-DD6E-2E50-1699-4C540C5E9AFA}"/>
              </a:ext>
            </a:extLst>
          </p:cNvPr>
          <p:cNvSpPr>
            <a:spLocks noGrp="1"/>
          </p:cNvSpPr>
          <p:nvPr>
            <p:ph type="sldNum" sz="quarter" idx="5"/>
          </p:nvPr>
        </p:nvSpPr>
        <p:spPr/>
        <p:txBody>
          <a:bodyPr/>
          <a:lstStyle/>
          <a:p>
            <a:fld id="{6459B105-FFBF-4AF4-8644-1AE3037EEAC7}" type="slidenum">
              <a:rPr lang="en-IN" smtClean="0"/>
              <a:t>54</a:t>
            </a:fld>
            <a:endParaRPr lang="en-IN"/>
          </a:p>
        </p:txBody>
      </p:sp>
    </p:spTree>
    <p:extLst>
      <p:ext uri="{BB962C8B-B14F-4D97-AF65-F5344CB8AC3E}">
        <p14:creationId xmlns:p14="http://schemas.microsoft.com/office/powerpoint/2010/main" val="3107546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479400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3819061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11196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E98AF0-50E2-4AAD-95FF-EEFA43D6C4AC}"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428484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BE98AF0-50E2-4AAD-95FF-EEFA43D6C4AC}" type="datetimeFigureOut">
              <a:rPr lang="en-IN" smtClean="0"/>
              <a:t>30-08-2026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609686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BE98AF0-50E2-4AAD-95FF-EEFA43D6C4AC}" type="datetimeFigureOut">
              <a:rPr lang="en-IN" smtClean="0"/>
              <a:t>30-08-2026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3788259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E98AF0-50E2-4AAD-95FF-EEFA43D6C4AC}" type="datetimeFigureOut">
              <a:rPr lang="en-IN" smtClean="0"/>
              <a:t>30-08-2026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1494418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E98AF0-50E2-4AAD-95FF-EEFA43D6C4AC}"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1500392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E98AF0-50E2-4AAD-95FF-EEFA43D6C4AC}"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250050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2174110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3038188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98AF0-50E2-4AAD-95FF-EEFA43D6C4AC}" type="datetimeFigureOut">
              <a:rPr lang="en-IN" smtClean="0"/>
              <a:t>30-08-2026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5186C9-9030-4CC4-AE7D-BFB84663E096}" type="slidenum">
              <a:rPr lang="en-IN" smtClean="0"/>
              <a:t>‹#›</a:t>
            </a:fld>
            <a:endParaRPr lang="en-IN"/>
          </a:p>
        </p:txBody>
      </p:sp>
    </p:spTree>
    <p:extLst>
      <p:ext uri="{BB962C8B-B14F-4D97-AF65-F5344CB8AC3E}">
        <p14:creationId xmlns:p14="http://schemas.microsoft.com/office/powerpoint/2010/main" val="250423786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447B-8CEA-F420-D7A1-28E078CDA88F}"/>
              </a:ext>
            </a:extLst>
          </p:cNvPr>
          <p:cNvSpPr>
            <a:spLocks noGrp="1"/>
          </p:cNvSpPr>
          <p:nvPr>
            <p:ph type="ctrTitle"/>
          </p:nvPr>
        </p:nvSpPr>
        <p:spPr>
          <a:xfrm>
            <a:off x="1524000" y="625766"/>
            <a:ext cx="9144000" cy="2387600"/>
          </a:xfrm>
          <a:solidFill>
            <a:schemeClr val="accent2"/>
          </a:solidFill>
        </p:spPr>
        <p:txBody>
          <a:bodyPr>
            <a:normAutofit/>
          </a:bodyPr>
          <a:lstStyle/>
          <a:p>
            <a:r>
              <a:rPr lang="en-US" sz="8000" dirty="0">
                <a:latin typeface="Times New Roman" panose="02020603050405020304" pitchFamily="18" charset="0"/>
                <a:cs typeface="Times New Roman" panose="02020603050405020304" pitchFamily="18" charset="0"/>
              </a:rPr>
              <a:t>Case Conference </a:t>
            </a:r>
            <a:endParaRPr lang="en-IN" sz="8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856B6D5-74B0-0DAB-2052-2CCE01DB8D4D}"/>
              </a:ext>
            </a:extLst>
          </p:cNvPr>
          <p:cNvSpPr>
            <a:spLocks noGrp="1"/>
          </p:cNvSpPr>
          <p:nvPr>
            <p:ph type="subTitle" idx="1"/>
          </p:nvPr>
        </p:nvSpPr>
        <p:spPr>
          <a:xfrm>
            <a:off x="1524000" y="3429000"/>
            <a:ext cx="9144000" cy="1655762"/>
          </a:xfrm>
        </p:spPr>
        <p:txBody>
          <a:bodyPr>
            <a:noAutofit/>
          </a:bodyPr>
          <a:lstStyle/>
          <a:p>
            <a:r>
              <a:rPr lang="en-US" sz="1700" dirty="0">
                <a:latin typeface="Times New Roman" panose="02020603050405020304" pitchFamily="18" charset="0"/>
                <a:cs typeface="Times New Roman" panose="02020603050405020304" pitchFamily="18" charset="0"/>
              </a:rPr>
              <a:t>Anukruti Rohini</a:t>
            </a:r>
          </a:p>
          <a:p>
            <a:r>
              <a:rPr lang="en-US" sz="1700" dirty="0">
                <a:latin typeface="Times New Roman" panose="02020603050405020304" pitchFamily="18" charset="0"/>
                <a:cs typeface="Times New Roman" panose="02020603050405020304" pitchFamily="18" charset="0"/>
              </a:rPr>
              <a:t>M.Phil. Clinical Psychology Trainee </a:t>
            </a:r>
          </a:p>
          <a:p>
            <a:r>
              <a:rPr lang="en-US" sz="1700" dirty="0">
                <a:latin typeface="Times New Roman" panose="02020603050405020304" pitchFamily="18" charset="0"/>
                <a:cs typeface="Times New Roman" panose="02020603050405020304" pitchFamily="18" charset="0"/>
              </a:rPr>
              <a:t>Year II </a:t>
            </a:r>
          </a:p>
          <a:p>
            <a:endParaRPr lang="en-US" sz="1700" dirty="0">
              <a:latin typeface="Times New Roman" panose="02020603050405020304" pitchFamily="18" charset="0"/>
              <a:cs typeface="Times New Roman" panose="02020603050405020304" pitchFamily="18" charset="0"/>
            </a:endParaRPr>
          </a:p>
          <a:p>
            <a:r>
              <a:rPr lang="en-US" sz="1700" b="1" dirty="0">
                <a:latin typeface="Times New Roman" panose="02020603050405020304" pitchFamily="18" charset="0"/>
                <a:cs typeface="Times New Roman" panose="02020603050405020304" pitchFamily="18" charset="0"/>
              </a:rPr>
              <a:t>Supervised by: </a:t>
            </a:r>
            <a:r>
              <a:rPr lang="en-US" sz="1700" b="1" dirty="0" err="1">
                <a:latin typeface="Times New Roman" panose="02020603050405020304" pitchFamily="18" charset="0"/>
                <a:cs typeface="Times New Roman" panose="02020603050405020304" pitchFamily="18" charset="0"/>
              </a:rPr>
              <a:t>Ms</a:t>
            </a:r>
            <a:r>
              <a:rPr lang="en-US" sz="1700" b="1" dirty="0">
                <a:latin typeface="Times New Roman" panose="02020603050405020304" pitchFamily="18" charset="0"/>
                <a:cs typeface="Times New Roman" panose="02020603050405020304" pitchFamily="18" charset="0"/>
              </a:rPr>
              <a:t> Shivani Kirar</a:t>
            </a:r>
            <a:r>
              <a:rPr lang="en-US" sz="1700" dirty="0">
                <a:latin typeface="Times New Roman" panose="02020603050405020304" pitchFamily="18" charset="0"/>
                <a:cs typeface="Times New Roman" panose="02020603050405020304" pitchFamily="18" charset="0"/>
              </a:rPr>
              <a:t> </a:t>
            </a:r>
          </a:p>
          <a:p>
            <a:r>
              <a:rPr lang="en-US" sz="1700" dirty="0">
                <a:latin typeface="Times New Roman" panose="02020603050405020304" pitchFamily="18" charset="0"/>
                <a:cs typeface="Times New Roman" panose="02020603050405020304" pitchFamily="18" charset="0"/>
              </a:rPr>
              <a:t>(Assistant Professor), Department of Clinical Psychology,</a:t>
            </a:r>
          </a:p>
          <a:p>
            <a:r>
              <a:rPr lang="en-US" sz="1700" dirty="0">
                <a:latin typeface="Times New Roman" panose="02020603050405020304" pitchFamily="18" charset="0"/>
                <a:cs typeface="Times New Roman" panose="02020603050405020304" pitchFamily="18" charset="0"/>
              </a:rPr>
              <a:t>MAN College of Special Education and Psychological Studies, Guna (M.P.)</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6655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BEC4B-A4E3-059A-FE6A-29D12DE8A927}"/>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Demographic Details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5FAE5B-1730-A4C2-4627-EADD46C9909F}"/>
              </a:ext>
            </a:extLst>
          </p:cNvPr>
          <p:cNvSpPr>
            <a:spLocks noGrp="1"/>
          </p:cNvSpPr>
          <p:nvPr>
            <p:ph idx="1"/>
          </p:nvPr>
        </p:nvSpPr>
        <p:spPr/>
        <p:txBody>
          <a:bodyPr numCol="2">
            <a:noAutofit/>
          </a:bodyPr>
          <a:lstStyle/>
          <a:p>
            <a:pPr algn="just">
              <a:lnSpc>
                <a:spcPct val="200000"/>
              </a:lnSpc>
            </a:pPr>
            <a:r>
              <a:rPr lang="en-US" sz="1700" b="1" dirty="0">
                <a:latin typeface="Times New Roman" panose="02020603050405020304" pitchFamily="18" charset="0"/>
                <a:cs typeface="Times New Roman" panose="02020603050405020304" pitchFamily="18" charset="0"/>
              </a:rPr>
              <a:t>NAME:</a:t>
            </a:r>
            <a:r>
              <a:rPr lang="en-US" sz="1700" dirty="0">
                <a:latin typeface="Times New Roman" panose="02020603050405020304" pitchFamily="18" charset="0"/>
                <a:cs typeface="Times New Roman" panose="02020603050405020304" pitchFamily="18" charset="0"/>
              </a:rPr>
              <a:t> M.D.</a:t>
            </a:r>
            <a:endParaRPr lang="en-IN" sz="1700"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AGE:</a:t>
            </a:r>
            <a:r>
              <a:rPr lang="en-US" sz="1700" dirty="0">
                <a:latin typeface="Times New Roman" panose="02020603050405020304" pitchFamily="18" charset="0"/>
                <a:cs typeface="Times New Roman" panose="02020603050405020304" pitchFamily="18" charset="0"/>
              </a:rPr>
              <a:t> 40 years</a:t>
            </a:r>
            <a:endParaRPr lang="en-IN" sz="1700"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Date of Administration:</a:t>
            </a:r>
            <a:r>
              <a:rPr lang="en-US" sz="1700" dirty="0">
                <a:latin typeface="Times New Roman" panose="02020603050405020304" pitchFamily="18" charset="0"/>
                <a:cs typeface="Times New Roman" panose="02020603050405020304" pitchFamily="18" charset="0"/>
              </a:rPr>
              <a:t> 28/07/2026</a:t>
            </a:r>
            <a:endParaRPr lang="en-IN" sz="1700"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SEX:</a:t>
            </a:r>
            <a:r>
              <a:rPr lang="en-US" sz="1700" dirty="0">
                <a:latin typeface="Times New Roman" panose="02020603050405020304" pitchFamily="18" charset="0"/>
                <a:cs typeface="Times New Roman" panose="02020603050405020304" pitchFamily="18" charset="0"/>
              </a:rPr>
              <a:t> Female </a:t>
            </a:r>
            <a:endParaRPr lang="en-IN" sz="1700"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RELIGION:</a:t>
            </a:r>
            <a:r>
              <a:rPr lang="en-US" sz="1700" dirty="0">
                <a:latin typeface="Times New Roman" panose="02020603050405020304" pitchFamily="18" charset="0"/>
                <a:cs typeface="Times New Roman" panose="02020603050405020304" pitchFamily="18" charset="0"/>
              </a:rPr>
              <a:t> Hindu </a:t>
            </a:r>
            <a:endParaRPr lang="en-IN" sz="1700"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EDUCATION:</a:t>
            </a:r>
            <a:r>
              <a:rPr lang="en-US" sz="1700" dirty="0">
                <a:latin typeface="Times New Roman" panose="02020603050405020304" pitchFamily="18" charset="0"/>
                <a:cs typeface="Times New Roman" panose="02020603050405020304" pitchFamily="18" charset="0"/>
              </a:rPr>
              <a:t> BA in Hindi Literature</a:t>
            </a:r>
            <a:endParaRPr lang="en-IN" sz="1700"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OCCUPATION:</a:t>
            </a:r>
            <a:r>
              <a:rPr lang="en-US" sz="1700" dirty="0">
                <a:latin typeface="Times New Roman" panose="02020603050405020304" pitchFamily="18" charset="0"/>
                <a:cs typeface="Times New Roman" panose="02020603050405020304" pitchFamily="18" charset="0"/>
              </a:rPr>
              <a:t> School Teacher </a:t>
            </a:r>
            <a:endParaRPr lang="en-US" sz="1700" b="1"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SOCIOECONOMIC STATUS: </a:t>
            </a:r>
            <a:r>
              <a:rPr lang="en-US" sz="1700" dirty="0">
                <a:latin typeface="Times New Roman" panose="02020603050405020304" pitchFamily="18" charset="0"/>
                <a:cs typeface="Times New Roman" panose="02020603050405020304" pitchFamily="18" charset="0"/>
              </a:rPr>
              <a:t>Middle SES</a:t>
            </a:r>
            <a:endParaRPr lang="en-US" sz="1700" b="1"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MARITAL STATUS:</a:t>
            </a:r>
            <a:r>
              <a:rPr lang="en-US" sz="1700" dirty="0">
                <a:latin typeface="Times New Roman" panose="02020603050405020304" pitchFamily="18" charset="0"/>
                <a:cs typeface="Times New Roman" panose="02020603050405020304" pitchFamily="18" charset="0"/>
              </a:rPr>
              <a:t> Married</a:t>
            </a:r>
            <a:endParaRPr lang="en-IN" sz="1700"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RESIDENCE:</a:t>
            </a:r>
            <a:r>
              <a:rPr lang="en-US" sz="1700" dirty="0">
                <a:latin typeface="Times New Roman" panose="02020603050405020304" pitchFamily="18" charset="0"/>
                <a:cs typeface="Times New Roman" panose="02020603050405020304" pitchFamily="18" charset="0"/>
              </a:rPr>
              <a:t> Guna </a:t>
            </a:r>
            <a:endParaRPr lang="en-US" sz="1700" b="1"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LANGUAGE (Mother Tongue):</a:t>
            </a:r>
            <a:r>
              <a:rPr lang="en-US" sz="1700" dirty="0">
                <a:latin typeface="Times New Roman" panose="02020603050405020304" pitchFamily="18" charset="0"/>
                <a:cs typeface="Times New Roman" panose="02020603050405020304" pitchFamily="18" charset="0"/>
              </a:rPr>
              <a:t> Hindi</a:t>
            </a:r>
            <a:endParaRPr lang="en-US" sz="1700" b="1" dirty="0">
              <a:latin typeface="Times New Roman" panose="02020603050405020304" pitchFamily="18" charset="0"/>
              <a:cs typeface="Times New Roman" panose="02020603050405020304" pitchFamily="18" charset="0"/>
            </a:endParaRPr>
          </a:p>
          <a:p>
            <a:pPr algn="just">
              <a:lnSpc>
                <a:spcPct val="200000"/>
              </a:lnSpc>
            </a:pPr>
            <a:r>
              <a:rPr lang="en-US" sz="1700" b="1" dirty="0">
                <a:latin typeface="Times New Roman" panose="02020603050405020304" pitchFamily="18" charset="0"/>
                <a:cs typeface="Times New Roman" panose="02020603050405020304" pitchFamily="18" charset="0"/>
              </a:rPr>
              <a:t>DATE OF BIRTH: </a:t>
            </a:r>
            <a:r>
              <a:rPr lang="en-US" sz="1600" b="1" dirty="0">
                <a:latin typeface="Times New Roman" panose="02020603050405020304" pitchFamily="18" charset="0"/>
                <a:cs typeface="Times New Roman" panose="02020603050405020304" pitchFamily="18" charset="0"/>
              </a:rPr>
              <a:t>14</a:t>
            </a:r>
            <a:r>
              <a:rPr lang="en-US" sz="1600" dirty="0">
                <a:latin typeface="Times New Roman" panose="02020603050405020304" pitchFamily="18" charset="0"/>
                <a:cs typeface="Times New Roman" panose="02020603050405020304" pitchFamily="18" charset="0"/>
              </a:rPr>
              <a:t>/06/1986</a:t>
            </a:r>
          </a:p>
        </p:txBody>
      </p:sp>
    </p:spTree>
    <p:extLst>
      <p:ext uri="{BB962C8B-B14F-4D97-AF65-F5344CB8AC3E}">
        <p14:creationId xmlns:p14="http://schemas.microsoft.com/office/powerpoint/2010/main" val="3800765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5C618-F703-0058-A306-1413809F2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DD9A7-AE27-78C9-C4F7-56E3057DC0AC}"/>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Demographic Details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EDE6803-59F2-0416-1FA8-EF0DCAA5CDDD}"/>
              </a:ext>
            </a:extLst>
          </p:cNvPr>
          <p:cNvSpPr txBox="1"/>
          <p:nvPr/>
        </p:nvSpPr>
        <p:spPr>
          <a:xfrm>
            <a:off x="777551" y="4567789"/>
            <a:ext cx="10806404"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Reason for consultation: </a:t>
            </a:r>
            <a:r>
              <a:rPr lang="en-US" sz="1600" dirty="0">
                <a:latin typeface="Times New Roman" panose="02020603050405020304" pitchFamily="18" charset="0"/>
                <a:cs typeface="Times New Roman" panose="02020603050405020304" pitchFamily="18" charset="0"/>
              </a:rPr>
              <a:t>The patient approached the current mental health institution for a thorough psychological check-up, assessments and for further treatment through individualized counselling/therapy.</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2AE6F11-D5C8-3500-0435-C9D677E02A21}"/>
              </a:ext>
            </a:extLst>
          </p:cNvPr>
          <p:cNvSpPr txBox="1"/>
          <p:nvPr/>
        </p:nvSpPr>
        <p:spPr>
          <a:xfrm>
            <a:off x="838200" y="1810139"/>
            <a:ext cx="10685106" cy="923330"/>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INFORMANTS</a:t>
            </a:r>
            <a:r>
              <a:rPr lang="en-US" sz="1600" b="1" dirty="0"/>
              <a:t>:</a:t>
            </a:r>
          </a:p>
          <a:p>
            <a:endParaRPr lang="en-US" dirty="0"/>
          </a:p>
          <a:p>
            <a:endParaRPr lang="en-IN" dirty="0"/>
          </a:p>
        </p:txBody>
      </p:sp>
      <p:graphicFrame>
        <p:nvGraphicFramePr>
          <p:cNvPr id="9" name="Table 8">
            <a:extLst>
              <a:ext uri="{FF2B5EF4-FFF2-40B4-BE49-F238E27FC236}">
                <a16:creationId xmlns:a16="http://schemas.microsoft.com/office/drawing/2014/main" id="{E8C9E85A-E744-6C63-BF93-0FF00BA6ED9E}"/>
              </a:ext>
            </a:extLst>
          </p:cNvPr>
          <p:cNvGraphicFramePr>
            <a:graphicFrameLocks noGrp="1"/>
          </p:cNvGraphicFramePr>
          <p:nvPr>
            <p:extLst>
              <p:ext uri="{D42A27DB-BD31-4B8C-83A1-F6EECF244321}">
                <p14:modId xmlns:p14="http://schemas.microsoft.com/office/powerpoint/2010/main" val="243447700"/>
              </p:ext>
            </p:extLst>
          </p:nvPr>
        </p:nvGraphicFramePr>
        <p:xfrm>
          <a:off x="845457" y="2231277"/>
          <a:ext cx="10508343" cy="1243286"/>
        </p:xfrm>
        <a:graphic>
          <a:graphicData uri="http://schemas.openxmlformats.org/drawingml/2006/table">
            <a:tbl>
              <a:tblPr firstRow="1" bandRow="1">
                <a:tableStyleId>{2D5ABB26-0587-4C30-8999-92F81FD0307C}</a:tableStyleId>
              </a:tblPr>
              <a:tblGrid>
                <a:gridCol w="3502781">
                  <a:extLst>
                    <a:ext uri="{9D8B030D-6E8A-4147-A177-3AD203B41FA5}">
                      <a16:colId xmlns:a16="http://schemas.microsoft.com/office/drawing/2014/main" val="749467021"/>
                    </a:ext>
                  </a:extLst>
                </a:gridCol>
                <a:gridCol w="3502781">
                  <a:extLst>
                    <a:ext uri="{9D8B030D-6E8A-4147-A177-3AD203B41FA5}">
                      <a16:colId xmlns:a16="http://schemas.microsoft.com/office/drawing/2014/main" val="2023460430"/>
                    </a:ext>
                  </a:extLst>
                </a:gridCol>
                <a:gridCol w="3502781">
                  <a:extLst>
                    <a:ext uri="{9D8B030D-6E8A-4147-A177-3AD203B41FA5}">
                      <a16:colId xmlns:a16="http://schemas.microsoft.com/office/drawing/2014/main" val="361223956"/>
                    </a:ext>
                  </a:extLst>
                </a:gridCol>
              </a:tblGrid>
              <a:tr h="621643">
                <a:tc>
                  <a:txBody>
                    <a:bodyPr/>
                    <a:lstStyle/>
                    <a:p>
                      <a:r>
                        <a:rPr lang="en-US" sz="1600" b="1" dirty="0">
                          <a:latin typeface="Times New Roman" panose="02020603050405020304" pitchFamily="18" charset="0"/>
                          <a:cs typeface="Times New Roman" panose="02020603050405020304" pitchFamily="18" charset="0"/>
                        </a:rPr>
                        <a:t>Name</a:t>
                      </a:r>
                      <a:endParaRPr lang="en-IN" sz="1600"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tcPr>
                </a:tc>
                <a:tc>
                  <a:txBody>
                    <a:bodyPr/>
                    <a:lstStyle/>
                    <a:p>
                      <a:r>
                        <a:rPr lang="en-US" sz="1600" b="1" dirty="0">
                          <a:latin typeface="Times New Roman" panose="02020603050405020304" pitchFamily="18" charset="0"/>
                          <a:cs typeface="Times New Roman" panose="02020603050405020304" pitchFamily="18" charset="0"/>
                        </a:rPr>
                        <a:t>Relationship</a:t>
                      </a:r>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tcPr>
                </a:tc>
                <a:tc>
                  <a:txBody>
                    <a:bodyPr/>
                    <a:lstStyle/>
                    <a:p>
                      <a:r>
                        <a:rPr lang="en-US" sz="1600" b="1" dirty="0">
                          <a:latin typeface="Times New Roman" panose="02020603050405020304" pitchFamily="18" charset="0"/>
                          <a:cs typeface="Times New Roman" panose="02020603050405020304" pitchFamily="18" charset="0"/>
                        </a:rPr>
                        <a:t>Duration of Acquaintance </a:t>
                      </a:r>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ysDot"/>
                      <a:round/>
                      <a:headEnd type="none" w="med" len="med"/>
                      <a:tailEnd type="none" w="med" len="med"/>
                    </a:lnL>
                    <a:lnT w="12700" cap="flat" cmpd="sng" algn="ctr">
                      <a:solidFill>
                        <a:schemeClr val="tx1"/>
                      </a:solidFill>
                      <a:prstDash val="sysDot"/>
                      <a:round/>
                      <a:headEnd type="none" w="med" len="med"/>
                      <a:tailEnd type="none" w="med" len="med"/>
                    </a:lnT>
                  </a:tcPr>
                </a:tc>
                <a:extLst>
                  <a:ext uri="{0D108BD9-81ED-4DB2-BD59-A6C34878D82A}">
                    <a16:rowId xmlns:a16="http://schemas.microsoft.com/office/drawing/2014/main" val="1599166261"/>
                  </a:ext>
                </a:extLst>
              </a:tr>
              <a:tr h="621643">
                <a:tc>
                  <a:txBody>
                    <a:bodyPr/>
                    <a:lstStyle/>
                    <a:p>
                      <a:r>
                        <a:rPr lang="en-US" sz="1600" dirty="0">
                          <a:latin typeface="Times New Roman" panose="02020603050405020304" pitchFamily="18" charset="0"/>
                          <a:cs typeface="Times New Roman" panose="02020603050405020304" pitchFamily="18" charset="0"/>
                        </a:rPr>
                        <a:t>Mr. S.D.</a:t>
                      </a:r>
                      <a:endParaRPr lang="en-IN" sz="16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tcPr>
                </a:tc>
                <a:tc>
                  <a:txBody>
                    <a:bodyPr/>
                    <a:lstStyle/>
                    <a:p>
                      <a:r>
                        <a:rPr lang="en-US" sz="1600" dirty="0">
                          <a:latin typeface="Times New Roman" panose="02020603050405020304" pitchFamily="18" charset="0"/>
                          <a:cs typeface="Times New Roman" panose="02020603050405020304" pitchFamily="18" charset="0"/>
                        </a:rPr>
                        <a:t>Husband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tcPr>
                </a:tc>
                <a:tc>
                  <a:txBody>
                    <a:bodyPr/>
                    <a:lstStyle/>
                    <a:p>
                      <a:r>
                        <a:rPr lang="en-US" sz="1600" dirty="0">
                          <a:latin typeface="Times New Roman" panose="02020603050405020304" pitchFamily="18" charset="0"/>
                          <a:cs typeface="Times New Roman" panose="02020603050405020304" pitchFamily="18" charset="0"/>
                        </a:rPr>
                        <a:t>15 years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ysDot"/>
                      <a:round/>
                      <a:headEnd type="none" w="med" len="med"/>
                      <a:tailEnd type="none" w="med" len="med"/>
                    </a:lnL>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99638722"/>
                  </a:ext>
                </a:extLst>
              </a:tr>
            </a:tbl>
          </a:graphicData>
        </a:graphic>
      </p:graphicFrame>
      <p:sp>
        <p:nvSpPr>
          <p:cNvPr id="11" name="TextBox 10">
            <a:extLst>
              <a:ext uri="{FF2B5EF4-FFF2-40B4-BE49-F238E27FC236}">
                <a16:creationId xmlns:a16="http://schemas.microsoft.com/office/drawing/2014/main" id="{F50CEA7D-03D5-D687-37E4-C64950679C9E}"/>
              </a:ext>
            </a:extLst>
          </p:cNvPr>
          <p:cNvSpPr txBox="1"/>
          <p:nvPr/>
        </p:nvSpPr>
        <p:spPr>
          <a:xfrm>
            <a:off x="845457" y="3474563"/>
            <a:ext cx="10685106" cy="615553"/>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Information provided by the informant is reliable and adequate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0274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D192-804C-90D4-BB14-7EFCE15F3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79E2E-4B94-E630-EFCE-8357B0D475B7}"/>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Chief Complaints </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54500CE-4BC8-5C51-D048-13E6A36BEAD5}"/>
              </a:ext>
            </a:extLst>
          </p:cNvPr>
          <p:cNvSpPr txBox="1"/>
          <p:nvPr/>
        </p:nvSpPr>
        <p:spPr>
          <a:xfrm>
            <a:off x="838200" y="1810139"/>
            <a:ext cx="10685106" cy="923330"/>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Chief Complaints:</a:t>
            </a:r>
            <a:endParaRPr lang="en-US" sz="1600" b="1" dirty="0"/>
          </a:p>
          <a:p>
            <a:endParaRPr lang="en-US" dirty="0"/>
          </a:p>
          <a:p>
            <a:endParaRPr lang="en-IN" dirty="0"/>
          </a:p>
        </p:txBody>
      </p:sp>
      <p:graphicFrame>
        <p:nvGraphicFramePr>
          <p:cNvPr id="9" name="Table 8">
            <a:extLst>
              <a:ext uri="{FF2B5EF4-FFF2-40B4-BE49-F238E27FC236}">
                <a16:creationId xmlns:a16="http://schemas.microsoft.com/office/drawing/2014/main" id="{B129BB96-693D-C483-D8F1-98F8C21D9186}"/>
              </a:ext>
            </a:extLst>
          </p:cNvPr>
          <p:cNvGraphicFramePr>
            <a:graphicFrameLocks noGrp="1"/>
          </p:cNvGraphicFramePr>
          <p:nvPr>
            <p:extLst>
              <p:ext uri="{D42A27DB-BD31-4B8C-83A1-F6EECF244321}">
                <p14:modId xmlns:p14="http://schemas.microsoft.com/office/powerpoint/2010/main" val="481035108"/>
              </p:ext>
            </p:extLst>
          </p:nvPr>
        </p:nvGraphicFramePr>
        <p:xfrm>
          <a:off x="845455" y="2146041"/>
          <a:ext cx="10806404" cy="3430905"/>
        </p:xfrm>
        <a:graphic>
          <a:graphicData uri="http://schemas.openxmlformats.org/drawingml/2006/table">
            <a:tbl>
              <a:tblPr firstRow="1" bandRow="1">
                <a:tableStyleId>{2D5ABB26-0587-4C30-8999-92F81FD0307C}</a:tableStyleId>
              </a:tblPr>
              <a:tblGrid>
                <a:gridCol w="5403202">
                  <a:extLst>
                    <a:ext uri="{9D8B030D-6E8A-4147-A177-3AD203B41FA5}">
                      <a16:colId xmlns:a16="http://schemas.microsoft.com/office/drawing/2014/main" val="749467021"/>
                    </a:ext>
                  </a:extLst>
                </a:gridCol>
                <a:gridCol w="5403202">
                  <a:extLst>
                    <a:ext uri="{9D8B030D-6E8A-4147-A177-3AD203B41FA5}">
                      <a16:colId xmlns:a16="http://schemas.microsoft.com/office/drawing/2014/main" val="2023460430"/>
                    </a:ext>
                  </a:extLst>
                </a:gridCol>
              </a:tblGrid>
              <a:tr h="2360645">
                <a:tc>
                  <a:txBody>
                    <a:bodyPr/>
                    <a:lstStyle/>
                    <a:p>
                      <a:pPr marL="342900" indent="-342900">
                        <a:lnSpc>
                          <a:spcPct val="200000"/>
                        </a:lnSpc>
                        <a:buAutoNum type="arabicPeriod"/>
                      </a:pPr>
                      <a:r>
                        <a:rPr lang="en-US" sz="1600" b="0" dirty="0">
                          <a:latin typeface="Times New Roman" panose="02020603050405020304" pitchFamily="18" charset="0"/>
                          <a:cs typeface="Times New Roman" panose="02020603050405020304" pitchFamily="18" charset="0"/>
                        </a:rPr>
                        <a:t>Difficulty sleeping</a:t>
                      </a:r>
                    </a:p>
                    <a:p>
                      <a:pPr marL="342900" indent="-342900">
                        <a:lnSpc>
                          <a:spcPct val="200000"/>
                        </a:lnSpc>
                        <a:buAutoNum type="arabicPeriod"/>
                      </a:pPr>
                      <a:r>
                        <a:rPr lang="en-US" sz="1600" b="0" dirty="0">
                          <a:latin typeface="Times New Roman" panose="02020603050405020304" pitchFamily="18" charset="0"/>
                          <a:cs typeface="Times New Roman" panose="02020603050405020304" pitchFamily="18" charset="0"/>
                        </a:rPr>
                        <a:t>Irritability </a:t>
                      </a:r>
                    </a:p>
                    <a:p>
                      <a:pPr marL="342900" indent="-342900">
                        <a:lnSpc>
                          <a:spcPct val="200000"/>
                        </a:lnSpc>
                        <a:buAutoNum type="arabicPeriod"/>
                      </a:pPr>
                      <a:r>
                        <a:rPr lang="en-US" sz="1600" b="0" dirty="0">
                          <a:latin typeface="Times New Roman" panose="02020603050405020304" pitchFamily="18" charset="0"/>
                          <a:cs typeface="Times New Roman" panose="02020603050405020304" pitchFamily="18" charset="0"/>
                        </a:rPr>
                        <a:t>Aggression </a:t>
                      </a:r>
                    </a:p>
                    <a:p>
                      <a:pPr marL="342900" indent="-342900">
                        <a:lnSpc>
                          <a:spcPct val="200000"/>
                        </a:lnSpc>
                        <a:buAutoNum type="arabicPeriod"/>
                      </a:pPr>
                      <a:r>
                        <a:rPr lang="en-US" sz="1600" b="0" dirty="0">
                          <a:latin typeface="Times New Roman" panose="02020603050405020304" pitchFamily="18" charset="0"/>
                          <a:cs typeface="Times New Roman" panose="02020603050405020304" pitchFamily="18" charset="0"/>
                        </a:rPr>
                        <a:t>Frequent crying</a:t>
                      </a:r>
                    </a:p>
                    <a:p>
                      <a:pPr marL="342900" indent="-342900">
                        <a:lnSpc>
                          <a:spcPct val="200000"/>
                        </a:lnSpc>
                        <a:buAutoNum type="arabicPeriod"/>
                      </a:pPr>
                      <a:r>
                        <a:rPr lang="en-US" sz="1600" b="0" dirty="0">
                          <a:latin typeface="Times New Roman" panose="02020603050405020304" pitchFamily="18" charset="0"/>
                          <a:cs typeface="Times New Roman" panose="02020603050405020304" pitchFamily="18" charset="0"/>
                        </a:rPr>
                        <a:t>Feeling Unhappy</a:t>
                      </a:r>
                    </a:p>
                    <a:p>
                      <a:pPr marL="342900" indent="-342900">
                        <a:lnSpc>
                          <a:spcPct val="200000"/>
                        </a:lnSpc>
                        <a:buAutoNum type="arabicPeriod"/>
                      </a:pPr>
                      <a:r>
                        <a:rPr lang="en-US" sz="1600" b="0" dirty="0">
                          <a:latin typeface="Times New Roman" panose="02020603050405020304" pitchFamily="18" charset="0"/>
                          <a:cs typeface="Times New Roman" panose="02020603050405020304" pitchFamily="18" charset="0"/>
                        </a:rPr>
                        <a:t>Overthinking</a:t>
                      </a:r>
                    </a:p>
                    <a:p>
                      <a:pPr marL="342900" indent="-342900">
                        <a:lnSpc>
                          <a:spcPct val="200000"/>
                        </a:lnSpc>
                        <a:buAutoNum type="arabicPeriod"/>
                      </a:pPr>
                      <a:r>
                        <a:rPr lang="en-US" sz="1600" b="0" dirty="0">
                          <a:latin typeface="Times New Roman" panose="02020603050405020304" pitchFamily="18" charset="0"/>
                          <a:cs typeface="Times New Roman" panose="02020603050405020304" pitchFamily="18" charset="0"/>
                        </a:rPr>
                        <a:t>Feeling lethargic</a:t>
                      </a:r>
                      <a:endParaRPr lang="en-IN" sz="1600" b="0" dirty="0">
                        <a:latin typeface="Times New Roman" panose="02020603050405020304" pitchFamily="18" charset="0"/>
                        <a:cs typeface="Times New Roman" panose="02020603050405020304" pitchFamily="18" charset="0"/>
                      </a:endParaRPr>
                    </a:p>
                  </a:txBody>
                  <a:tcPr>
                    <a:lnL>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a:noFill/>
                    </a:lnB>
                    <a:lnTlToBr w="12700" cmpd="sng">
                      <a:noFill/>
                      <a:prstDash val="solid"/>
                    </a:lnTlToBr>
                    <a:lnBlToTr w="12700" cmpd="sng">
                      <a:noFill/>
                      <a:prstDash val="solid"/>
                    </a:lnBlToTr>
                  </a:tcPr>
                </a:tc>
                <a:tc>
                  <a:txBody>
                    <a:bodyPr/>
                    <a:lstStyle/>
                    <a:p>
                      <a:pPr algn="ctr">
                        <a:lnSpc>
                          <a:spcPct val="200000"/>
                        </a:lnSpc>
                      </a:pPr>
                      <a:r>
                        <a:rPr lang="en-US" sz="1600" b="0" dirty="0">
                          <a:latin typeface="Times New Roman" panose="02020603050405020304" pitchFamily="18" charset="0"/>
                          <a:cs typeface="Times New Roman" panose="02020603050405020304" pitchFamily="18" charset="0"/>
                        </a:rPr>
                        <a:t>15 years </a:t>
                      </a:r>
                    </a:p>
                    <a:p>
                      <a:pPr algn="ctr">
                        <a:lnSpc>
                          <a:spcPct val="200000"/>
                        </a:lnSpc>
                      </a:pPr>
                      <a:r>
                        <a:rPr lang="en-US" sz="1600" b="0" dirty="0">
                          <a:latin typeface="Times New Roman" panose="02020603050405020304" pitchFamily="18" charset="0"/>
                          <a:cs typeface="Times New Roman" panose="02020603050405020304" pitchFamily="18" charset="0"/>
                        </a:rPr>
                        <a:t>15 years</a:t>
                      </a:r>
                    </a:p>
                    <a:p>
                      <a:pPr algn="ctr">
                        <a:lnSpc>
                          <a:spcPct val="200000"/>
                        </a:lnSpc>
                      </a:pPr>
                      <a:r>
                        <a:rPr lang="en-US" sz="1600" b="0" dirty="0">
                          <a:latin typeface="Times New Roman" panose="02020603050405020304" pitchFamily="18" charset="0"/>
                          <a:cs typeface="Times New Roman" panose="02020603050405020304" pitchFamily="18" charset="0"/>
                        </a:rPr>
                        <a:t>15 years </a:t>
                      </a:r>
                    </a:p>
                    <a:p>
                      <a:pPr algn="ctr">
                        <a:lnSpc>
                          <a:spcPct val="200000"/>
                        </a:lnSpc>
                      </a:pPr>
                      <a:r>
                        <a:rPr lang="en-US" sz="1600" b="0" dirty="0">
                          <a:latin typeface="Times New Roman" panose="02020603050405020304" pitchFamily="18" charset="0"/>
                          <a:cs typeface="Times New Roman" panose="02020603050405020304" pitchFamily="18" charset="0"/>
                        </a:rPr>
                        <a:t>13 years </a:t>
                      </a:r>
                    </a:p>
                    <a:p>
                      <a:pPr algn="ctr">
                        <a:lnSpc>
                          <a:spcPct val="200000"/>
                        </a:lnSpc>
                      </a:pPr>
                      <a:r>
                        <a:rPr lang="en-US" sz="1600" b="0" dirty="0">
                          <a:latin typeface="Times New Roman" panose="02020603050405020304" pitchFamily="18" charset="0"/>
                          <a:cs typeface="Times New Roman" panose="02020603050405020304" pitchFamily="18" charset="0"/>
                        </a:rPr>
                        <a:t>13 years</a:t>
                      </a:r>
                    </a:p>
                    <a:p>
                      <a:pPr algn="ctr">
                        <a:lnSpc>
                          <a:spcPct val="200000"/>
                        </a:lnSpc>
                      </a:pPr>
                      <a:r>
                        <a:rPr lang="en-US" sz="1600" b="0" dirty="0">
                          <a:latin typeface="Times New Roman" panose="02020603050405020304" pitchFamily="18" charset="0"/>
                          <a:cs typeface="Times New Roman" panose="02020603050405020304" pitchFamily="18" charset="0"/>
                        </a:rPr>
                        <a:t>13 years</a:t>
                      </a:r>
                    </a:p>
                    <a:p>
                      <a:pPr algn="ctr">
                        <a:lnSpc>
                          <a:spcPct val="200000"/>
                        </a:lnSpc>
                      </a:pPr>
                      <a:r>
                        <a:rPr lang="en-US" sz="1600" b="0" dirty="0">
                          <a:latin typeface="Times New Roman" panose="02020603050405020304" pitchFamily="18" charset="0"/>
                          <a:cs typeface="Times New Roman" panose="02020603050405020304" pitchFamily="18" charset="0"/>
                        </a:rPr>
                        <a:t>10 years </a:t>
                      </a:r>
                      <a:endParaRPr lang="en-IN" sz="1600" b="0" dirty="0">
                        <a:latin typeface="Times New Roman" panose="02020603050405020304" pitchFamily="18" charset="0"/>
                        <a:cs typeface="Times New Roman" panose="02020603050405020304" pitchFamily="18" charset="0"/>
                      </a:endParaRP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599166261"/>
                  </a:ext>
                </a:extLst>
              </a:tr>
            </a:tbl>
          </a:graphicData>
        </a:graphic>
      </p:graphicFrame>
      <p:sp>
        <p:nvSpPr>
          <p:cNvPr id="3" name="Right Brace 2">
            <a:extLst>
              <a:ext uri="{FF2B5EF4-FFF2-40B4-BE49-F238E27FC236}">
                <a16:creationId xmlns:a16="http://schemas.microsoft.com/office/drawing/2014/main" id="{697A6FDB-CC8A-F074-C109-C0146F4ABFAD}"/>
              </a:ext>
            </a:extLst>
          </p:cNvPr>
          <p:cNvSpPr/>
          <p:nvPr/>
        </p:nvSpPr>
        <p:spPr>
          <a:xfrm>
            <a:off x="6487886" y="2276268"/>
            <a:ext cx="463420" cy="330067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49027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8A653-5576-5543-B0D5-723BAC1A6C0A}"/>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HOPI</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60C30A-872C-4E09-CD89-8379F50B4626}"/>
              </a:ext>
            </a:extLst>
          </p:cNvPr>
          <p:cNvSpPr>
            <a:spLocks noGrp="1"/>
          </p:cNvSpPr>
          <p:nvPr>
            <p:ph idx="1"/>
          </p:nvPr>
        </p:nvSpPr>
        <p:spPr/>
        <p:txBody>
          <a:bodyPr>
            <a:noAutofit/>
          </a:bodyPr>
          <a:lstStyle/>
          <a:p>
            <a:pPr>
              <a:spcAft>
                <a:spcPts val="400"/>
              </a:spcAft>
            </a:pPr>
            <a:r>
              <a:rPr lang="en-US" sz="2000" b="1" dirty="0">
                <a:solidFill>
                  <a:srgbClr val="000000"/>
                </a:solidFill>
                <a:latin typeface="Times New Roman" panose="02020603050405020304" pitchFamily="18" charset="0"/>
                <a:cs typeface="Times New Roman" panose="02020603050405020304" pitchFamily="18" charset="0"/>
              </a:rPr>
              <a:t>Total Duration: </a:t>
            </a:r>
            <a:r>
              <a:rPr lang="en-US" sz="2000" dirty="0">
                <a:solidFill>
                  <a:srgbClr val="000000"/>
                </a:solidFill>
                <a:latin typeface="Times New Roman" panose="02020603050405020304" pitchFamily="18" charset="0"/>
                <a:cs typeface="Times New Roman" panose="02020603050405020304" pitchFamily="18" charset="0"/>
              </a:rPr>
              <a:t>The total duration of illness is 15 years, since 2011.</a:t>
            </a:r>
          </a:p>
          <a:p>
            <a:pPr>
              <a:spcAft>
                <a:spcPts val="400"/>
              </a:spcAft>
            </a:pPr>
            <a:endParaRPr lang="en-US" sz="2000" dirty="0">
              <a:solidFill>
                <a:srgbClr val="000000"/>
              </a:solidFill>
              <a:latin typeface="Times New Roman" panose="02020603050405020304" pitchFamily="18" charset="0"/>
              <a:cs typeface="Times New Roman" panose="02020603050405020304" pitchFamily="18" charset="0"/>
            </a:endParaRPr>
          </a:p>
          <a:p>
            <a:pPr>
              <a:spcAft>
                <a:spcPts val="400"/>
              </a:spcAft>
            </a:pPr>
            <a:r>
              <a:rPr lang="en-US" sz="2000" b="1" dirty="0">
                <a:solidFill>
                  <a:srgbClr val="000000"/>
                </a:solidFill>
                <a:latin typeface="Times New Roman" panose="02020603050405020304" pitchFamily="18" charset="0"/>
                <a:cs typeface="Times New Roman" panose="02020603050405020304" pitchFamily="18" charset="0"/>
              </a:rPr>
              <a:t>Onset: </a:t>
            </a:r>
            <a:r>
              <a:rPr lang="en-US" sz="2000" dirty="0">
                <a:solidFill>
                  <a:srgbClr val="000000"/>
                </a:solidFill>
                <a:latin typeface="Times New Roman" panose="02020603050405020304" pitchFamily="18" charset="0"/>
                <a:cs typeface="Times New Roman" panose="02020603050405020304" pitchFamily="18" charset="0"/>
              </a:rPr>
              <a:t>The onset of illness is insidious, as the symptoms have developed over the past 15 years.</a:t>
            </a:r>
          </a:p>
          <a:p>
            <a:pPr>
              <a:spcAft>
                <a:spcPts val="400"/>
              </a:spcAft>
            </a:pPr>
            <a:endParaRPr lang="en-US" sz="2000" dirty="0">
              <a:solidFill>
                <a:srgbClr val="000000"/>
              </a:solidFill>
              <a:latin typeface="Times New Roman" panose="02020603050405020304" pitchFamily="18" charset="0"/>
              <a:cs typeface="Times New Roman" panose="02020603050405020304" pitchFamily="18" charset="0"/>
            </a:endParaRPr>
          </a:p>
          <a:p>
            <a:pPr>
              <a:spcAft>
                <a:spcPts val="400"/>
              </a:spcAft>
            </a:pPr>
            <a:r>
              <a:rPr lang="en-US" sz="2000" b="1" dirty="0">
                <a:solidFill>
                  <a:srgbClr val="000000"/>
                </a:solidFill>
                <a:latin typeface="Times New Roman" panose="02020603050405020304" pitchFamily="18" charset="0"/>
                <a:cs typeface="Times New Roman" panose="02020603050405020304" pitchFamily="18" charset="0"/>
              </a:rPr>
              <a:t>Course:</a:t>
            </a:r>
            <a:r>
              <a:rPr lang="en-US" sz="2000" dirty="0">
                <a:solidFill>
                  <a:srgbClr val="000000"/>
                </a:solidFill>
                <a:latin typeface="Times New Roman" panose="02020603050405020304" pitchFamily="18" charset="0"/>
                <a:cs typeface="Times New Roman" panose="02020603050405020304" pitchFamily="18" charset="0"/>
              </a:rPr>
              <a:t> The course of illness is fluctuating, as symptoms have had changes in intensity over the past 15 years.</a:t>
            </a:r>
          </a:p>
          <a:p>
            <a:pPr>
              <a:spcAft>
                <a:spcPts val="400"/>
              </a:spcAft>
            </a:pPr>
            <a:endParaRPr lang="en-US" sz="2000" dirty="0">
              <a:solidFill>
                <a:srgbClr val="000000"/>
              </a:solidFill>
              <a:latin typeface="Times New Roman" panose="02020603050405020304" pitchFamily="18" charset="0"/>
              <a:cs typeface="Times New Roman" panose="02020603050405020304" pitchFamily="18" charset="0"/>
            </a:endParaRPr>
          </a:p>
          <a:p>
            <a:pPr>
              <a:spcAft>
                <a:spcPts val="400"/>
              </a:spcAft>
            </a:pPr>
            <a:r>
              <a:rPr lang="en-US" sz="2000" b="1" dirty="0">
                <a:solidFill>
                  <a:srgbClr val="000000"/>
                </a:solidFill>
                <a:latin typeface="Times New Roman" panose="02020603050405020304" pitchFamily="18" charset="0"/>
                <a:cs typeface="Times New Roman" panose="02020603050405020304" pitchFamily="18" charset="0"/>
              </a:rPr>
              <a:t>Progress:</a:t>
            </a:r>
            <a:r>
              <a:rPr lang="en-US" sz="2000" dirty="0">
                <a:solidFill>
                  <a:srgbClr val="000000"/>
                </a:solidFill>
                <a:latin typeface="Times New Roman" panose="02020603050405020304" pitchFamily="18" charset="0"/>
                <a:cs typeface="Times New Roman" panose="02020603050405020304" pitchFamily="18" charset="0"/>
              </a:rPr>
              <a:t> The progress of illness is static.</a:t>
            </a:r>
          </a:p>
        </p:txBody>
      </p:sp>
    </p:spTree>
    <p:extLst>
      <p:ext uri="{BB962C8B-B14F-4D97-AF65-F5344CB8AC3E}">
        <p14:creationId xmlns:p14="http://schemas.microsoft.com/office/powerpoint/2010/main" val="704222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C05C0-02E3-1908-8089-0F3D96C56E6E}"/>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HOPI</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C6C90A-98B9-6360-B62A-FA34FE195158}"/>
              </a:ext>
            </a:extLst>
          </p:cNvPr>
          <p:cNvSpPr>
            <a:spLocks noGrp="1"/>
          </p:cNvSpPr>
          <p:nvPr>
            <p:ph idx="1"/>
          </p:nvPr>
        </p:nvSpPr>
        <p:spPr>
          <a:xfrm>
            <a:off x="838200" y="1592360"/>
            <a:ext cx="10515600" cy="4351338"/>
          </a:xfrm>
        </p:spPr>
        <p:txBody>
          <a:bodyPr>
            <a:normAutofit/>
          </a:bodyPr>
          <a:lstStyle/>
          <a:p>
            <a:pPr>
              <a:spcAft>
                <a:spcPts val="400"/>
              </a:spcAft>
            </a:pPr>
            <a:endParaRPr lang="en-US" sz="2400" dirty="0">
              <a:solidFill>
                <a:srgbClr val="000000"/>
              </a:solidFill>
              <a:latin typeface="Times New Roman" panose="02020603050405020304" pitchFamily="18" charset="0"/>
              <a:cs typeface="Times New Roman" panose="02020603050405020304" pitchFamily="18" charset="0"/>
            </a:endParaRPr>
          </a:p>
          <a:p>
            <a:pPr>
              <a:spcAft>
                <a:spcPts val="400"/>
              </a:spcAft>
            </a:pPr>
            <a:r>
              <a:rPr lang="en-US" sz="2400" b="1" dirty="0">
                <a:solidFill>
                  <a:srgbClr val="000000"/>
                </a:solidFill>
                <a:latin typeface="Times New Roman" panose="02020603050405020304" pitchFamily="18" charset="0"/>
                <a:cs typeface="Times New Roman" panose="02020603050405020304" pitchFamily="18" charset="0"/>
              </a:rPr>
              <a:t>Predisposing Factor: </a:t>
            </a:r>
            <a:r>
              <a:rPr lang="en-US" sz="2400" dirty="0">
                <a:solidFill>
                  <a:srgbClr val="000000"/>
                </a:solidFill>
                <a:latin typeface="Times New Roman" panose="02020603050405020304" pitchFamily="18" charset="0"/>
                <a:cs typeface="Times New Roman" panose="02020603050405020304" pitchFamily="18" charset="0"/>
              </a:rPr>
              <a:t>The predisposing factor of illness could not be elicited.</a:t>
            </a:r>
          </a:p>
          <a:p>
            <a:pPr>
              <a:spcAft>
                <a:spcPts val="400"/>
              </a:spcAft>
            </a:pPr>
            <a:endParaRPr lang="en-US" sz="2400" dirty="0">
              <a:solidFill>
                <a:srgbClr val="000000"/>
              </a:solidFill>
              <a:latin typeface="Times New Roman" panose="02020603050405020304" pitchFamily="18" charset="0"/>
              <a:cs typeface="Times New Roman" panose="02020603050405020304" pitchFamily="18" charset="0"/>
            </a:endParaRPr>
          </a:p>
          <a:p>
            <a:pPr>
              <a:spcAft>
                <a:spcPts val="400"/>
              </a:spcAft>
            </a:pPr>
            <a:r>
              <a:rPr lang="en-US" sz="2400" b="1" dirty="0">
                <a:solidFill>
                  <a:srgbClr val="000000"/>
                </a:solidFill>
                <a:latin typeface="Times New Roman" panose="02020603050405020304" pitchFamily="18" charset="0"/>
                <a:cs typeface="Times New Roman" panose="02020603050405020304" pitchFamily="18" charset="0"/>
              </a:rPr>
              <a:t>Precipitating Factor: </a:t>
            </a:r>
            <a:r>
              <a:rPr lang="en-US" sz="2400" dirty="0">
                <a:solidFill>
                  <a:srgbClr val="000000"/>
                </a:solidFill>
                <a:latin typeface="Times New Roman" panose="02020603050405020304" pitchFamily="18" charset="0"/>
                <a:cs typeface="Times New Roman" panose="02020603050405020304" pitchFamily="18" charset="0"/>
              </a:rPr>
              <a:t>The precipitating factor for developing the illness was a fight with her husband and physical abuse by her husband during that particular fight.</a:t>
            </a:r>
          </a:p>
          <a:p>
            <a:pPr>
              <a:spcAft>
                <a:spcPts val="400"/>
              </a:spcAft>
            </a:pPr>
            <a:endParaRPr lang="en-US" sz="2400" dirty="0">
              <a:solidFill>
                <a:srgbClr val="000000"/>
              </a:solidFill>
              <a:latin typeface="Times New Roman" panose="02020603050405020304" pitchFamily="18" charset="0"/>
              <a:cs typeface="Times New Roman" panose="02020603050405020304" pitchFamily="18" charset="0"/>
            </a:endParaRPr>
          </a:p>
          <a:p>
            <a:pPr>
              <a:spcAft>
                <a:spcPts val="400"/>
              </a:spcAft>
            </a:pPr>
            <a:r>
              <a:rPr lang="en-US" sz="2400" b="1" dirty="0">
                <a:solidFill>
                  <a:srgbClr val="000000"/>
                </a:solidFill>
                <a:latin typeface="Times New Roman" panose="02020603050405020304" pitchFamily="18" charset="0"/>
                <a:cs typeface="Times New Roman" panose="02020603050405020304" pitchFamily="18" charset="0"/>
              </a:rPr>
              <a:t>Perpetuating Factor</a:t>
            </a:r>
            <a:r>
              <a:rPr lang="en-US" sz="2400" dirty="0">
                <a:solidFill>
                  <a:srgbClr val="000000"/>
                </a:solidFill>
                <a:latin typeface="Times New Roman" panose="02020603050405020304" pitchFamily="18" charset="0"/>
                <a:cs typeface="Times New Roman" panose="02020603050405020304" pitchFamily="18" charset="0"/>
              </a:rPr>
              <a:t>: The perpetuating factor of the illness is stress and pain caused by the fight, as well as poor medical compliance.</a:t>
            </a:r>
          </a:p>
        </p:txBody>
      </p:sp>
    </p:spTree>
    <p:extLst>
      <p:ext uri="{BB962C8B-B14F-4D97-AF65-F5344CB8AC3E}">
        <p14:creationId xmlns:p14="http://schemas.microsoft.com/office/powerpoint/2010/main" val="2626115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1B551-534E-A442-E381-CA09FCA75C2C}"/>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History of Present Illness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B2E062-093C-F175-2770-9590C484C037}"/>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Index patient M.D. is a 40-year-old married Hindu female educated up to the graduate level, employed as a school teacher, belonging to the middle socio-economic strata, residing in Guna. The patient gradually started experiencing emotional and </a:t>
            </a:r>
            <a:r>
              <a:rPr lang="en-US" sz="2000" dirty="0" err="1">
                <a:latin typeface="Times New Roman" panose="02020603050405020304" pitchFamily="18" charset="0"/>
                <a:cs typeface="Times New Roman" panose="02020603050405020304" pitchFamily="18" charset="0"/>
              </a:rPr>
              <a:t>behavioural</a:t>
            </a:r>
            <a:r>
              <a:rPr lang="en-US" sz="2000" dirty="0">
                <a:latin typeface="Times New Roman" panose="02020603050405020304" pitchFamily="18" charset="0"/>
                <a:cs typeface="Times New Roman" panose="02020603050405020304" pitchFamily="18" charset="0"/>
              </a:rPr>
              <a:t> changes. The symptoms developed gradually and have been persistent, with fluctuations in their intensity. The patient presented with the chief complaints of difficulty sleeping, irritability, aggression for the past 15 years, frequent crying, not feeling happy for the past 13 years, overthinking and feeling lethargic throughout the day for the past 10 years. The patient reports disturbed sleep, mainly difficulty falling asleep and feeling that sleep is not adequate or refreshing. The patient keeps thinking about different things, especially at night, which makes it difficult to relax and fall asleep. Even after going to bed, the patient continues to think about past and present situations and finds it difficult to stop these thoughts, like: What if my husband is not happy with me because of my illness? I’m not feeling happy or motivated and am not able to keep my family happy. Will I ever get back to normal as before.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1246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42F23-61F3-6000-3EDB-0076087F4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BFA75-8B0C-6AD5-FB5D-149EDCC9FD66}"/>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History of Present Illness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A270EF-0403-7F12-40EA-7B82E46C792F}"/>
              </a:ext>
            </a:extLst>
          </p:cNvPr>
          <p:cNvSpPr>
            <a:spLocks noGrp="1"/>
          </p:cNvSpPr>
          <p:nvPr>
            <p:ph idx="1"/>
          </p:nvPr>
        </p:nvSpPr>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The patient also reports excessive overthinking. They tend to think repeatedly about different problems and situations and find it difficult to control these thoughts. Minor issues may also occupy her mind for a long time. The patient reports difficulty in concentrating on one thing because the mind remains occupied with multiple thoughts. The patient has become more irritable and short-tempered than before. They report getting annoyed easily, especially when someone questions them, asks them to do something, or when things do not happen according to their expectations. At times, the irritation increases and the patient becomes angry and may speak loudly or argue with family members. The patient feels that they are unable to control their anger easily once it starts. The patient also reports frequent episodes of crying. They may feel like crying without a clear reason or may become emotional when thinking about their problems. The patient describes feeling emotionally low and reports that they do not feel as happy or cheerful as they used to. The patient reports low mood and reduced interest in pleasurable activities. They state that their mind does not feel happy and that they do not enjoy activities in the same way as before. Activities that were previously performed with interest now feel like a burden or require considerable effort. The patient also complains of </a:t>
            </a:r>
            <a:r>
              <a:rPr lang="en-US" sz="2000" dirty="0" err="1">
                <a:latin typeface="Times New Roman" panose="02020603050405020304" pitchFamily="18" charset="0"/>
                <a:cs typeface="Times New Roman" panose="02020603050405020304" pitchFamily="18" charset="0"/>
              </a:rPr>
              <a:t>generalised</a:t>
            </a:r>
            <a:r>
              <a:rPr lang="en-US" sz="2000" dirty="0">
                <a:latin typeface="Times New Roman" panose="02020603050405020304" pitchFamily="18" charset="0"/>
                <a:cs typeface="Times New Roman" panose="02020603050405020304" pitchFamily="18" charset="0"/>
              </a:rPr>
              <a:t> tiredness and lethargy. They feel that there is weakness or heaviness in the body and that the body feels sluggish. Because of this, the patient finds it difficult to start or complete routine activities and often feels like resting rather than doing work.</a:t>
            </a:r>
          </a:p>
        </p:txBody>
      </p:sp>
    </p:spTree>
    <p:extLst>
      <p:ext uri="{BB962C8B-B14F-4D97-AF65-F5344CB8AC3E}">
        <p14:creationId xmlns:p14="http://schemas.microsoft.com/office/powerpoint/2010/main" val="4245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F1003-6BBC-AD2E-582B-3DCC05FFA9DC}"/>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History of Present Illness</a:t>
            </a:r>
            <a:endParaRPr lang="en-IN" dirty="0"/>
          </a:p>
        </p:txBody>
      </p:sp>
      <p:sp>
        <p:nvSpPr>
          <p:cNvPr id="3" name="Content Placeholder 2">
            <a:extLst>
              <a:ext uri="{FF2B5EF4-FFF2-40B4-BE49-F238E27FC236}">
                <a16:creationId xmlns:a16="http://schemas.microsoft.com/office/drawing/2014/main" id="{410682A8-F279-60F0-26DA-77819835A9B2}"/>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patient further reports reduced motivation to work. They do not feel like doing household or other routine activities and have difficulty initiating tasks. Even when they know that a particular task needs to be completed, they may postpone it because they do not feel mentally or physically energetic enough to do it. This has resulted in reduced productivity and difficulty maintaining their usual routine.  Poor sleep and excessive thinking contribute to tiredness and irritability, while low mood and reduced motivation further interfere with the patient's daily functioning.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8107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670DB-D10C-A6B7-88F3-99BE50892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03C51-108D-74EE-CC22-7BD455F42A8A}"/>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Biological Functioning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3DCB83-E762-CB18-2667-A53CE5D165C9}"/>
              </a:ext>
            </a:extLst>
          </p:cNvPr>
          <p:cNvSpPr>
            <a:spLocks noGrp="1"/>
          </p:cNvSpPr>
          <p:nvPr>
            <p:ph idx="1"/>
          </p:nvPr>
        </p:nvSpPr>
        <p:spPr/>
        <p:txBody>
          <a:bodyPr>
            <a:norm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S</a:t>
            </a:r>
            <a:r>
              <a:rPr lang="en-IN" sz="2000" b="1" dirty="0" err="1">
                <a:latin typeface="Times New Roman" panose="02020603050405020304" pitchFamily="18" charset="0"/>
                <a:cs typeface="Times New Roman" panose="02020603050405020304" pitchFamily="18" charset="0"/>
              </a:rPr>
              <a:t>leep</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 patient has experienced disturbance in sleep, specifically inability to fall asleep on time, waking up in the middle of the night. </a:t>
            </a:r>
          </a:p>
          <a:p>
            <a:pPr algn="just">
              <a:lnSpc>
                <a:spcPct val="150000"/>
              </a:lnSpc>
            </a:pPr>
            <a:r>
              <a:rPr lang="en-IN" sz="2000" b="1" dirty="0">
                <a:latin typeface="Times New Roman" panose="02020603050405020304" pitchFamily="18" charset="0"/>
                <a:cs typeface="Times New Roman" panose="02020603050405020304" pitchFamily="18" charset="0"/>
              </a:rPr>
              <a:t>Appetite: </a:t>
            </a:r>
            <a:r>
              <a:rPr lang="en-IN" sz="2000" dirty="0">
                <a:latin typeface="Times New Roman" panose="02020603050405020304" pitchFamily="18" charset="0"/>
                <a:cs typeface="Times New Roman" panose="02020603050405020304" pitchFamily="18" charset="0"/>
              </a:rPr>
              <a:t>A decline in appetite has been reported over a period of time</a:t>
            </a:r>
          </a:p>
          <a:p>
            <a:pPr algn="just">
              <a:lnSpc>
                <a:spcPct val="150000"/>
              </a:lnSpc>
            </a:pPr>
            <a:r>
              <a:rPr lang="en-IN" sz="2000" b="1" dirty="0">
                <a:latin typeface="Times New Roman" panose="02020603050405020304" pitchFamily="18" charset="0"/>
                <a:cs typeface="Times New Roman" panose="02020603050405020304" pitchFamily="18" charset="0"/>
              </a:rPr>
              <a:t>Self-care: </a:t>
            </a:r>
            <a:r>
              <a:rPr lang="en-IN" sz="2000" dirty="0">
                <a:latin typeface="Times New Roman" panose="02020603050405020304" pitchFamily="18" charset="0"/>
                <a:cs typeface="Times New Roman" panose="02020603050405020304" pitchFamily="18" charset="0"/>
              </a:rPr>
              <a:t>The patient’s self-care is intact</a:t>
            </a:r>
          </a:p>
          <a:p>
            <a:pPr algn="just">
              <a:lnSpc>
                <a:spcPct val="150000"/>
              </a:lnSpc>
            </a:pPr>
            <a:r>
              <a:rPr lang="en-IN" sz="2000" b="1" dirty="0">
                <a:latin typeface="Times New Roman" panose="02020603050405020304" pitchFamily="18" charset="0"/>
                <a:cs typeface="Times New Roman" panose="02020603050405020304" pitchFamily="18" charset="0"/>
              </a:rPr>
              <a:t>Bowel and Bladder control: </a:t>
            </a:r>
            <a:r>
              <a:rPr lang="en-IN" sz="2000" dirty="0">
                <a:latin typeface="Times New Roman" panose="02020603050405020304" pitchFamily="18" charset="0"/>
                <a:cs typeface="Times New Roman" panose="02020603050405020304" pitchFamily="18" charset="0"/>
              </a:rPr>
              <a:t>The patient’s bowel and bladder control is intact. </a:t>
            </a:r>
          </a:p>
          <a:p>
            <a:pPr algn="just">
              <a:lnSpc>
                <a:spcPct val="150000"/>
              </a:lnSpc>
            </a:pPr>
            <a:r>
              <a:rPr lang="en-IN" sz="2000" b="1" dirty="0">
                <a:latin typeface="Times New Roman" panose="02020603050405020304" pitchFamily="18" charset="0"/>
                <a:cs typeface="Times New Roman" panose="02020603050405020304" pitchFamily="18" charset="0"/>
              </a:rPr>
              <a:t>Occupational Functioning: </a:t>
            </a:r>
            <a:r>
              <a:rPr lang="en-IN" sz="2000" dirty="0">
                <a:latin typeface="Times New Roman" panose="02020603050405020304" pitchFamily="18" charset="0"/>
                <a:cs typeface="Times New Roman" panose="02020603050405020304" pitchFamily="18" charset="0"/>
              </a:rPr>
              <a:t>The patient struggles to carry out day-to-day functions consistently due to low motivation and feeling lethargic.</a:t>
            </a:r>
          </a:p>
        </p:txBody>
      </p:sp>
    </p:spTree>
    <p:extLst>
      <p:ext uri="{BB962C8B-B14F-4D97-AF65-F5344CB8AC3E}">
        <p14:creationId xmlns:p14="http://schemas.microsoft.com/office/powerpoint/2010/main" val="1963967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A311-A9C3-111C-ED0F-82992A681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3DCA9-6672-79E8-A50A-CF7B126C4190}"/>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Negative History</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68F241-5DEB-7F10-BB9F-6461725BE1A6}"/>
              </a:ext>
            </a:extLst>
          </p:cNvPr>
          <p:cNvSpPr>
            <a:spLocks noGrp="1"/>
          </p:cNvSpPr>
          <p:nvPr>
            <p:ph idx="1"/>
          </p:nvPr>
        </p:nvSpPr>
        <p:spPr/>
        <p:txBody>
          <a:bodyPr>
            <a:no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There is no history suggestive of any head injury, head trauma followed by periods of unconsciousness, fits like symptoms such as fluttering of mouth, jerky movement, rolling of eyes, and tongue biting or urination. </a:t>
            </a:r>
          </a:p>
          <a:p>
            <a:pPr algn="just">
              <a:lnSpc>
                <a:spcPct val="150000"/>
              </a:lnSpc>
            </a:pPr>
            <a:r>
              <a:rPr lang="en-US" sz="1600" dirty="0">
                <a:latin typeface="Times New Roman" panose="02020603050405020304" pitchFamily="18" charset="0"/>
                <a:cs typeface="Times New Roman" panose="02020603050405020304" pitchFamily="18" charset="0"/>
              </a:rPr>
              <a:t>There is no history suggestive of intake of tobacco, alcohol, cannabinoids, opioids, and excessive intake of caffeine. </a:t>
            </a:r>
          </a:p>
          <a:p>
            <a:pPr algn="just">
              <a:lnSpc>
                <a:spcPct val="150000"/>
              </a:lnSpc>
            </a:pPr>
            <a:r>
              <a:rPr lang="en-US" sz="1600" dirty="0">
                <a:latin typeface="Times New Roman" panose="02020603050405020304" pitchFamily="18" charset="0"/>
                <a:cs typeface="Times New Roman" panose="02020603050405020304" pitchFamily="18" charset="0"/>
              </a:rPr>
              <a:t>There is no history suggestive of hearing voices in the absence of others, talking to self, smiling or crying by self, feeling of doubts or excessive fear towards others. </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There is no history suggestive of big talk, feeling excessive happiness, feeling increased energy, reckless spending, increased aggression, and high mood</a:t>
            </a:r>
          </a:p>
          <a:p>
            <a:pPr algn="just">
              <a:lnSpc>
                <a:spcPct val="150000"/>
              </a:lnSpc>
            </a:pPr>
            <a:r>
              <a:rPr lang="en-US" sz="1600" dirty="0">
                <a:latin typeface="Times New Roman" panose="02020603050405020304" pitchFamily="18" charset="0"/>
                <a:cs typeface="Times New Roman" panose="02020603050405020304" pitchFamily="18" charset="0"/>
              </a:rPr>
              <a:t>There is no history suggestive of having a same thought again and again, having to do same thing multiple times, having same image comes to mind again and again, and wasting several hours by doing same act. </a:t>
            </a:r>
          </a:p>
          <a:p>
            <a:pPr algn="just">
              <a:lnSpc>
                <a:spcPct val="150000"/>
              </a:lnSpc>
            </a:pPr>
            <a:r>
              <a:rPr lang="en-US" sz="1600" dirty="0">
                <a:latin typeface="Times New Roman" panose="02020603050405020304" pitchFamily="18" charset="0"/>
                <a:cs typeface="Times New Roman" panose="02020603050405020304" pitchFamily="18" charset="0"/>
              </a:rPr>
              <a:t>There is no history suggestive of increased aggression, increased emotionality and talking certain rule strictly. </a:t>
            </a:r>
          </a:p>
        </p:txBody>
      </p:sp>
    </p:spTree>
    <p:extLst>
      <p:ext uri="{BB962C8B-B14F-4D97-AF65-F5344CB8AC3E}">
        <p14:creationId xmlns:p14="http://schemas.microsoft.com/office/powerpoint/2010/main" val="680478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623C-9CAB-3227-88B6-1409D953428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Treatment History</a:t>
            </a:r>
            <a:endParaRPr lang="en-IN" dirty="0"/>
          </a:p>
        </p:txBody>
      </p:sp>
      <p:sp>
        <p:nvSpPr>
          <p:cNvPr id="3" name="Content Placeholder 2">
            <a:extLst>
              <a:ext uri="{FF2B5EF4-FFF2-40B4-BE49-F238E27FC236}">
                <a16:creationId xmlns:a16="http://schemas.microsoft.com/office/drawing/2014/main" id="{17C84967-CA4F-B206-B83B-14A0471DD489}"/>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Medical History</a:t>
            </a:r>
          </a:p>
          <a:p>
            <a:pPr algn="just"/>
            <a:r>
              <a:rPr lang="en-US" sz="2000" dirty="0">
                <a:latin typeface="Times New Roman" panose="02020603050405020304" pitchFamily="18" charset="0"/>
                <a:cs typeface="Times New Roman" panose="02020603050405020304" pitchFamily="18" charset="0"/>
              </a:rPr>
              <a:t>No significant past medical history</a:t>
            </a:r>
          </a:p>
          <a:p>
            <a:pPr algn="just"/>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Psychiatric History:</a:t>
            </a:r>
          </a:p>
          <a:p>
            <a:pPr algn="just"/>
            <a:r>
              <a:rPr lang="en-US" sz="2000" dirty="0">
                <a:latin typeface="Times New Roman" panose="02020603050405020304" pitchFamily="18" charset="0"/>
                <a:cs typeface="Times New Roman" panose="02020603050405020304" pitchFamily="18" charset="0"/>
              </a:rPr>
              <a:t>Patient has been on psychiatric medication for the past 15 years, but upon improvement, she stops taking medication during the course.</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230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9C896-7AF3-D874-A536-22C1D7A940D6}"/>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Family History</a:t>
            </a:r>
            <a:endParaRPr lang="en-IN" dirty="0"/>
          </a:p>
        </p:txBody>
      </p:sp>
      <p:sp>
        <p:nvSpPr>
          <p:cNvPr id="3" name="Content Placeholder 2">
            <a:extLst>
              <a:ext uri="{FF2B5EF4-FFF2-40B4-BE49-F238E27FC236}">
                <a16:creationId xmlns:a16="http://schemas.microsoft.com/office/drawing/2014/main" id="{C23908FB-4BB6-5C53-8709-846993B0EA08}"/>
              </a:ext>
            </a:extLst>
          </p:cNvPr>
          <p:cNvSpPr>
            <a:spLocks noGrp="1"/>
          </p:cNvSpPr>
          <p:nvPr>
            <p:ph idx="1"/>
          </p:nvPr>
        </p:nvSpPr>
        <p:spPr>
          <a:xfrm>
            <a:off x="838200" y="1405748"/>
            <a:ext cx="10515600" cy="4351338"/>
          </a:xfrm>
        </p:spPr>
        <p:txBody>
          <a:bodyPr>
            <a:noAutofit/>
          </a:bodyPr>
          <a:lstStyle/>
          <a:p>
            <a:pPr algn="just">
              <a:lnSpc>
                <a:spcPct val="120000"/>
              </a:lnSpc>
            </a:pPr>
            <a:r>
              <a:rPr lang="en-US" sz="1700" b="1" dirty="0">
                <a:latin typeface="Times New Roman" panose="02020603050405020304" pitchFamily="18" charset="0"/>
                <a:cs typeface="Times New Roman" panose="02020603050405020304" pitchFamily="18" charset="0"/>
              </a:rPr>
              <a:t>Family History of Medical/Psychiatric Disorders: </a:t>
            </a:r>
            <a:r>
              <a:rPr lang="en-US" sz="1700" dirty="0">
                <a:latin typeface="Times New Roman" panose="02020603050405020304" pitchFamily="18" charset="0"/>
                <a:cs typeface="Times New Roman" panose="02020603050405020304" pitchFamily="18" charset="0"/>
              </a:rPr>
              <a:t>There is a history of medical illness in the patient's family, i.e.,  diabetes.</a:t>
            </a:r>
          </a:p>
          <a:p>
            <a:pPr algn="just">
              <a:lnSpc>
                <a:spcPct val="120000"/>
              </a:lnSpc>
            </a:pPr>
            <a:r>
              <a:rPr lang="en-US" sz="1700" b="1" dirty="0">
                <a:latin typeface="Times New Roman" panose="02020603050405020304" pitchFamily="18" charset="0"/>
                <a:cs typeface="Times New Roman" panose="02020603050405020304" pitchFamily="18" charset="0"/>
              </a:rPr>
              <a:t>Living arrangements: </a:t>
            </a:r>
            <a:r>
              <a:rPr lang="en-US" sz="1700" dirty="0">
                <a:latin typeface="Times New Roman" panose="02020603050405020304" pitchFamily="18" charset="0"/>
                <a:cs typeface="Times New Roman" panose="02020603050405020304" pitchFamily="18" charset="0"/>
              </a:rPr>
              <a:t>The patient lives in a nuclear family setting </a:t>
            </a:r>
          </a:p>
          <a:p>
            <a:pPr algn="just">
              <a:lnSpc>
                <a:spcPct val="120000"/>
              </a:lnSpc>
            </a:pPr>
            <a:r>
              <a:rPr lang="en-US" sz="1700" b="1" dirty="0">
                <a:latin typeface="Times New Roman" panose="02020603050405020304" pitchFamily="18" charset="0"/>
                <a:cs typeface="Times New Roman" panose="02020603050405020304" pitchFamily="18" charset="0"/>
              </a:rPr>
              <a:t>Primary Caregiver: </a:t>
            </a:r>
            <a:r>
              <a:rPr lang="en-US" sz="1700" dirty="0">
                <a:latin typeface="Times New Roman" panose="02020603050405020304" pitchFamily="18" charset="0"/>
                <a:cs typeface="Times New Roman" panose="02020603050405020304" pitchFamily="18" charset="0"/>
              </a:rPr>
              <a:t>Husband</a:t>
            </a:r>
          </a:p>
          <a:p>
            <a:pPr algn="just">
              <a:lnSpc>
                <a:spcPct val="120000"/>
              </a:lnSpc>
            </a:pPr>
            <a:r>
              <a:rPr lang="en-US" sz="1700" b="1" dirty="0">
                <a:latin typeface="Times New Roman" panose="02020603050405020304" pitchFamily="18" charset="0"/>
                <a:cs typeface="Times New Roman" panose="02020603050405020304" pitchFamily="18" charset="0"/>
              </a:rPr>
              <a:t>Communication style: </a:t>
            </a:r>
            <a:r>
              <a:rPr lang="en-US" sz="1700" dirty="0">
                <a:latin typeface="Times New Roman" panose="02020603050405020304" pitchFamily="18" charset="0"/>
                <a:cs typeface="Times New Roman" panose="02020603050405020304" pitchFamily="18" charset="0"/>
              </a:rPr>
              <a:t>Patient is not able to convey her thoughts and ideas freely with her family members. Although she tries, to but is not able to share all her feelings.</a:t>
            </a:r>
          </a:p>
          <a:p>
            <a:pPr algn="just">
              <a:lnSpc>
                <a:spcPct val="120000"/>
              </a:lnSpc>
            </a:pPr>
            <a:r>
              <a:rPr lang="en-US" sz="1700" b="1" dirty="0">
                <a:latin typeface="Times New Roman" panose="02020603050405020304" pitchFamily="18" charset="0"/>
                <a:cs typeface="Times New Roman" panose="02020603050405020304" pitchFamily="18" charset="0"/>
              </a:rPr>
              <a:t>Family’s Understanding of Illness: </a:t>
            </a:r>
            <a:r>
              <a:rPr lang="en-US" sz="1700" dirty="0">
                <a:latin typeface="Times New Roman" panose="02020603050405020304" pitchFamily="18" charset="0"/>
                <a:cs typeface="Times New Roman" panose="02020603050405020304" pitchFamily="18" charset="0"/>
              </a:rPr>
              <a:t>The patient's family understands the nature of illness and is open to treatment options.</a:t>
            </a:r>
          </a:p>
          <a:p>
            <a:pPr algn="just">
              <a:lnSpc>
                <a:spcPct val="120000"/>
              </a:lnSpc>
            </a:pPr>
            <a:r>
              <a:rPr lang="en-US" sz="1700" b="1" dirty="0">
                <a:latin typeface="Times New Roman" panose="02020603050405020304" pitchFamily="18" charset="0"/>
                <a:cs typeface="Times New Roman" panose="02020603050405020304" pitchFamily="18" charset="0"/>
              </a:rPr>
              <a:t>Family Stressors and Discords: </a:t>
            </a:r>
            <a:r>
              <a:rPr lang="en-US" sz="1700" dirty="0">
                <a:latin typeface="Times New Roman" panose="02020603050405020304" pitchFamily="18" charset="0"/>
                <a:cs typeface="Times New Roman" panose="02020603050405020304" pitchFamily="18" charset="0"/>
              </a:rPr>
              <a:t>No significant family stressors or discords.</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978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0F608-2E58-FF16-1A4D-78D8BA200BB8}"/>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Family History</a:t>
            </a:r>
            <a:endParaRPr lang="en-IN" dirty="0"/>
          </a:p>
        </p:txBody>
      </p:sp>
      <p:pic>
        <p:nvPicPr>
          <p:cNvPr id="5" name="Picture 2">
            <a:extLst>
              <a:ext uri="{FF2B5EF4-FFF2-40B4-BE49-F238E27FC236}">
                <a16:creationId xmlns:a16="http://schemas.microsoft.com/office/drawing/2014/main" id="{48AF1F34-80C3-DAFF-E96A-BC890F872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377" y="1459884"/>
            <a:ext cx="8023411" cy="4903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623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7811A-A27F-5A5A-6297-ED9FCEB7F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89875-6C85-7E40-EF44-2EAD82F1898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Personal History</a:t>
            </a:r>
            <a:endParaRPr lang="en-IN" dirty="0"/>
          </a:p>
        </p:txBody>
      </p:sp>
      <p:sp>
        <p:nvSpPr>
          <p:cNvPr id="3" name="Content Placeholder 2">
            <a:extLst>
              <a:ext uri="{FF2B5EF4-FFF2-40B4-BE49-F238E27FC236}">
                <a16:creationId xmlns:a16="http://schemas.microsoft.com/office/drawing/2014/main" id="{A18B1353-230E-24CA-9BC9-A27D96D8EFA1}"/>
              </a:ext>
            </a:extLst>
          </p:cNvPr>
          <p:cNvSpPr>
            <a:spLocks noGrp="1"/>
          </p:cNvSpPr>
          <p:nvPr>
            <p:ph idx="1"/>
          </p:nvPr>
        </p:nvSpPr>
        <p:spPr/>
        <p:txBody>
          <a:bodyPr>
            <a:noAutofit/>
          </a:bodyPr>
          <a:lstStyle/>
          <a:p>
            <a:pPr marL="0" indent="0" algn="just">
              <a:spcAft>
                <a:spcPts val="400"/>
              </a:spcAft>
              <a:buNone/>
            </a:pPr>
            <a:r>
              <a:rPr lang="en-US" sz="1800" b="1" dirty="0">
                <a:latin typeface="Times New Roman" panose="02020603050405020304" pitchFamily="18" charset="0"/>
                <a:cs typeface="Times New Roman" panose="02020603050405020304" pitchFamily="18" charset="0"/>
              </a:rPr>
              <a:t>1. Birth and Early Development</a:t>
            </a:r>
            <a:r>
              <a:rPr lang="en-US" sz="1800" dirty="0">
                <a:latin typeface="Times New Roman" panose="02020603050405020304" pitchFamily="18" charset="0"/>
                <a:cs typeface="Times New Roman" panose="02020603050405020304" pitchFamily="18" charset="0"/>
              </a:rPr>
              <a:t>: The patient was born through normal delivery at a govt hospital; information about the birth cry is missing, as the informant was her husband.</a:t>
            </a:r>
          </a:p>
          <a:p>
            <a:pPr algn="just">
              <a:spcAft>
                <a:spcPts val="400"/>
              </a:spcAft>
            </a:pPr>
            <a:endParaRPr lang="en-US" sz="1800" dirty="0">
              <a:latin typeface="Times New Roman" panose="02020603050405020304" pitchFamily="18" charset="0"/>
              <a:cs typeface="Times New Roman" panose="02020603050405020304" pitchFamily="18" charset="0"/>
            </a:endParaRPr>
          </a:p>
          <a:p>
            <a:pPr marL="0" indent="0" algn="just">
              <a:spcAft>
                <a:spcPts val="400"/>
              </a:spcAft>
              <a:buNone/>
            </a:pPr>
            <a:r>
              <a:rPr lang="en-US" sz="1800" b="1" dirty="0">
                <a:latin typeface="Times New Roman" panose="02020603050405020304" pitchFamily="18" charset="0"/>
                <a:cs typeface="Times New Roman" panose="02020603050405020304" pitchFamily="18" charset="0"/>
              </a:rPr>
              <a:t>2. Developmental milestones: </a:t>
            </a:r>
            <a:r>
              <a:rPr lang="en-US" sz="1800" dirty="0">
                <a:latin typeface="Times New Roman" panose="02020603050405020304" pitchFamily="18" charset="0"/>
                <a:cs typeface="Times New Roman" panose="02020603050405020304" pitchFamily="18" charset="0"/>
              </a:rPr>
              <a:t>The patient’s developmental milestones were mostly age-appropriate.</a:t>
            </a:r>
          </a:p>
          <a:p>
            <a:pPr algn="just">
              <a:spcAft>
                <a:spcPts val="400"/>
              </a:spcAft>
            </a:pPr>
            <a:endParaRPr lang="en-US" sz="1800" dirty="0">
              <a:latin typeface="Times New Roman" panose="02020603050405020304" pitchFamily="18" charset="0"/>
              <a:cs typeface="Times New Roman" panose="02020603050405020304" pitchFamily="18" charset="0"/>
            </a:endParaRPr>
          </a:p>
          <a:p>
            <a:pPr marL="0" indent="0" algn="just">
              <a:spcAft>
                <a:spcPts val="400"/>
              </a:spcAft>
              <a:buNone/>
            </a:pPr>
            <a:r>
              <a:rPr lang="en-US" sz="1800" b="1" dirty="0">
                <a:latin typeface="Times New Roman" panose="02020603050405020304" pitchFamily="18" charset="0"/>
                <a:cs typeface="Times New Roman" panose="02020603050405020304" pitchFamily="18" charset="0"/>
              </a:rPr>
              <a:t>3. </a:t>
            </a:r>
            <a:r>
              <a:rPr lang="en-US" sz="1800" b="1" dirty="0" err="1">
                <a:latin typeface="Times New Roman" panose="02020603050405020304" pitchFamily="18" charset="0"/>
                <a:cs typeface="Times New Roman" panose="02020603050405020304" pitchFamily="18" charset="0"/>
              </a:rPr>
              <a:t>Behaviour</a:t>
            </a:r>
            <a:r>
              <a:rPr lang="en-US" sz="1800" b="1" dirty="0">
                <a:latin typeface="Times New Roman" panose="02020603050405020304" pitchFamily="18" charset="0"/>
                <a:cs typeface="Times New Roman" panose="02020603050405020304" pitchFamily="18" charset="0"/>
              </a:rPr>
              <a:t> during childhood: </a:t>
            </a:r>
            <a:r>
              <a:rPr lang="en-US" sz="1800" dirty="0">
                <a:latin typeface="Times New Roman" panose="02020603050405020304" pitchFamily="18" charset="0"/>
                <a:cs typeface="Times New Roman" panose="02020603050405020304" pitchFamily="18" charset="0"/>
              </a:rPr>
              <a:t>The patient’s </a:t>
            </a:r>
            <a:r>
              <a:rPr lang="en-US" sz="1800" dirty="0" err="1">
                <a:latin typeface="Times New Roman" panose="02020603050405020304" pitchFamily="18" charset="0"/>
                <a:cs typeface="Times New Roman" panose="02020603050405020304" pitchFamily="18" charset="0"/>
              </a:rPr>
              <a:t>behaviour</a:t>
            </a:r>
            <a:r>
              <a:rPr lang="en-US" sz="1800" dirty="0">
                <a:latin typeface="Times New Roman" panose="02020603050405020304" pitchFamily="18" charset="0"/>
                <a:cs typeface="Times New Roman" panose="02020603050405020304" pitchFamily="18" charset="0"/>
              </a:rPr>
              <a:t> during childhood was </a:t>
            </a:r>
            <a:r>
              <a:rPr lang="en-US" sz="1800" dirty="0" err="1">
                <a:latin typeface="Times New Roman" panose="02020603050405020304" pitchFamily="18" charset="0"/>
                <a:cs typeface="Times New Roman" panose="02020603050405020304" pitchFamily="18" charset="0"/>
              </a:rPr>
              <a:t>characterised</a:t>
            </a:r>
            <a:r>
              <a:rPr lang="en-US" sz="1800" dirty="0">
                <a:latin typeface="Times New Roman" panose="02020603050405020304" pitchFamily="18" charset="0"/>
                <a:cs typeface="Times New Roman" panose="02020603050405020304" pitchFamily="18" charset="0"/>
              </a:rPr>
              <a:t> by calmness. She was soft-spoken.</a:t>
            </a:r>
          </a:p>
          <a:p>
            <a:pPr algn="just">
              <a:spcAft>
                <a:spcPts val="400"/>
              </a:spcAft>
            </a:pPr>
            <a:endParaRPr lang="en-US" sz="1800" dirty="0">
              <a:latin typeface="Times New Roman" panose="02020603050405020304" pitchFamily="18" charset="0"/>
              <a:cs typeface="Times New Roman" panose="02020603050405020304" pitchFamily="18" charset="0"/>
            </a:endParaRPr>
          </a:p>
          <a:p>
            <a:pPr marL="0" indent="0" algn="just">
              <a:spcAft>
                <a:spcPts val="400"/>
              </a:spcAft>
              <a:buNone/>
            </a:pPr>
            <a:r>
              <a:rPr lang="en-US" sz="1800" b="1" dirty="0">
                <a:latin typeface="Times New Roman" panose="02020603050405020304" pitchFamily="18" charset="0"/>
                <a:cs typeface="Times New Roman" panose="02020603050405020304" pitchFamily="18" charset="0"/>
              </a:rPr>
              <a:t>4. Physical illness during childhood: </a:t>
            </a:r>
            <a:r>
              <a:rPr lang="en-US" sz="1800" dirty="0">
                <a:latin typeface="Times New Roman" panose="02020603050405020304" pitchFamily="18" charset="0"/>
                <a:cs typeface="Times New Roman" panose="02020603050405020304" pitchFamily="18" charset="0"/>
              </a:rPr>
              <a:t>No physical illness during childhood.</a:t>
            </a:r>
          </a:p>
          <a:p>
            <a:pPr algn="just">
              <a:spcAft>
                <a:spcPts val="400"/>
              </a:spcAft>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3655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C82A6-777F-9142-C845-A146D23F641B}"/>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Personal History</a:t>
            </a:r>
            <a:endParaRPr lang="en-IN" dirty="0"/>
          </a:p>
        </p:txBody>
      </p:sp>
      <p:sp>
        <p:nvSpPr>
          <p:cNvPr id="3" name="Content Placeholder 2">
            <a:extLst>
              <a:ext uri="{FF2B5EF4-FFF2-40B4-BE49-F238E27FC236}">
                <a16:creationId xmlns:a16="http://schemas.microsoft.com/office/drawing/2014/main" id="{B0226BFE-2329-42CE-AA8D-DD2EC7424B6C}"/>
              </a:ext>
            </a:extLst>
          </p:cNvPr>
          <p:cNvSpPr>
            <a:spLocks noGrp="1"/>
          </p:cNvSpPr>
          <p:nvPr>
            <p:ph idx="1"/>
          </p:nvPr>
        </p:nvSpPr>
        <p:spPr/>
        <p:txBody>
          <a:bodyPr>
            <a:noAutofit/>
          </a:bodyPr>
          <a:lstStyle/>
          <a:p>
            <a:pPr marL="0" indent="0" algn="just">
              <a:spcAft>
                <a:spcPts val="400"/>
              </a:spcAft>
              <a:buNone/>
            </a:pPr>
            <a:r>
              <a:rPr lang="en-US" sz="1800" b="1" dirty="0">
                <a:latin typeface="Times New Roman" panose="02020603050405020304" pitchFamily="18" charset="0"/>
                <a:cs typeface="Times New Roman" panose="02020603050405020304" pitchFamily="18" charset="0"/>
              </a:rPr>
              <a:t>5. Home atmosphere in Childhood and Adolescence: </a:t>
            </a:r>
            <a:r>
              <a:rPr lang="en-US" sz="1800" dirty="0">
                <a:latin typeface="Times New Roman" panose="02020603050405020304" pitchFamily="18" charset="0"/>
                <a:cs typeface="Times New Roman" panose="02020603050405020304" pitchFamily="18" charset="0"/>
              </a:rPr>
              <a:t>Her home environment during childhood and adolescence was cordial.</a:t>
            </a:r>
          </a:p>
          <a:p>
            <a:pPr algn="just">
              <a:spcAft>
                <a:spcPts val="400"/>
              </a:spcAft>
            </a:pPr>
            <a:endParaRPr lang="en-US" sz="1800" dirty="0">
              <a:latin typeface="Times New Roman" panose="02020603050405020304" pitchFamily="18" charset="0"/>
              <a:cs typeface="Times New Roman" panose="02020603050405020304" pitchFamily="18" charset="0"/>
            </a:endParaRPr>
          </a:p>
          <a:p>
            <a:pPr marL="0" indent="0" algn="just">
              <a:spcAft>
                <a:spcPts val="400"/>
              </a:spcAft>
              <a:buNone/>
            </a:pPr>
            <a:r>
              <a:rPr lang="en-US" sz="1800" b="1" dirty="0">
                <a:latin typeface="Times New Roman" panose="02020603050405020304" pitchFamily="18" charset="0"/>
                <a:cs typeface="Times New Roman" panose="02020603050405020304" pitchFamily="18" charset="0"/>
              </a:rPr>
              <a:t>6. Scholastic and Extracurricular Activities: </a:t>
            </a:r>
            <a:r>
              <a:rPr lang="en-US" sz="1800" dirty="0">
                <a:latin typeface="Times New Roman" panose="02020603050405020304" pitchFamily="18" charset="0"/>
                <a:cs typeface="Times New Roman" panose="02020603050405020304" pitchFamily="18" charset="0"/>
              </a:rPr>
              <a:t>She was average in her studies and used to participate in extracurricular activities (Singing) when she was in school.</a:t>
            </a:r>
          </a:p>
          <a:p>
            <a:pPr algn="just">
              <a:spcAft>
                <a:spcPts val="400"/>
              </a:spcAft>
            </a:pPr>
            <a:endParaRPr lang="en-US" sz="1800" dirty="0">
              <a:latin typeface="Times New Roman" panose="02020603050405020304" pitchFamily="18" charset="0"/>
              <a:cs typeface="Times New Roman" panose="02020603050405020304" pitchFamily="18" charset="0"/>
            </a:endParaRPr>
          </a:p>
          <a:p>
            <a:pPr marL="0" indent="0" algn="just">
              <a:spcAft>
                <a:spcPts val="400"/>
              </a:spcAft>
              <a:buNone/>
            </a:pPr>
            <a:r>
              <a:rPr lang="en-US" sz="1800" b="1" dirty="0">
                <a:latin typeface="Times New Roman" panose="02020603050405020304" pitchFamily="18" charset="0"/>
                <a:cs typeface="Times New Roman" panose="02020603050405020304" pitchFamily="18" charset="0"/>
              </a:rPr>
              <a:t>7. Occupation:</a:t>
            </a:r>
            <a:r>
              <a:rPr lang="en-US" sz="1800" dirty="0">
                <a:latin typeface="Times New Roman" panose="02020603050405020304" pitchFamily="18" charset="0"/>
                <a:cs typeface="Times New Roman" panose="02020603050405020304" pitchFamily="18" charset="0"/>
              </a:rPr>
              <a:t> Currently, she is a govt school teacher.</a:t>
            </a:r>
          </a:p>
          <a:p>
            <a:pPr marL="0" indent="0" algn="just">
              <a:spcAft>
                <a:spcPts val="400"/>
              </a:spcAft>
              <a:buNone/>
            </a:pPr>
            <a:endParaRPr lang="en-US" sz="1800" dirty="0">
              <a:latin typeface="Times New Roman" panose="02020603050405020304" pitchFamily="18" charset="0"/>
              <a:cs typeface="Times New Roman" panose="02020603050405020304" pitchFamily="18" charset="0"/>
            </a:endParaRPr>
          </a:p>
          <a:p>
            <a:pPr marL="0" indent="0" algn="just">
              <a:spcAft>
                <a:spcPts val="400"/>
              </a:spcAft>
              <a:buNone/>
            </a:pPr>
            <a:r>
              <a:rPr lang="en-US" sz="1800" b="1" dirty="0">
                <a:solidFill>
                  <a:srgbClr val="000000"/>
                </a:solidFill>
              </a:rPr>
              <a:t>8. Menstruation History: </a:t>
            </a:r>
            <a:r>
              <a:rPr lang="en-US" sz="1800" dirty="0">
                <a:solidFill>
                  <a:srgbClr val="000000"/>
                </a:solidFill>
              </a:rPr>
              <a:t>As reported by the patient, she obtained her menarche when she was 15 years old. She experiences regular menses without any pain, and the menstrual cycle is normal 3-4 days.</a:t>
            </a:r>
            <a:endParaRPr lang="en-US" sz="1800" dirty="0">
              <a:latin typeface="Times New Roman" panose="02020603050405020304" pitchFamily="18" charset="0"/>
              <a:cs typeface="Times New Roman" panose="02020603050405020304" pitchFamily="18" charset="0"/>
            </a:endParaRPr>
          </a:p>
          <a:p>
            <a:pPr algn="just">
              <a:spcAft>
                <a:spcPts val="400"/>
              </a:spcAft>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1809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02B8-2224-601E-B59E-74694CDAA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C0DA7-CD34-1415-4A71-FB313D26B705}"/>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Personal History</a:t>
            </a:r>
            <a:endParaRPr lang="en-IN" dirty="0"/>
          </a:p>
        </p:txBody>
      </p:sp>
      <p:sp>
        <p:nvSpPr>
          <p:cNvPr id="3" name="Content Placeholder 2">
            <a:extLst>
              <a:ext uri="{FF2B5EF4-FFF2-40B4-BE49-F238E27FC236}">
                <a16:creationId xmlns:a16="http://schemas.microsoft.com/office/drawing/2014/main" id="{8979E674-CC92-80BB-F5AA-E19242CED673}"/>
              </a:ext>
            </a:extLst>
          </p:cNvPr>
          <p:cNvSpPr>
            <a:spLocks noGrp="1"/>
          </p:cNvSpPr>
          <p:nvPr>
            <p:ph idx="1"/>
          </p:nvPr>
        </p:nvSpPr>
        <p:spPr/>
        <p:txBody>
          <a:bodyPr>
            <a:noAutofit/>
          </a:bodyPr>
          <a:lstStyle/>
          <a:p>
            <a:pPr marL="0" indent="0">
              <a:spcAft>
                <a:spcPts val="400"/>
              </a:spcAft>
              <a:buNone/>
            </a:pPr>
            <a:r>
              <a:rPr lang="en-US" sz="1800" b="1" dirty="0">
                <a:solidFill>
                  <a:srgbClr val="000000"/>
                </a:solidFill>
              </a:rPr>
              <a:t>9. Sexual History: </a:t>
            </a:r>
            <a:r>
              <a:rPr lang="en-US" sz="1800" dirty="0">
                <a:solidFill>
                  <a:srgbClr val="000000"/>
                </a:solidFill>
              </a:rPr>
              <a:t>As reported by the patient, she engages in sexual activity 3-4 times a month, which is satisfactory and uses protection during intercourse.</a:t>
            </a:r>
          </a:p>
          <a:p>
            <a:pPr>
              <a:spcAft>
                <a:spcPts val="400"/>
              </a:spcAft>
            </a:pPr>
            <a:endParaRPr lang="en-US" sz="1800" dirty="0">
              <a:solidFill>
                <a:srgbClr val="000000"/>
              </a:solidFill>
            </a:endParaRPr>
          </a:p>
          <a:p>
            <a:pPr marL="0" indent="0">
              <a:spcAft>
                <a:spcPts val="400"/>
              </a:spcAft>
              <a:buNone/>
            </a:pPr>
            <a:r>
              <a:rPr lang="en-US" sz="1800" b="1" dirty="0">
                <a:solidFill>
                  <a:srgbClr val="000000"/>
                </a:solidFill>
              </a:rPr>
              <a:t>10. Marital History: </a:t>
            </a:r>
            <a:r>
              <a:rPr lang="en-US" sz="1800" dirty="0">
                <a:solidFill>
                  <a:srgbClr val="000000"/>
                </a:solidFill>
              </a:rPr>
              <a:t>The patient has been married for the past 15 years, through an arranged marriage, and has two children.</a:t>
            </a:r>
          </a:p>
          <a:p>
            <a:pPr>
              <a:spcAft>
                <a:spcPts val="400"/>
              </a:spcAft>
            </a:pPr>
            <a:endParaRPr lang="en-US" sz="1800" dirty="0">
              <a:solidFill>
                <a:srgbClr val="000000"/>
              </a:solidFill>
            </a:endParaRPr>
          </a:p>
          <a:p>
            <a:pPr marL="0" indent="0">
              <a:spcAft>
                <a:spcPts val="400"/>
              </a:spcAft>
              <a:buNone/>
            </a:pPr>
            <a:r>
              <a:rPr lang="en-US" sz="1800" b="1" dirty="0">
                <a:solidFill>
                  <a:srgbClr val="000000"/>
                </a:solidFill>
              </a:rPr>
              <a:t>11. Substance Use: </a:t>
            </a:r>
            <a:r>
              <a:rPr lang="en-US" sz="1800" dirty="0">
                <a:solidFill>
                  <a:srgbClr val="000000"/>
                </a:solidFill>
              </a:rPr>
              <a:t>As reported by the patient and her family, there is no history of consuming tobacco, alcohol, opioids, cannabis, brown sugar, or cocaine.</a:t>
            </a:r>
          </a:p>
          <a:p>
            <a:pPr>
              <a:spcAft>
                <a:spcPts val="400"/>
              </a:spcAft>
            </a:pPr>
            <a:endParaRPr lang="en-US" sz="1800" dirty="0">
              <a:solidFill>
                <a:srgbClr val="000000"/>
              </a:solidFill>
            </a:endParaRPr>
          </a:p>
          <a:p>
            <a:pPr marL="0" indent="0">
              <a:spcAft>
                <a:spcPts val="400"/>
              </a:spcAft>
              <a:buNone/>
            </a:pPr>
            <a:r>
              <a:rPr lang="en-US" sz="1800" b="1" dirty="0">
                <a:solidFill>
                  <a:srgbClr val="000000"/>
                </a:solidFill>
              </a:rPr>
              <a:t>12. Forensic History: </a:t>
            </a:r>
            <a:r>
              <a:rPr lang="en-US" sz="1800" dirty="0">
                <a:solidFill>
                  <a:srgbClr val="000000"/>
                </a:solidFill>
              </a:rPr>
              <a:t>As reported by the patient, there is no legal or forensic history.</a:t>
            </a:r>
          </a:p>
        </p:txBody>
      </p:sp>
    </p:spTree>
    <p:extLst>
      <p:ext uri="{BB962C8B-B14F-4D97-AF65-F5344CB8AC3E}">
        <p14:creationId xmlns:p14="http://schemas.microsoft.com/office/powerpoint/2010/main" val="2506448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9B8E0-2D46-E02A-9EC8-D734D8C12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E117F-6085-CDAE-AEF3-BCD305FD714C}"/>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Premorbid Personality </a:t>
            </a:r>
            <a:endParaRPr lang="en-IN" dirty="0"/>
          </a:p>
        </p:txBody>
      </p:sp>
      <p:sp>
        <p:nvSpPr>
          <p:cNvPr id="3" name="Content Placeholder 2">
            <a:extLst>
              <a:ext uri="{FF2B5EF4-FFF2-40B4-BE49-F238E27FC236}">
                <a16:creationId xmlns:a16="http://schemas.microsoft.com/office/drawing/2014/main" id="{AC2C064A-7D8D-4852-4F11-F1A56724A96E}"/>
              </a:ext>
            </a:extLst>
          </p:cNvPr>
          <p:cNvSpPr>
            <a:spLocks noGrp="1"/>
          </p:cNvSpPr>
          <p:nvPr>
            <p:ph idx="1"/>
          </p:nvPr>
        </p:nvSpPr>
        <p:spPr/>
        <p:txBody>
          <a:bodyPr>
            <a:normAutofit/>
          </a:bodyPr>
          <a:lstStyle/>
          <a:p>
            <a:pPr marL="0" indent="0" algn="just">
              <a:lnSpc>
                <a:spcPct val="100000"/>
              </a:lnSpc>
              <a:buNone/>
            </a:pPr>
            <a:r>
              <a:rPr lang="en-US" sz="1800" dirty="0">
                <a:latin typeface="Times New Roman" panose="02020603050405020304" pitchFamily="18" charset="0"/>
                <a:cs typeface="Times New Roman" panose="02020603050405020304" pitchFamily="18" charset="0"/>
              </a:rPr>
              <a:t>The patient’s premorbid social relationships were cordial and interactive. She used to initiate conversations and maintain contact with her relatives and friends, and shared a good relationship with her family members. She was responsible towards her work and household duties and was actively involved in managing the family and caring for her children and husband.  Her energy and initiative were appropriate, and she was able to initiate and complete daily tasks and make plans for her family. Her premorbid mood was generally cheerful and contented, although she would become upset easily. When faced with stressful situations, she tended to respond in an emotion-oriented manner, often through crying, verbal arguments, or refusing to communicate with others. In her free time, she enjoyed watching movies and listening to music.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She generally had a positive attitude towards herself and high self-esteem. She believes and maintains moral and religious standards. She also considered maintaining her health and fitness important.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30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C1856-C824-FADA-EC79-FDCC5D983800}"/>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46FA56-B200-778A-A24B-9188061645FE}"/>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GENERAL APPEARANCE AND BEHAVIOUR</a:t>
            </a:r>
          </a:p>
          <a:p>
            <a:pPr marL="0" indent="0" algn="just">
              <a:buNone/>
            </a:pPr>
            <a:r>
              <a:rPr lang="en-US" sz="2000" dirty="0">
                <a:latin typeface="Times New Roman" panose="02020603050405020304" pitchFamily="18" charset="0"/>
                <a:cs typeface="Times New Roman" panose="02020603050405020304" pitchFamily="18" charset="0"/>
              </a:rPr>
              <a:t>The patient appeared well-kempt, with personal hygiene appropriately maintained. She entered the room voluntarily and was cooperative towards the examiner throughout the session. Her facial expressions and body language indicated that he had an interest in the interview, and she maintained consistent eye contact; rapport was established with ease. Although her overall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was cooperative, she was observed to be slightly anxious during the interaction.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4532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22485-2162-0B87-1AE2-DE8CF4A8B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654E1-2E36-C8F6-9603-589644170953}"/>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C155B9-8B64-DBF3-5BF9-B287A8FAFB97}"/>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PSYCHOMOTOR ACTIVITY</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SPEECH</a:t>
            </a:r>
          </a:p>
          <a:p>
            <a:pPr algn="just"/>
            <a:r>
              <a:rPr lang="en-US" sz="2000" b="1" dirty="0">
                <a:latin typeface="Times New Roman" panose="02020603050405020304" pitchFamily="18" charset="0"/>
                <a:cs typeface="Times New Roman" panose="02020603050405020304" pitchFamily="18" charset="0"/>
              </a:rPr>
              <a:t>Coherence: </a:t>
            </a:r>
            <a:r>
              <a:rPr lang="en-US" sz="2000" dirty="0">
                <a:latin typeface="Times New Roman" panose="02020603050405020304" pitchFamily="18" charset="0"/>
                <a:cs typeface="Times New Roman" panose="02020603050405020304" pitchFamily="18" charset="0"/>
              </a:rPr>
              <a:t>Patient was able to comprehend and understand, and her speech was relevant</a:t>
            </a:r>
          </a:p>
          <a:p>
            <a:pPr algn="just"/>
            <a:r>
              <a:rPr lang="en-US" sz="2000" b="1" dirty="0">
                <a:latin typeface="Times New Roman" panose="02020603050405020304" pitchFamily="18" charset="0"/>
                <a:cs typeface="Times New Roman" panose="02020603050405020304" pitchFamily="18" charset="0"/>
              </a:rPr>
              <a:t>Relevance: </a:t>
            </a:r>
            <a:r>
              <a:rPr lang="en-US" sz="2000" dirty="0">
                <a:latin typeface="Times New Roman" panose="02020603050405020304" pitchFamily="18" charset="0"/>
                <a:cs typeface="Times New Roman" panose="02020603050405020304" pitchFamily="18" charset="0"/>
              </a:rPr>
              <a:t>Responses were relevant to the questions asked</a:t>
            </a:r>
          </a:p>
          <a:p>
            <a:pPr algn="just"/>
            <a:r>
              <a:rPr lang="en-US" sz="2000" b="1" dirty="0">
                <a:latin typeface="Times New Roman" panose="02020603050405020304" pitchFamily="18" charset="0"/>
                <a:cs typeface="Times New Roman" panose="02020603050405020304" pitchFamily="18" charset="0"/>
              </a:rPr>
              <a:t>Tone: </a:t>
            </a:r>
            <a:r>
              <a:rPr lang="en-US" sz="2000" dirty="0">
                <a:latin typeface="Times New Roman" panose="02020603050405020304" pitchFamily="18" charset="0"/>
                <a:cs typeface="Times New Roman" panose="02020603050405020304" pitchFamily="18" charset="0"/>
              </a:rPr>
              <a:t>The tone of the speech was low</a:t>
            </a:r>
          </a:p>
          <a:p>
            <a:pPr algn="just"/>
            <a:r>
              <a:rPr lang="en-US" sz="2000" b="1" dirty="0">
                <a:latin typeface="Times New Roman" panose="02020603050405020304" pitchFamily="18" charset="0"/>
                <a:cs typeface="Times New Roman" panose="02020603050405020304" pitchFamily="18" charset="0"/>
              </a:rPr>
              <a:t>Tempo: </a:t>
            </a:r>
            <a:r>
              <a:rPr lang="en-US" sz="2000" dirty="0">
                <a:latin typeface="Times New Roman" panose="02020603050405020304" pitchFamily="18" charset="0"/>
                <a:cs typeface="Times New Roman" panose="02020603050405020304" pitchFamily="18" charset="0"/>
              </a:rPr>
              <a:t>The tempo of the speech was within the appropriate range.</a:t>
            </a:r>
          </a:p>
          <a:p>
            <a:pPr algn="just"/>
            <a:r>
              <a:rPr lang="en-US" sz="2000" b="1" dirty="0">
                <a:latin typeface="Times New Roman" panose="02020603050405020304" pitchFamily="18" charset="0"/>
                <a:cs typeface="Times New Roman" panose="02020603050405020304" pitchFamily="18" charset="0"/>
              </a:rPr>
              <a:t>Reaction time: </a:t>
            </a:r>
            <a:r>
              <a:rPr lang="en-US" sz="2000" dirty="0">
                <a:latin typeface="Times New Roman" panose="02020603050405020304" pitchFamily="18" charset="0"/>
                <a:cs typeface="Times New Roman" panose="02020603050405020304" pitchFamily="18" charset="0"/>
              </a:rPr>
              <a:t>The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Reaction time of the speech was appropriate</a:t>
            </a:r>
          </a:p>
          <a:p>
            <a:pPr algn="just"/>
            <a:r>
              <a:rPr lang="en-US" sz="2000" b="1" dirty="0">
                <a:latin typeface="Times New Roman" panose="02020603050405020304" pitchFamily="18" charset="0"/>
                <a:cs typeface="Times New Roman" panose="02020603050405020304" pitchFamily="18" charset="0"/>
              </a:rPr>
              <a:t>Volume: </a:t>
            </a:r>
            <a:r>
              <a:rPr lang="en-US" sz="2000" dirty="0">
                <a:latin typeface="Times New Roman" panose="02020603050405020304" pitchFamily="18" charset="0"/>
                <a:cs typeface="Times New Roman" panose="02020603050405020304" pitchFamily="18" charset="0"/>
              </a:rPr>
              <a:t>The volume of the speech was low </a:t>
            </a:r>
          </a:p>
        </p:txBody>
      </p:sp>
    </p:spTree>
    <p:extLst>
      <p:ext uri="{BB962C8B-B14F-4D97-AF65-F5344CB8AC3E}">
        <p14:creationId xmlns:p14="http://schemas.microsoft.com/office/powerpoint/2010/main" val="3674169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99560-5C57-2CED-2BAA-18AAE1B82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F5C16-D91D-9517-11E1-6B7A9144F05E}"/>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CF1E83-AB7F-2E9C-ACB7-41DEF332AD90}"/>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PSYCHOMOTOR ACTIVITY</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THOUGHT</a:t>
            </a:r>
          </a:p>
          <a:p>
            <a:pPr algn="just"/>
            <a:r>
              <a:rPr lang="en-US" sz="2000" b="1" dirty="0">
                <a:latin typeface="Times New Roman" panose="02020603050405020304" pitchFamily="18" charset="0"/>
                <a:cs typeface="Times New Roman" panose="02020603050405020304" pitchFamily="18" charset="0"/>
              </a:rPr>
              <a:t>Form: </a:t>
            </a:r>
            <a:r>
              <a:rPr lang="en-US" sz="2000" dirty="0">
                <a:latin typeface="Times New Roman" panose="02020603050405020304" pitchFamily="18" charset="0"/>
                <a:cs typeface="Times New Roman" panose="02020603050405020304" pitchFamily="18" charset="0"/>
              </a:rPr>
              <a:t>There is no disorder in the form of thought</a:t>
            </a:r>
          </a:p>
          <a:p>
            <a:pPr algn="just"/>
            <a:r>
              <a:rPr lang="en-US" sz="2000" b="1" dirty="0">
                <a:latin typeface="Times New Roman" panose="02020603050405020304" pitchFamily="18" charset="0"/>
                <a:cs typeface="Times New Roman" panose="02020603050405020304" pitchFamily="18" charset="0"/>
              </a:rPr>
              <a:t>Stream: </a:t>
            </a:r>
            <a:r>
              <a:rPr lang="en-US" sz="2000" dirty="0">
                <a:latin typeface="Times New Roman" panose="02020603050405020304" pitchFamily="18" charset="0"/>
                <a:cs typeface="Times New Roman" panose="02020603050405020304" pitchFamily="18" charset="0"/>
              </a:rPr>
              <a:t>There is no disorder in the stream of thought</a:t>
            </a:r>
          </a:p>
          <a:p>
            <a:pPr algn="just"/>
            <a:r>
              <a:rPr lang="en-US" sz="2000" b="1" dirty="0">
                <a:latin typeface="Times New Roman" panose="02020603050405020304" pitchFamily="18" charset="0"/>
                <a:cs typeface="Times New Roman" panose="02020603050405020304" pitchFamily="18" charset="0"/>
              </a:rPr>
              <a:t>Possession: </a:t>
            </a:r>
            <a:r>
              <a:rPr lang="en-US" sz="2000" dirty="0">
                <a:latin typeface="Times New Roman" panose="02020603050405020304" pitchFamily="18" charset="0"/>
                <a:cs typeface="Times New Roman" panose="02020603050405020304" pitchFamily="18" charset="0"/>
              </a:rPr>
              <a:t>There is no disorder in the possession of thought</a:t>
            </a:r>
          </a:p>
          <a:p>
            <a:pPr algn="just"/>
            <a:r>
              <a:rPr lang="en-US" sz="2000" b="1" dirty="0">
                <a:latin typeface="Times New Roman" panose="02020603050405020304" pitchFamily="18" charset="0"/>
                <a:cs typeface="Times New Roman" panose="02020603050405020304" pitchFamily="18" charset="0"/>
              </a:rPr>
              <a:t>Content: </a:t>
            </a:r>
            <a:r>
              <a:rPr lang="en-US" sz="2000" dirty="0">
                <a:latin typeface="Times New Roman" panose="02020603050405020304" pitchFamily="18" charset="0"/>
                <a:cs typeface="Times New Roman" panose="02020603050405020304" pitchFamily="18" charset="0"/>
              </a:rPr>
              <a:t>Her thought content revealed depressive cognitions, mostly unhappiness, reduced energy and frequent crying about her feelings and hopelessness about getting better in the future.</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045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17A49-092C-A6DE-7CE7-F9B28CE07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C3577-D644-A4F2-2C23-553463E24F6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E69AB7-45E8-356A-7675-5AD7E661F6D6}"/>
              </a:ext>
            </a:extLst>
          </p:cNvPr>
          <p:cNvSpPr>
            <a:spLocks noGrp="1"/>
          </p:cNvSpPr>
          <p:nvPr>
            <p:ph idx="1"/>
          </p:nvPr>
        </p:nvSpPr>
        <p:spPr>
          <a:xfrm>
            <a:off x="838200" y="1461731"/>
            <a:ext cx="10515600" cy="4351338"/>
          </a:xfrm>
        </p:spPr>
        <p:txBody>
          <a:bodyPr>
            <a:noAutofit/>
          </a:bodyPr>
          <a:lstStyle/>
          <a:p>
            <a:pPr marL="0" indent="0">
              <a:spcAft>
                <a:spcPts val="400"/>
              </a:spcAft>
              <a:buNone/>
            </a:pPr>
            <a:r>
              <a:rPr lang="en-US" sz="1600" b="1" dirty="0">
                <a:solidFill>
                  <a:srgbClr val="000000"/>
                </a:solidFill>
                <a:latin typeface="Times New Roman" panose="02020603050405020304" pitchFamily="18" charset="0"/>
                <a:cs typeface="Times New Roman" panose="02020603050405020304" pitchFamily="18" charset="0"/>
              </a:rPr>
              <a:t>Mood and affect</a:t>
            </a:r>
          </a:p>
          <a:p>
            <a:pPr>
              <a:spcAft>
                <a:spcPts val="400"/>
              </a:spcAft>
            </a:pPr>
            <a:r>
              <a:rPr lang="en-US" sz="1600" b="1" dirty="0">
                <a:solidFill>
                  <a:srgbClr val="000000"/>
                </a:solidFill>
                <a:latin typeface="Times New Roman" panose="02020603050405020304" pitchFamily="18" charset="0"/>
                <a:cs typeface="Times New Roman" panose="02020603050405020304" pitchFamily="18" charset="0"/>
              </a:rPr>
              <a:t>Mood</a:t>
            </a:r>
            <a:r>
              <a:rPr lang="en-US" sz="1600" dirty="0">
                <a:solidFill>
                  <a:srgbClr val="000000"/>
                </a:solidFill>
                <a:latin typeface="Times New Roman" panose="02020603050405020304" pitchFamily="18" charset="0"/>
                <a:cs typeface="Times New Roman" panose="02020603050405020304" pitchFamily="18" charset="0"/>
              </a:rPr>
              <a:t>: “Man </a:t>
            </a:r>
            <a:r>
              <a:rPr lang="en-US" sz="1600" dirty="0" err="1">
                <a:solidFill>
                  <a:srgbClr val="000000"/>
                </a:solidFill>
                <a:latin typeface="Times New Roman" panose="02020603050405020304" pitchFamily="18" charset="0"/>
                <a:cs typeface="Times New Roman" panose="02020603050405020304" pitchFamily="18" charset="0"/>
              </a:rPr>
              <a:t>khush</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nahi</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hai</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bilkul</a:t>
            </a:r>
            <a:r>
              <a:rPr lang="en-US" sz="1600" dirty="0">
                <a:solidFill>
                  <a:srgbClr val="000000"/>
                </a:solidFill>
                <a:latin typeface="Times New Roman" panose="02020603050405020304" pitchFamily="18" charset="0"/>
                <a:cs typeface="Times New Roman" panose="02020603050405020304" pitchFamily="18" charset="0"/>
              </a:rPr>
              <a:t>."</a:t>
            </a:r>
          </a:p>
          <a:p>
            <a:pPr>
              <a:spcAft>
                <a:spcPts val="400"/>
              </a:spcAft>
            </a:pPr>
            <a:r>
              <a:rPr lang="en-US" sz="1600" dirty="0">
                <a:solidFill>
                  <a:srgbClr val="000000"/>
                </a:solidFill>
                <a:latin typeface="Times New Roman" panose="02020603050405020304" pitchFamily="18" charset="0"/>
                <a:cs typeface="Times New Roman" panose="02020603050405020304" pitchFamily="18" charset="0"/>
              </a:rPr>
              <a:t>The patient's subjective mood was dysthymic.</a:t>
            </a:r>
          </a:p>
          <a:p>
            <a:pPr>
              <a:spcAft>
                <a:spcPts val="400"/>
              </a:spcAft>
            </a:pPr>
            <a:r>
              <a:rPr lang="en-US" sz="1600" b="1" dirty="0">
                <a:solidFill>
                  <a:srgbClr val="000000"/>
                </a:solidFill>
                <a:latin typeface="Times New Roman" panose="02020603050405020304" pitchFamily="18" charset="0"/>
                <a:cs typeface="Times New Roman" panose="02020603050405020304" pitchFamily="18" charset="0"/>
              </a:rPr>
              <a:t>Affect</a:t>
            </a:r>
            <a:r>
              <a:rPr lang="en-US" sz="1600" dirty="0">
                <a:solidFill>
                  <a:srgbClr val="000000"/>
                </a:solidFill>
                <a:latin typeface="Times New Roman" panose="02020603050405020304" pitchFamily="18" charset="0"/>
                <a:cs typeface="Times New Roman" panose="02020603050405020304" pitchFamily="18" charset="0"/>
              </a:rPr>
              <a:t>: The patient’s objective mood was congruent.</a:t>
            </a:r>
          </a:p>
          <a:p>
            <a:pPr>
              <a:spcAft>
                <a:spcPts val="400"/>
              </a:spcAft>
            </a:pPr>
            <a:endParaRPr lang="en-US" sz="1600" dirty="0">
              <a:solidFill>
                <a:srgbClr val="000000"/>
              </a:solidFill>
              <a:latin typeface="Times New Roman" panose="02020603050405020304" pitchFamily="18" charset="0"/>
              <a:cs typeface="Times New Roman" panose="02020603050405020304" pitchFamily="18" charset="0"/>
            </a:endParaRPr>
          </a:p>
          <a:p>
            <a:pPr marL="0" indent="0">
              <a:spcAft>
                <a:spcPts val="400"/>
              </a:spcAft>
              <a:buNone/>
            </a:pPr>
            <a:r>
              <a:rPr lang="en-US" sz="1600" b="1" dirty="0">
                <a:solidFill>
                  <a:srgbClr val="000000"/>
                </a:solidFill>
                <a:latin typeface="Times New Roman" panose="02020603050405020304" pitchFamily="18" charset="0"/>
                <a:cs typeface="Times New Roman" panose="02020603050405020304" pitchFamily="18" charset="0"/>
              </a:rPr>
              <a:t>Sensorium and perception: </a:t>
            </a:r>
          </a:p>
          <a:p>
            <a:pPr marL="0" indent="0">
              <a:spcAft>
                <a:spcPts val="400"/>
              </a:spcAft>
              <a:buNone/>
            </a:pPr>
            <a:r>
              <a:rPr lang="en-US" sz="1600" dirty="0">
                <a:solidFill>
                  <a:srgbClr val="000000"/>
                </a:solidFill>
                <a:latin typeface="Times New Roman" panose="02020603050405020304" pitchFamily="18" charset="0"/>
                <a:cs typeface="Times New Roman" panose="02020603050405020304" pitchFamily="18" charset="0"/>
              </a:rPr>
              <a:t>No perceptual disturbances were present</a:t>
            </a:r>
          </a:p>
        </p:txBody>
      </p:sp>
    </p:spTree>
    <p:extLst>
      <p:ext uri="{BB962C8B-B14F-4D97-AF65-F5344CB8AC3E}">
        <p14:creationId xmlns:p14="http://schemas.microsoft.com/office/powerpoint/2010/main" val="4277900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F2C2-9A8E-7492-749A-3D9566A6B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19855-2E73-11D1-30EB-451668541E3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FAA6C9-D6F3-7B95-A20E-1FC85636A57F}"/>
              </a:ext>
            </a:extLst>
          </p:cNvPr>
          <p:cNvSpPr>
            <a:spLocks noGrp="1"/>
          </p:cNvSpPr>
          <p:nvPr>
            <p:ph idx="1"/>
          </p:nvPr>
        </p:nvSpPr>
        <p:spPr/>
        <p:txBody>
          <a:bodyPr>
            <a:normAutofit lnSpcReduction="10000"/>
          </a:bodyPr>
          <a:lstStyle/>
          <a:p>
            <a:pPr marL="0" indent="0" algn="just">
              <a:buNone/>
            </a:pPr>
            <a:r>
              <a:rPr lang="en-US" sz="1900" b="1" dirty="0">
                <a:latin typeface="Times New Roman" panose="02020603050405020304" pitchFamily="18" charset="0"/>
                <a:cs typeface="Times New Roman" panose="02020603050405020304" pitchFamily="18" charset="0"/>
              </a:rPr>
              <a:t>HIGHER COGNITIVE FUNCTIONS</a:t>
            </a:r>
          </a:p>
          <a:p>
            <a:pPr algn="just"/>
            <a:r>
              <a:rPr lang="en-US" sz="1900" b="1" dirty="0">
                <a:latin typeface="Times New Roman" panose="02020603050405020304" pitchFamily="18" charset="0"/>
                <a:cs typeface="Times New Roman" panose="02020603050405020304" pitchFamily="18" charset="0"/>
              </a:rPr>
              <a:t>Levels of Consciousness: </a:t>
            </a:r>
            <a:r>
              <a:rPr lang="en-US" sz="1900" dirty="0">
                <a:latin typeface="Times New Roman" panose="02020603050405020304" pitchFamily="18" charset="0"/>
                <a:cs typeface="Times New Roman" panose="02020603050405020304" pitchFamily="18" charset="0"/>
              </a:rPr>
              <a:t>The patient was drowsy</a:t>
            </a:r>
          </a:p>
          <a:p>
            <a:pPr algn="just"/>
            <a:endParaRPr lang="en-US" sz="1900" dirty="0">
              <a:latin typeface="Times New Roman" panose="02020603050405020304" pitchFamily="18" charset="0"/>
              <a:cs typeface="Times New Roman" panose="02020603050405020304" pitchFamily="18" charset="0"/>
            </a:endParaRPr>
          </a:p>
          <a:p>
            <a:pPr algn="just"/>
            <a:r>
              <a:rPr lang="en-US" sz="1900" b="1" dirty="0">
                <a:latin typeface="Times New Roman" panose="02020603050405020304" pitchFamily="18" charset="0"/>
                <a:cs typeface="Times New Roman" panose="02020603050405020304" pitchFamily="18" charset="0"/>
              </a:rPr>
              <a:t>Orientation: </a:t>
            </a:r>
            <a:r>
              <a:rPr lang="en-US" sz="1900" dirty="0">
                <a:latin typeface="Times New Roman" panose="02020603050405020304" pitchFamily="18" charset="0"/>
                <a:cs typeface="Times New Roman" panose="02020603050405020304" pitchFamily="18" charset="0"/>
              </a:rPr>
              <a:t>To assess orientation to </a:t>
            </a:r>
            <a:r>
              <a:rPr lang="en-US" sz="1900" b="1" dirty="0">
                <a:latin typeface="Times New Roman" panose="02020603050405020304" pitchFamily="18" charset="0"/>
                <a:cs typeface="Times New Roman" panose="02020603050405020304" pitchFamily="18" charset="0"/>
              </a:rPr>
              <a:t>time, </a:t>
            </a:r>
            <a:r>
              <a:rPr lang="en-US" sz="1900" dirty="0">
                <a:latin typeface="Times New Roman" panose="02020603050405020304" pitchFamily="18" charset="0"/>
                <a:cs typeface="Times New Roman" panose="02020603050405020304" pitchFamily="18" charset="0"/>
              </a:rPr>
              <a:t>the patient was asked, "Abhi </a:t>
            </a:r>
            <a:r>
              <a:rPr lang="en-US" sz="1900" dirty="0" err="1">
                <a:latin typeface="Times New Roman" panose="02020603050405020304" pitchFamily="18" charset="0"/>
                <a:cs typeface="Times New Roman" panose="02020603050405020304" pitchFamily="18" charset="0"/>
              </a:rPr>
              <a:t>kya</a:t>
            </a:r>
            <a:r>
              <a:rPr lang="en-US" sz="1900" dirty="0">
                <a:latin typeface="Times New Roman" panose="02020603050405020304" pitchFamily="18" charset="0"/>
                <a:cs typeface="Times New Roman" panose="02020603050405020304" pitchFamily="18" charset="0"/>
              </a:rPr>
              <a:t> time ho </a:t>
            </a:r>
            <a:r>
              <a:rPr lang="en-US" sz="1900" dirty="0" err="1">
                <a:latin typeface="Times New Roman" panose="02020603050405020304" pitchFamily="18" charset="0"/>
                <a:cs typeface="Times New Roman" panose="02020603050405020304" pitchFamily="18" charset="0"/>
              </a:rPr>
              <a:t>raha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hai</a:t>
            </a:r>
            <a:r>
              <a:rPr lang="en-US" sz="1900" dirty="0">
                <a:latin typeface="Times New Roman" panose="02020603050405020304" pitchFamily="18" charset="0"/>
                <a:cs typeface="Times New Roman" panose="02020603050405020304" pitchFamily="18" charset="0"/>
              </a:rPr>
              <a:t>?" (Time 5:30 ho </a:t>
            </a:r>
            <a:r>
              <a:rPr lang="en-US" sz="1900" dirty="0" err="1">
                <a:latin typeface="Times New Roman" panose="02020603050405020304" pitchFamily="18" charset="0"/>
                <a:cs typeface="Times New Roman" panose="02020603050405020304" pitchFamily="18" charset="0"/>
              </a:rPr>
              <a:t>raha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hai</a:t>
            </a:r>
            <a:r>
              <a:rPr lang="en-US" sz="1900" dirty="0">
                <a:latin typeface="Times New Roman" panose="02020603050405020304" pitchFamily="18" charset="0"/>
                <a:cs typeface="Times New Roman" panose="02020603050405020304" pitchFamily="18" charset="0"/>
              </a:rPr>
              <a:t>). Then she was asked, "</a:t>
            </a:r>
            <a:r>
              <a:rPr lang="en-US" sz="1900" dirty="0" err="1">
                <a:latin typeface="Times New Roman" panose="02020603050405020304" pitchFamily="18" charset="0"/>
                <a:cs typeface="Times New Roman" panose="02020603050405020304" pitchFamily="18" charset="0"/>
              </a:rPr>
              <a:t>Aap</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aaj</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jis</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jagah</a:t>
            </a:r>
            <a:r>
              <a:rPr lang="en-US" sz="1900" dirty="0">
                <a:latin typeface="Times New Roman" panose="02020603050405020304" pitchFamily="18" charset="0"/>
                <a:cs typeface="Times New Roman" panose="02020603050405020304" pitchFamily="18" charset="0"/>
              </a:rPr>
              <a:t> par aye </a:t>
            </a:r>
            <a:r>
              <a:rPr lang="en-US" sz="1900" dirty="0" err="1">
                <a:latin typeface="Times New Roman" panose="02020603050405020304" pitchFamily="18" charset="0"/>
                <a:cs typeface="Times New Roman" panose="02020603050405020304" pitchFamily="18" charset="0"/>
              </a:rPr>
              <a:t>hain</a:t>
            </a:r>
            <a:r>
              <a:rPr lang="en-US" sz="1900" dirty="0">
                <a:latin typeface="Times New Roman" panose="02020603050405020304" pitchFamily="18" charset="0"/>
                <a:cs typeface="Times New Roman" panose="02020603050405020304" pitchFamily="18" charset="0"/>
              </a:rPr>
              <a:t>, ye </a:t>
            </a:r>
            <a:r>
              <a:rPr lang="en-US" sz="1900" dirty="0" err="1">
                <a:latin typeface="Times New Roman" panose="02020603050405020304" pitchFamily="18" charset="0"/>
                <a:cs typeface="Times New Roman" panose="02020603050405020304" pitchFamily="18" charset="0"/>
              </a:rPr>
              <a:t>konsi</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jagah</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hai</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iska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kya</a:t>
            </a:r>
            <a:r>
              <a:rPr lang="en-US" sz="1900" dirty="0">
                <a:latin typeface="Times New Roman" panose="02020603050405020304" pitchFamily="18" charset="0"/>
                <a:cs typeface="Times New Roman" panose="02020603050405020304" pitchFamily="18" charset="0"/>
              </a:rPr>
              <a:t> naam </a:t>
            </a:r>
            <a:r>
              <a:rPr lang="en-US" sz="1900" dirty="0" err="1">
                <a:latin typeface="Times New Roman" panose="02020603050405020304" pitchFamily="18" charset="0"/>
                <a:cs typeface="Times New Roman" panose="02020603050405020304" pitchFamily="18" charset="0"/>
              </a:rPr>
              <a:t>hai</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place</a:t>
            </a:r>
            <a:r>
              <a:rPr lang="en-US" sz="1900" dirty="0">
                <a:latin typeface="Times New Roman" panose="02020603050405020304" pitchFamily="18" charset="0"/>
                <a:cs typeface="Times New Roman" panose="02020603050405020304" pitchFamily="18" charset="0"/>
              </a:rPr>
              <a:t>) (Man </a:t>
            </a:r>
            <a:r>
              <a:rPr lang="en-US" sz="1900" dirty="0" err="1">
                <a:latin typeface="Times New Roman" panose="02020603050405020304" pitchFamily="18" charset="0"/>
                <a:cs typeface="Times New Roman" panose="02020603050405020304" pitchFamily="18" charset="0"/>
              </a:rPr>
              <a:t>Haspatal</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hai</a:t>
            </a:r>
            <a:r>
              <a:rPr lang="en-US" sz="1900" dirty="0">
                <a:latin typeface="Times New Roman" panose="02020603050405020304" pitchFamily="18" charset="0"/>
                <a:cs typeface="Times New Roman" panose="02020603050405020304" pitchFamily="18" charset="0"/>
              </a:rPr>
              <a:t> ye.”). Lastly, she was asked, "Apke </a:t>
            </a:r>
            <a:r>
              <a:rPr lang="en-US" sz="1900" dirty="0" err="1">
                <a:latin typeface="Times New Roman" panose="02020603050405020304" pitchFamily="18" charset="0"/>
                <a:cs typeface="Times New Roman" panose="02020603050405020304" pitchFamily="18" charset="0"/>
              </a:rPr>
              <a:t>sath</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yahan</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kon</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aya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hai</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Person</a:t>
            </a:r>
            <a:r>
              <a:rPr lang="en-US" sz="1900" dirty="0">
                <a:latin typeface="Times New Roman" panose="02020603050405020304" pitchFamily="18" charset="0"/>
                <a:cs typeface="Times New Roman" panose="02020603050405020304" pitchFamily="18" charset="0"/>
              </a:rPr>
              <a:t>). She answered, “</a:t>
            </a:r>
            <a:r>
              <a:rPr lang="en-US" sz="1900" dirty="0" err="1">
                <a:latin typeface="Times New Roman" panose="02020603050405020304" pitchFamily="18" charset="0"/>
                <a:cs typeface="Times New Roman" panose="02020603050405020304" pitchFamily="18" charset="0"/>
              </a:rPr>
              <a:t>pati</a:t>
            </a:r>
            <a:r>
              <a:rPr lang="en-US" sz="1900" dirty="0">
                <a:latin typeface="Times New Roman" panose="02020603050405020304" pitchFamily="18" charset="0"/>
                <a:cs typeface="Times New Roman" panose="02020603050405020304" pitchFamily="18" charset="0"/>
              </a:rPr>
              <a:t>”</a:t>
            </a:r>
          </a:p>
          <a:p>
            <a:pPr algn="just"/>
            <a:r>
              <a:rPr lang="en-US" sz="1900" b="1" dirty="0">
                <a:latin typeface="Times New Roman" panose="02020603050405020304" pitchFamily="18" charset="0"/>
                <a:cs typeface="Times New Roman" panose="02020603050405020304" pitchFamily="18" charset="0"/>
              </a:rPr>
              <a:t>Impression: </a:t>
            </a:r>
            <a:r>
              <a:rPr lang="en-US" sz="1900" dirty="0">
                <a:latin typeface="Times New Roman" panose="02020603050405020304" pitchFamily="18" charset="0"/>
                <a:cs typeface="Times New Roman" panose="02020603050405020304" pitchFamily="18" charset="0"/>
              </a:rPr>
              <a:t>The patient was oriented to time, place and person.</a:t>
            </a:r>
          </a:p>
          <a:p>
            <a:pPr marL="0" indent="0" algn="just">
              <a:buNone/>
            </a:pPr>
            <a:endParaRPr lang="en-US" sz="1900" dirty="0">
              <a:latin typeface="Times New Roman" panose="02020603050405020304" pitchFamily="18" charset="0"/>
              <a:cs typeface="Times New Roman" panose="02020603050405020304" pitchFamily="18" charset="0"/>
            </a:endParaRPr>
          </a:p>
          <a:p>
            <a:pPr algn="just"/>
            <a:r>
              <a:rPr lang="en-US" sz="1900" b="1" dirty="0">
                <a:latin typeface="Times New Roman" panose="02020603050405020304" pitchFamily="18" charset="0"/>
                <a:cs typeface="Times New Roman" panose="02020603050405020304" pitchFamily="18" charset="0"/>
              </a:rPr>
              <a:t>Attention and Concentration: </a:t>
            </a:r>
            <a:r>
              <a:rPr lang="en-US" sz="1900" dirty="0">
                <a:latin typeface="Times New Roman" panose="02020603050405020304" pitchFamily="18" charset="0"/>
                <a:cs typeface="Times New Roman" panose="02020603050405020304" pitchFamily="18" charset="0"/>
              </a:rPr>
              <a:t>Her attention was aroused and sustained. She was able to complete the digit span forward and backwards up to 4 digits</a:t>
            </a:r>
          </a:p>
          <a:p>
            <a:pPr algn="just"/>
            <a:endParaRPr lang="en-US" sz="1900" dirty="0">
              <a:latin typeface="Times New Roman" panose="02020603050405020304" pitchFamily="18" charset="0"/>
              <a:cs typeface="Times New Roman" panose="02020603050405020304" pitchFamily="18" charset="0"/>
            </a:endParaRPr>
          </a:p>
          <a:p>
            <a:pPr algn="just"/>
            <a:r>
              <a:rPr lang="en-US" sz="1900" b="1" dirty="0">
                <a:latin typeface="Times New Roman" panose="02020603050405020304" pitchFamily="18" charset="0"/>
                <a:cs typeface="Times New Roman" panose="02020603050405020304" pitchFamily="18" charset="0"/>
              </a:rPr>
              <a:t>Serial subtractions test: </a:t>
            </a:r>
            <a:r>
              <a:rPr lang="en-US" sz="1900" dirty="0">
                <a:latin typeface="Times New Roman" panose="02020603050405020304" pitchFamily="18" charset="0"/>
                <a:cs typeface="Times New Roman" panose="02020603050405020304" pitchFamily="18" charset="0"/>
              </a:rPr>
              <a:t>She was able to complete serial subtraction (20-1) within 15 seconds.</a:t>
            </a:r>
          </a:p>
        </p:txBody>
      </p:sp>
    </p:spTree>
    <p:extLst>
      <p:ext uri="{BB962C8B-B14F-4D97-AF65-F5344CB8AC3E}">
        <p14:creationId xmlns:p14="http://schemas.microsoft.com/office/powerpoint/2010/main" val="3075859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8521-C652-A5C4-059E-981E23EDF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56EA9-6CAD-A2CD-B376-C2E12D646E6A}"/>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27A209-3D76-A430-E2B6-9694B9813628}"/>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MEMORY</a:t>
            </a:r>
          </a:p>
          <a:p>
            <a:pPr marL="0" indent="0" algn="just">
              <a:buNone/>
            </a:pPr>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Immediate:</a:t>
            </a:r>
            <a:r>
              <a:rPr lang="en-US" sz="2000" dirty="0">
                <a:latin typeface="Times New Roman" panose="02020603050405020304" pitchFamily="18" charset="0"/>
                <a:cs typeface="Times New Roman" panose="02020603050405020304" pitchFamily="18" charset="0"/>
              </a:rPr>
              <a:t> She was able to correctly recall all three words out of three words given to her, which were Aam, </a:t>
            </a:r>
            <a:r>
              <a:rPr lang="en-US" sz="2000" dirty="0" err="1">
                <a:latin typeface="Times New Roman" panose="02020603050405020304" pitchFamily="18" charset="0"/>
                <a:cs typeface="Times New Roman" panose="02020603050405020304" pitchFamily="18" charset="0"/>
              </a:rPr>
              <a:t>kursi</a:t>
            </a:r>
            <a:r>
              <a:rPr lang="en-US" sz="2000" dirty="0">
                <a:latin typeface="Times New Roman" panose="02020603050405020304" pitchFamily="18" charset="0"/>
                <a:cs typeface="Times New Roman" panose="02020603050405020304" pitchFamily="18" charset="0"/>
              </a:rPr>
              <a:t> and sui.</a:t>
            </a:r>
          </a:p>
          <a:p>
            <a:pPr algn="just"/>
            <a:r>
              <a:rPr lang="en-US" sz="2000" b="1" dirty="0">
                <a:latin typeface="Times New Roman" panose="02020603050405020304" pitchFamily="18" charset="0"/>
                <a:cs typeface="Times New Roman" panose="02020603050405020304" pitchFamily="18" charset="0"/>
              </a:rPr>
              <a:t>Recent: </a:t>
            </a:r>
            <a:r>
              <a:rPr lang="en-US" sz="2000" dirty="0">
                <a:latin typeface="Times New Roman" panose="02020603050405020304" pitchFamily="18" charset="0"/>
                <a:cs typeface="Times New Roman" panose="02020603050405020304" pitchFamily="18" charset="0"/>
              </a:rPr>
              <a:t>In recent memory tasks, the patient was able to recall what she had for breakfast and how she travelled to the hospital a few hours ago. </a:t>
            </a:r>
          </a:p>
          <a:p>
            <a:pPr algn="just"/>
            <a:r>
              <a:rPr lang="en-US" sz="2000" b="1" dirty="0">
                <a:latin typeface="Times New Roman" panose="02020603050405020304" pitchFamily="18" charset="0"/>
                <a:cs typeface="Times New Roman" panose="02020603050405020304" pitchFamily="18" charset="0"/>
              </a:rPr>
              <a:t>Remote: </a:t>
            </a:r>
            <a:r>
              <a:rPr lang="en-US" sz="2000" dirty="0">
                <a:latin typeface="Times New Roman" panose="02020603050405020304" pitchFamily="18" charset="0"/>
                <a:cs typeface="Times New Roman" panose="02020603050405020304" pitchFamily="18" charset="0"/>
              </a:rPr>
              <a:t>The patient was able to recall the date of her birth and her school’s name and confirmed with the informant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Impression</a:t>
            </a:r>
            <a:r>
              <a:rPr lang="en-US" sz="2000" dirty="0">
                <a:latin typeface="Times New Roman" panose="02020603050405020304" pitchFamily="18" charset="0"/>
                <a:cs typeface="Times New Roman" panose="02020603050405020304" pitchFamily="18" charset="0"/>
              </a:rPr>
              <a:t>: Immediate, recent and remote memory seem to be intact and normal. </a:t>
            </a:r>
          </a:p>
        </p:txBody>
      </p:sp>
    </p:spTree>
    <p:extLst>
      <p:ext uri="{BB962C8B-B14F-4D97-AF65-F5344CB8AC3E}">
        <p14:creationId xmlns:p14="http://schemas.microsoft.com/office/powerpoint/2010/main" val="2568547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BBD8A-2BFC-4F5F-ED53-80BC93690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D9769-E378-7A52-9327-DF945E3A306C}"/>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A34B5E-62F7-D21D-1B81-E7545AE488A5}"/>
              </a:ext>
            </a:extLst>
          </p:cNvPr>
          <p:cNvSpPr>
            <a:spLocks noGrp="1"/>
          </p:cNvSpPr>
          <p:nvPr>
            <p:ph idx="1"/>
          </p:nvPr>
        </p:nvSpPr>
        <p:spPr/>
        <p:txBody>
          <a:bodyPr>
            <a:normAutofit lnSpcReduction="10000"/>
          </a:bodyPr>
          <a:lstStyle/>
          <a:p>
            <a:pPr marL="0" indent="0" algn="just">
              <a:buNone/>
            </a:pPr>
            <a:r>
              <a:rPr lang="en-US" sz="2000" b="1" dirty="0">
                <a:latin typeface="Times New Roman" panose="02020603050405020304" pitchFamily="18" charset="0"/>
                <a:cs typeface="Times New Roman" panose="02020603050405020304" pitchFamily="18" charset="0"/>
              </a:rPr>
              <a:t>ABSTRACTABILITY </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Differences:</a:t>
            </a:r>
            <a:r>
              <a:rPr lang="en-US" sz="2000" dirty="0">
                <a:latin typeface="Times New Roman" panose="02020603050405020304" pitchFamily="18" charset="0"/>
                <a:cs typeface="Times New Roman" panose="02020603050405020304" pitchFamily="18" charset="0"/>
              </a:rPr>
              <a:t> Aloo vs </a:t>
            </a:r>
            <a:r>
              <a:rPr lang="en-US" sz="2000" dirty="0" err="1">
                <a:latin typeface="Times New Roman" panose="02020603050405020304" pitchFamily="18" charset="0"/>
                <a:cs typeface="Times New Roman" panose="02020603050405020304" pitchFamily="18" charset="0"/>
              </a:rPr>
              <a:t>Patthar</a:t>
            </a: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(Aloo – “</a:t>
            </a:r>
            <a:r>
              <a:rPr lang="en-US" sz="2000" dirty="0" err="1">
                <a:latin typeface="Times New Roman" panose="02020603050405020304" pitchFamily="18" charset="0"/>
                <a:cs typeface="Times New Roman" panose="02020603050405020304" pitchFamily="18" charset="0"/>
              </a:rPr>
              <a:t>sabji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khate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Pathar</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kadak</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pakta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nahi</a:t>
            </a:r>
            <a:r>
              <a:rPr lang="en-US" sz="2000" dirty="0">
                <a:latin typeface="Times New Roman" panose="02020603050405020304" pitchFamily="18" charset="0"/>
                <a:cs typeface="Times New Roman" panose="02020603050405020304" pitchFamily="18" charset="0"/>
              </a:rPr>
              <a:t>.”)</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Similarities: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santra</a:t>
            </a:r>
            <a:r>
              <a:rPr lang="en-US" sz="2000" dirty="0">
                <a:latin typeface="Times New Roman" panose="02020603050405020304" pitchFamily="18" charset="0"/>
                <a:cs typeface="Times New Roman" panose="02020603050405020304" pitchFamily="18" charset="0"/>
              </a:rPr>
              <a:t> vs </a:t>
            </a:r>
            <a:r>
              <a:rPr lang="en-US" sz="2000" dirty="0" err="1">
                <a:latin typeface="Times New Roman" panose="02020603050405020304" pitchFamily="18" charset="0"/>
                <a:cs typeface="Times New Roman" panose="02020603050405020304" pitchFamily="18" charset="0"/>
              </a:rPr>
              <a:t>nimbu</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santra</a:t>
            </a:r>
            <a:r>
              <a:rPr lang="en-US" sz="2000" dirty="0">
                <a:latin typeface="Times New Roman" panose="02020603050405020304" pitchFamily="18" charset="0"/>
                <a:cs typeface="Times New Roman" panose="02020603050405020304" pitchFamily="18" charset="0"/>
              </a:rPr>
              <a:t> aur </a:t>
            </a:r>
            <a:r>
              <a:rPr lang="en-US" sz="2000" dirty="0" err="1">
                <a:latin typeface="Times New Roman" panose="02020603050405020304" pitchFamily="18" charset="0"/>
                <a:cs typeface="Times New Roman" panose="02020603050405020304" pitchFamily="18" charset="0"/>
              </a:rPr>
              <a:t>nimbu</a:t>
            </a:r>
            <a:r>
              <a:rPr lang="en-US" sz="2000" dirty="0">
                <a:latin typeface="Times New Roman" panose="02020603050405020304" pitchFamily="18" charset="0"/>
                <a:cs typeface="Times New Roman" panose="02020603050405020304" pitchFamily="18" charset="0"/>
              </a:rPr>
              <a:t>– kali </a:t>
            </a:r>
            <a:r>
              <a:rPr lang="en-US" sz="2000" dirty="0" err="1">
                <a:latin typeface="Times New Roman" panose="02020603050405020304" pitchFamily="18" charset="0"/>
                <a:cs typeface="Times New Roman" panose="02020603050405020304" pitchFamily="18" charset="0"/>
              </a:rPr>
              <a:t>hoti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beejh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Proverbs: </a:t>
            </a:r>
            <a:r>
              <a:rPr lang="en-US" sz="2000" dirty="0">
                <a:latin typeface="Times New Roman" panose="02020603050405020304" pitchFamily="18" charset="0"/>
                <a:cs typeface="Times New Roman" panose="02020603050405020304" pitchFamily="18" charset="0"/>
              </a:rPr>
              <a:t>When asked with a proverb “Jaisi </a:t>
            </a:r>
            <a:r>
              <a:rPr lang="en-US" sz="2000" dirty="0" err="1">
                <a:latin typeface="Times New Roman" panose="02020603050405020304" pitchFamily="18" charset="0"/>
                <a:cs typeface="Times New Roman" panose="02020603050405020304" pitchFamily="18" charset="0"/>
              </a:rPr>
              <a:t>karni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waisi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bharni</a:t>
            </a:r>
            <a:r>
              <a:rPr lang="en-US" sz="2000" dirty="0">
                <a:latin typeface="Times New Roman" panose="02020603050405020304" pitchFamily="18" charset="0"/>
                <a:cs typeface="Times New Roman" panose="02020603050405020304" pitchFamily="18" charset="0"/>
              </a:rPr>
              <a:t>, she answered, “ </a:t>
            </a:r>
            <a:r>
              <a:rPr lang="en-US" sz="2000" dirty="0" err="1">
                <a:latin typeface="Times New Roman" panose="02020603050405020304" pitchFamily="18" charset="0"/>
                <a:cs typeface="Times New Roman" panose="02020603050405020304" pitchFamily="18" charset="0"/>
              </a:rPr>
              <a:t>jaisa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karoge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waisa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bharoge</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Impression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Abstractability</a:t>
            </a:r>
            <a:r>
              <a:rPr lang="en-US" sz="2000" dirty="0">
                <a:latin typeface="Times New Roman" panose="02020603050405020304" pitchFamily="18" charset="0"/>
                <a:cs typeface="Times New Roman" panose="02020603050405020304" pitchFamily="18" charset="0"/>
              </a:rPr>
              <a:t> is intact on functional level </a:t>
            </a:r>
          </a:p>
        </p:txBody>
      </p:sp>
    </p:spTree>
    <p:extLst>
      <p:ext uri="{BB962C8B-B14F-4D97-AF65-F5344CB8AC3E}">
        <p14:creationId xmlns:p14="http://schemas.microsoft.com/office/powerpoint/2010/main" val="2733085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A5AC7-8F81-E46B-0848-8797FA5B1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74D10-70E4-9F49-A436-1F5C915E2A20}"/>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61B15C-8824-CEBE-97DE-CB4A5CD169F4}"/>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INTELLIGENCE </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General information: </a:t>
            </a:r>
            <a:r>
              <a:rPr lang="en-US" sz="2000" dirty="0">
                <a:latin typeface="Times New Roman" panose="02020603050405020304" pitchFamily="18" charset="0"/>
                <a:cs typeface="Times New Roman" panose="02020603050405020304" pitchFamily="18" charset="0"/>
              </a:rPr>
              <a:t>To assess general awareness, the patient was asked about the three rivers of India. She was then asked to tell about the President of India. She was able to answer all the questions</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Comprehension: </a:t>
            </a:r>
            <a:r>
              <a:rPr lang="en-US" sz="2000" dirty="0">
                <a:latin typeface="Times New Roman" panose="02020603050405020304" pitchFamily="18" charset="0"/>
                <a:cs typeface="Times New Roman" panose="02020603050405020304" pitchFamily="18" charset="0"/>
              </a:rPr>
              <a:t>Patient was able to comprehend and carry out the sequential task assigned to her. </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Arithmetic and Calculations: </a:t>
            </a:r>
            <a:r>
              <a:rPr lang="en-US" sz="2000" dirty="0">
                <a:latin typeface="Times New Roman" panose="02020603050405020304" pitchFamily="18" charset="0"/>
                <a:cs typeface="Times New Roman" panose="02020603050405020304" pitchFamily="18" charset="0"/>
              </a:rPr>
              <a:t>500-350 =150. The patient could correctly answer the question.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Impression:</a:t>
            </a:r>
            <a:r>
              <a:rPr lang="en-US" sz="2000" dirty="0">
                <a:latin typeface="Times New Roman" panose="02020603050405020304" pitchFamily="18" charset="0"/>
                <a:cs typeface="Times New Roman" panose="02020603050405020304" pitchFamily="18" charset="0"/>
              </a:rPr>
              <a:t> The patient’s intelligence is above average.</a:t>
            </a:r>
          </a:p>
        </p:txBody>
      </p:sp>
    </p:spTree>
    <p:extLst>
      <p:ext uri="{BB962C8B-B14F-4D97-AF65-F5344CB8AC3E}">
        <p14:creationId xmlns:p14="http://schemas.microsoft.com/office/powerpoint/2010/main" val="510298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94030-718F-737E-1B49-CF9DAC165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52154-D88F-7758-CF06-A34C0DDE69B5}"/>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434746-F753-F94B-1311-AEE900F8295D}"/>
              </a:ext>
            </a:extLst>
          </p:cNvPr>
          <p:cNvSpPr>
            <a:spLocks noGrp="1"/>
          </p:cNvSpPr>
          <p:nvPr>
            <p:ph idx="1"/>
          </p:nvPr>
        </p:nvSpPr>
        <p:spPr/>
        <p:txBody>
          <a:bodyPr>
            <a:normAutofit/>
          </a:bodyPr>
          <a:lstStyle/>
          <a:p>
            <a:pPr marL="0" indent="0" algn="just">
              <a:lnSpc>
                <a:spcPct val="110000"/>
              </a:lnSpc>
              <a:buNone/>
            </a:pPr>
            <a:r>
              <a:rPr lang="en-US" sz="2000" b="1" dirty="0">
                <a:latin typeface="Times New Roman" panose="02020603050405020304" pitchFamily="18" charset="0"/>
                <a:cs typeface="Times New Roman" panose="02020603050405020304" pitchFamily="18" charset="0"/>
              </a:rPr>
              <a:t>JUDGEMENT</a:t>
            </a:r>
          </a:p>
          <a:p>
            <a:pPr marL="0" indent="0" algn="just">
              <a:lnSpc>
                <a:spcPct val="110000"/>
              </a:lnSpc>
              <a:buNone/>
            </a:pPr>
            <a:endParaRPr lang="en-US" sz="20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sz="2000" dirty="0">
                <a:latin typeface="Times New Roman" panose="02020603050405020304" pitchFamily="18" charset="0"/>
                <a:cs typeface="Times New Roman" panose="02020603050405020304" pitchFamily="18" charset="0"/>
              </a:rPr>
              <a:t>On enquiring about her personal and future views, for example, what she would like to do once she leaves here, she answered that she will go straight home and do the chores. For the future, she plans to continue her job and get a promotion. Further on the list of judgements on a test is finding a random envelope on the road, and if any building catches fire, what she will do is answer by saying she would not pick up a stranger's letter; it may have dangerous material in it. For fire, she replied, 'Call the fire brigade and help the family.' Likewise, when asked about her reaction to witnessing an accident, she replied that she would help them and would call the ambulance. Thus, the patient's personal judgement was intact.</a:t>
            </a:r>
          </a:p>
        </p:txBody>
      </p:sp>
    </p:spTree>
    <p:extLst>
      <p:ext uri="{BB962C8B-B14F-4D97-AF65-F5344CB8AC3E}">
        <p14:creationId xmlns:p14="http://schemas.microsoft.com/office/powerpoint/2010/main" val="2139403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54CE-ED93-0198-DC42-0753A335A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8F5A0-0D01-0517-1C46-551E67FD2722}"/>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Mental Status Examination (MSE)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CBDD9E-7886-688F-24FE-B1293BD26FC0}"/>
              </a:ext>
            </a:extLst>
          </p:cNvPr>
          <p:cNvSpPr>
            <a:spLocks noGrp="1"/>
          </p:cNvSpPr>
          <p:nvPr>
            <p:ph idx="1"/>
          </p:nvPr>
        </p:nvSpPr>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INSIGHT LEVEL</a:t>
            </a:r>
          </a:p>
          <a:p>
            <a:pPr marL="0" indent="0" algn="just">
              <a:buNone/>
            </a:pPr>
            <a:r>
              <a:rPr lang="en-US" sz="2000" dirty="0">
                <a:latin typeface="Times New Roman" panose="02020603050405020304" pitchFamily="18" charset="0"/>
                <a:cs typeface="Times New Roman" panose="02020603050405020304" pitchFamily="18" charset="0"/>
              </a:rPr>
              <a:t>Insight Grade Level:</a:t>
            </a:r>
          </a:p>
          <a:p>
            <a:pPr marL="0" indent="0" algn="just">
              <a:buNone/>
            </a:pPr>
            <a:r>
              <a:rPr lang="en-US" sz="2000" dirty="0">
                <a:latin typeface="Times New Roman" panose="02020603050405020304" pitchFamily="18" charset="0"/>
                <a:cs typeface="Times New Roman" panose="02020603050405020304" pitchFamily="18" charset="0"/>
              </a:rPr>
              <a:t>Q. Kya </a:t>
            </a:r>
            <a:r>
              <a:rPr lang="en-US" sz="2000" dirty="0" err="1">
                <a:latin typeface="Times New Roman" panose="02020603050405020304" pitchFamily="18" charset="0"/>
                <a:cs typeface="Times New Roman" panose="02020603050405020304" pitchFamily="18" charset="0"/>
              </a:rPr>
              <a:t>apko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lagta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ki </a:t>
            </a:r>
            <a:r>
              <a:rPr lang="en-US" sz="2000" dirty="0" err="1">
                <a:latin typeface="Times New Roman" panose="02020603050405020304" pitchFamily="18" charset="0"/>
                <a:cs typeface="Times New Roman" panose="02020603050405020304" pitchFamily="18" charset="0"/>
              </a:rPr>
              <a:t>apko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kuch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bimari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Kis </a:t>
            </a:r>
            <a:r>
              <a:rPr lang="en-US" sz="2000" dirty="0" err="1">
                <a:latin typeface="Times New Roman" panose="02020603050405020304" pitchFamily="18" charset="0"/>
                <a:cs typeface="Times New Roman" panose="02020603050405020304" pitchFamily="18" charset="0"/>
              </a:rPr>
              <a:t>prakar</a:t>
            </a:r>
            <a:r>
              <a:rPr lang="en-US" sz="2000" dirty="0">
                <a:latin typeface="Times New Roman" panose="02020603050405020304" pitchFamily="18" charset="0"/>
                <a:cs typeface="Times New Roman" panose="02020603050405020304" pitchFamily="18" charset="0"/>
              </a:rPr>
              <a:t> ki </a:t>
            </a:r>
            <a:r>
              <a:rPr lang="en-US" sz="2000" dirty="0" err="1">
                <a:latin typeface="Times New Roman" panose="02020603050405020304" pitchFamily="18" charset="0"/>
                <a:cs typeface="Times New Roman" panose="02020603050405020304" pitchFamily="18" charset="0"/>
              </a:rPr>
              <a:t>bimari</a:t>
            </a:r>
            <a:r>
              <a:rPr lang="en-US" sz="2000" dirty="0">
                <a:latin typeface="Times New Roman" panose="02020603050405020304" pitchFamily="18" charset="0"/>
                <a:cs typeface="Times New Roman" panose="02020603050405020304" pitchFamily="18" charset="0"/>
              </a:rPr>
              <a:t> h aur yeh </a:t>
            </a:r>
            <a:r>
              <a:rPr lang="en-US" sz="2000" dirty="0" err="1">
                <a:latin typeface="Times New Roman" panose="02020603050405020304" pitchFamily="18" charset="0"/>
                <a:cs typeface="Times New Roman" panose="02020603050405020304" pitchFamily="18" charset="0"/>
              </a:rPr>
              <a:t>kaise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theek</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hoga</a:t>
            </a:r>
            <a:r>
              <a:rPr lang="en-US" sz="2000" dirty="0">
                <a:latin typeface="Times New Roman" panose="02020603050405020304" pitchFamily="18" charset="0"/>
                <a:cs typeface="Times New Roman" panose="02020603050405020304" pitchFamily="18" charset="0"/>
              </a:rPr>
              <a:t>?</a:t>
            </a:r>
          </a:p>
          <a:p>
            <a:pPr marL="0" indent="0" algn="just">
              <a:buNone/>
            </a:pPr>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Mujhe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lagta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ki mere </a:t>
            </a:r>
            <a:r>
              <a:rPr lang="en-US" sz="2000" dirty="0" err="1">
                <a:latin typeface="Times New Roman" panose="02020603050405020304" pitchFamily="18" charset="0"/>
                <a:cs typeface="Times New Roman" panose="02020603050405020304" pitchFamily="18" charset="0"/>
              </a:rPr>
              <a:t>andar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kuch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kharab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aur use </a:t>
            </a:r>
            <a:r>
              <a:rPr lang="en-US" sz="2000" dirty="0" err="1">
                <a:latin typeface="Times New Roman" panose="02020603050405020304" pitchFamily="18" charset="0"/>
                <a:cs typeface="Times New Roman" panose="02020603050405020304" pitchFamily="18" charset="0"/>
              </a:rPr>
              <a:t>thik</a:t>
            </a:r>
            <a:r>
              <a:rPr lang="en-US" sz="2000" dirty="0">
                <a:latin typeface="Times New Roman" panose="02020603050405020304" pitchFamily="18" charset="0"/>
                <a:cs typeface="Times New Roman" panose="02020603050405020304" pitchFamily="18" charset="0"/>
              </a:rPr>
              <a:t> hone </a:t>
            </a:r>
            <a:r>
              <a:rPr lang="en-US" sz="2000" dirty="0" err="1">
                <a:latin typeface="Times New Roman" panose="02020603050405020304" pitchFamily="18" charset="0"/>
                <a:cs typeface="Times New Roman" panose="02020603050405020304" pitchFamily="18" charset="0"/>
              </a:rPr>
              <a:t>mei</a:t>
            </a:r>
            <a:r>
              <a:rPr lang="en-US" sz="2000" dirty="0">
                <a:latin typeface="Times New Roman" panose="02020603050405020304" pitchFamily="18" charset="0"/>
                <a:cs typeface="Times New Roman" panose="02020603050405020304" pitchFamily="18" charset="0"/>
              </a:rPr>
              <a:t> time lag </a:t>
            </a:r>
            <a:r>
              <a:rPr lang="en-US" sz="2000" dirty="0" err="1">
                <a:latin typeface="Times New Roman" panose="02020603050405020304" pitchFamily="18" charset="0"/>
                <a:cs typeface="Times New Roman" panose="02020603050405020304" pitchFamily="18" charset="0"/>
              </a:rPr>
              <a:t>raha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Impression:</a:t>
            </a:r>
            <a:r>
              <a:rPr lang="en-US" sz="2000" dirty="0">
                <a:latin typeface="Times New Roman" panose="02020603050405020304" pitchFamily="18" charset="0"/>
                <a:cs typeface="Times New Roman" panose="02020603050405020304" pitchFamily="18" charset="0"/>
              </a:rPr>
              <a:t> The patient has an insight level of Grade IV, awareness of being sick due to something unknown in self. </a:t>
            </a:r>
          </a:p>
        </p:txBody>
      </p:sp>
    </p:spTree>
    <p:extLst>
      <p:ext uri="{BB962C8B-B14F-4D97-AF65-F5344CB8AC3E}">
        <p14:creationId xmlns:p14="http://schemas.microsoft.com/office/powerpoint/2010/main" val="2586242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500F7-BAAC-57AC-1FD6-AAF86684A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A9A8A-546F-EA4F-7B4D-30B5BEE23C3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TESTS ADMINISTERED</a:t>
            </a:r>
            <a:endParaRPr lang="en-IN" dirty="0"/>
          </a:p>
        </p:txBody>
      </p:sp>
      <p:sp>
        <p:nvSpPr>
          <p:cNvPr id="3" name="Content Placeholder 2">
            <a:extLst>
              <a:ext uri="{FF2B5EF4-FFF2-40B4-BE49-F238E27FC236}">
                <a16:creationId xmlns:a16="http://schemas.microsoft.com/office/drawing/2014/main" id="{529CF410-F7A9-BD71-664C-4A3C9C46F474}"/>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Beck Depression Inventory (BDI-II)</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patient has obtained a </a:t>
            </a:r>
            <a:r>
              <a:rPr lang="en-US" sz="2000" b="1" dirty="0">
                <a:latin typeface="Times New Roman" panose="02020603050405020304" pitchFamily="18" charset="0"/>
                <a:cs typeface="Times New Roman" panose="02020603050405020304" pitchFamily="18" charset="0"/>
              </a:rPr>
              <a:t>score of 34 </a:t>
            </a:r>
            <a:r>
              <a:rPr lang="en-US" sz="2000" dirty="0">
                <a:latin typeface="Times New Roman" panose="02020603050405020304" pitchFamily="18" charset="0"/>
                <a:cs typeface="Times New Roman" panose="02020603050405020304" pitchFamily="18" charset="0"/>
              </a:rPr>
              <a:t>on the </a:t>
            </a:r>
            <a:r>
              <a:rPr lang="en-US" sz="2000" b="1" dirty="0">
                <a:latin typeface="Times New Roman" panose="02020603050405020304" pitchFamily="18" charset="0"/>
                <a:cs typeface="Times New Roman" panose="02020603050405020304" pitchFamily="18" charset="0"/>
              </a:rPr>
              <a:t>Beck Depression Inventory (BDI-II) </a:t>
            </a:r>
            <a:r>
              <a:rPr lang="en-US" sz="2000" dirty="0">
                <a:latin typeface="Times New Roman" panose="02020603050405020304" pitchFamily="18" charset="0"/>
                <a:cs typeface="Times New Roman" panose="02020603050405020304" pitchFamily="18" charset="0"/>
              </a:rPr>
              <a:t>falls within the </a:t>
            </a:r>
            <a:r>
              <a:rPr lang="en-US" sz="2000" b="1" dirty="0">
                <a:latin typeface="Times New Roman" panose="02020603050405020304" pitchFamily="18" charset="0"/>
                <a:cs typeface="Times New Roman" panose="02020603050405020304" pitchFamily="18" charset="0"/>
              </a:rPr>
              <a:t>Severe depression   range</a:t>
            </a: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The patient obtained a BDI-II score of 34, which falls in the severe range of depressive symptoms. This is consistent with her reported low mood, frequent crying spells, reduced happiness and interest in pleasurable activities, low motivation, lethargy, difficulty concentrating, and disturbed sleep. She also reports difficulty initiating and completing routine activities, resulting in reduced productivity.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335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503FB-3496-75AB-3B5C-7605D3E7C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D80EB-F98E-9B3F-DE27-A615DD52F9E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TESTS ADMINISTERED</a:t>
            </a:r>
            <a:endParaRPr lang="en-IN" dirty="0"/>
          </a:p>
        </p:txBody>
      </p:sp>
      <p:sp>
        <p:nvSpPr>
          <p:cNvPr id="3" name="Content Placeholder 2">
            <a:extLst>
              <a:ext uri="{FF2B5EF4-FFF2-40B4-BE49-F238E27FC236}">
                <a16:creationId xmlns:a16="http://schemas.microsoft.com/office/drawing/2014/main" id="{C31AAD98-8554-517C-A5D5-B3F699E163B0}"/>
              </a:ext>
            </a:extLst>
          </p:cNvPr>
          <p:cNvSpPr>
            <a:spLocks noGrp="1"/>
          </p:cNvSpPr>
          <p:nvPr>
            <p:ph idx="1"/>
          </p:nvPr>
        </p:nvSpPr>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Beck Anxiety Inventory (BAI)</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patient has obtained a </a:t>
            </a:r>
            <a:r>
              <a:rPr lang="en-US" sz="2000" b="1" dirty="0">
                <a:latin typeface="Times New Roman" panose="02020603050405020304" pitchFamily="18" charset="0"/>
                <a:cs typeface="Times New Roman" panose="02020603050405020304" pitchFamily="18" charset="0"/>
              </a:rPr>
              <a:t>score of 23 </a:t>
            </a:r>
            <a:r>
              <a:rPr lang="en-US" sz="2000" dirty="0">
                <a:latin typeface="Times New Roman" panose="02020603050405020304" pitchFamily="18" charset="0"/>
                <a:cs typeface="Times New Roman" panose="02020603050405020304" pitchFamily="18" charset="0"/>
              </a:rPr>
              <a:t>on the </a:t>
            </a:r>
            <a:r>
              <a:rPr lang="en-US" sz="2000" b="1" dirty="0">
                <a:latin typeface="Times New Roman" panose="02020603050405020304" pitchFamily="18" charset="0"/>
                <a:cs typeface="Times New Roman" panose="02020603050405020304" pitchFamily="18" charset="0"/>
              </a:rPr>
              <a:t>Beck Anxiety Inventory (BAI) </a:t>
            </a:r>
            <a:r>
              <a:rPr lang="en-US" sz="2000" dirty="0">
                <a:latin typeface="Times New Roman" panose="02020603050405020304" pitchFamily="18" charset="0"/>
                <a:cs typeface="Times New Roman" panose="02020603050405020304" pitchFamily="18" charset="0"/>
              </a:rPr>
              <a:t>falls within the </a:t>
            </a:r>
            <a:r>
              <a:rPr lang="en-US" sz="2000" b="1" dirty="0">
                <a:latin typeface="Times New Roman" panose="02020603050405020304" pitchFamily="18" charset="0"/>
                <a:cs typeface="Times New Roman" panose="02020603050405020304" pitchFamily="18" charset="0"/>
              </a:rPr>
              <a:t>Moderate Anxiety range</a:t>
            </a: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The patient obtained a BAI score of 23, which falls in the moderate range of anxiety symptoms. This is consistent with her reported excessive and repetitive overthinking, difficulty controlling thoughts, difficulty relaxing, disturbed sleep due to persistent thinking, difficulty concentrating, irritability, and increased emotional distress. The ongoing stress related to marital conflict and physical abuse may further contribute to her anxiety symptoms. </a:t>
            </a:r>
          </a:p>
        </p:txBody>
      </p:sp>
    </p:spTree>
    <p:extLst>
      <p:ext uri="{BB962C8B-B14F-4D97-AF65-F5344CB8AC3E}">
        <p14:creationId xmlns:p14="http://schemas.microsoft.com/office/powerpoint/2010/main" val="360385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BEBC-4368-9FF7-6159-1BFE9B1A7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F9182-B8D3-397E-83B7-2C4975429ADE}"/>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Overall Interpretation</a:t>
            </a:r>
            <a:endParaRPr lang="en-IN" dirty="0"/>
          </a:p>
        </p:txBody>
      </p:sp>
      <p:sp>
        <p:nvSpPr>
          <p:cNvPr id="3" name="Content Placeholder 2">
            <a:extLst>
              <a:ext uri="{FF2B5EF4-FFF2-40B4-BE49-F238E27FC236}">
                <a16:creationId xmlns:a16="http://schemas.microsoft.com/office/drawing/2014/main" id="{82D4DF00-9905-505F-A8F0-FCA73CA2929D}"/>
              </a:ext>
            </a:extLst>
          </p:cNvPr>
          <p:cNvSpPr>
            <a:spLocks noGrp="1"/>
          </p:cNvSpPr>
          <p:nvPr>
            <p:ph idx="1"/>
          </p:nvPr>
        </p:nvSpPr>
        <p:spPr/>
        <p:txBody>
          <a:bodyPr>
            <a:normAutofit fontScale="92500" lnSpcReduction="20000"/>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Overall, the psychological assessment indicates clinically significant depressive symptomatology accompanied by moderate anxiety symptoms. The BDI-II score of 34 falls within the severe range of depressive symptoms, including persistent low mood, frequent crying spells, reduced happiness and interest in pleasurable activities, lethargy, decreased motivation, poor productivity, and difficulty concentrating. The BAI score of 23 falls within the moderate range of anxiety, which is consistent with excessive and repetitive overthinking, difficulty controlling thoughts, difficulty relaxing, disturbed sleep, irritability, and concentration difficulties. The patient's symptoms have been persistent for approximately 15 years, with fluctuations in intensity, and have resulted in impairment in routine functioning. The combination of prolonged depressive symptoms, reduced interest and motivation, fatigue, sleep disturbance, and associated anxiety suggests a chronic depressive condition with prominent anxious features.</a:t>
            </a:r>
          </a:p>
        </p:txBody>
      </p:sp>
    </p:spTree>
    <p:extLst>
      <p:ext uri="{BB962C8B-B14F-4D97-AF65-F5344CB8AC3E}">
        <p14:creationId xmlns:p14="http://schemas.microsoft.com/office/powerpoint/2010/main" val="597870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2807-7CEE-89B0-C27B-6F3C9B0C4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DA6BC-ECA5-E863-9255-E951DFF4272C}"/>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DIAGNOSTIC FORMULATION</a:t>
            </a:r>
            <a:endParaRPr lang="en-IN" sz="3600" dirty="0"/>
          </a:p>
        </p:txBody>
      </p:sp>
      <p:sp>
        <p:nvSpPr>
          <p:cNvPr id="3" name="Content Placeholder 2">
            <a:extLst>
              <a:ext uri="{FF2B5EF4-FFF2-40B4-BE49-F238E27FC236}">
                <a16:creationId xmlns:a16="http://schemas.microsoft.com/office/drawing/2014/main" id="{FCDC3D30-F174-5C48-999F-23EFD2C0A361}"/>
              </a:ext>
            </a:extLst>
          </p:cNvPr>
          <p:cNvSpPr>
            <a:spLocks noGrp="1"/>
          </p:cNvSpPr>
          <p:nvPr>
            <p:ph idx="1"/>
          </p:nvPr>
        </p:nvSpPr>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Index patient M.D, a 40-year-old female from Guna, currently a school teacher, educated up to BA in Hindi Literature, married, and coming from a middle socioeconomic strata. The patient presented with the chief complaints of difficulty sleeping, irritability, aggression for the past 15 years, frequent crying, not feeling happy for the past 13 years, overthinking and feeling lethargic throughout the day for the past 10 years.  The illness appears to have an insidious onset and a continuous course. The onset of symptoms was precipitated by a fight with her husband and physical abuse and perpetuated by stress caused by fight with her husband and poor medical compliance. MSE findings revealed intact cognitive functions, dysphoric mood, depressive thought content, and Grade IV insight.</a:t>
            </a:r>
          </a:p>
        </p:txBody>
      </p:sp>
    </p:spTree>
    <p:extLst>
      <p:ext uri="{BB962C8B-B14F-4D97-AF65-F5344CB8AC3E}">
        <p14:creationId xmlns:p14="http://schemas.microsoft.com/office/powerpoint/2010/main" val="3572567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106AC-9C32-E2AF-37B8-E4C4EE873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082C4-CD5D-667E-A746-707A63967900}"/>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PROVISIONAL DIAGNOSIS </a:t>
            </a:r>
            <a:endParaRPr lang="en-IN" sz="3600" dirty="0"/>
          </a:p>
        </p:txBody>
      </p:sp>
      <p:sp>
        <p:nvSpPr>
          <p:cNvPr id="3" name="Content Placeholder 2">
            <a:extLst>
              <a:ext uri="{FF2B5EF4-FFF2-40B4-BE49-F238E27FC236}">
                <a16:creationId xmlns:a16="http://schemas.microsoft.com/office/drawing/2014/main" id="{A21073FB-39F1-D316-DD00-F0F707E905B0}"/>
              </a:ext>
            </a:extLst>
          </p:cNvPr>
          <p:cNvSpPr>
            <a:spLocks noGrp="1"/>
          </p:cNvSpPr>
          <p:nvPr>
            <p:ph idx="1"/>
          </p:nvPr>
        </p:nvSpPr>
        <p:spPr/>
        <p:txBody>
          <a:bodyPr>
            <a:noAutofit/>
          </a:bodyPr>
          <a:lstStyle/>
          <a:p>
            <a:pPr marL="0" indent="0" algn="just">
              <a:buNone/>
            </a:pPr>
            <a:r>
              <a:rPr lang="en-US" sz="1700" dirty="0">
                <a:latin typeface="Times New Roman" panose="02020603050405020304" pitchFamily="18" charset="0"/>
                <a:cs typeface="Times New Roman" panose="02020603050405020304" pitchFamily="18" charset="0"/>
              </a:rPr>
              <a:t>The patient's clinical presentation is most consistent with </a:t>
            </a:r>
            <a:r>
              <a:rPr lang="en-US" sz="1700" b="1" dirty="0">
                <a:latin typeface="Times New Roman" panose="02020603050405020304" pitchFamily="18" charset="0"/>
                <a:cs typeface="Times New Roman" panose="02020603050405020304" pitchFamily="18" charset="0"/>
              </a:rPr>
              <a:t>F34.1 Dysthymia (Persistent depressive disorder).</a:t>
            </a:r>
          </a:p>
          <a:p>
            <a:pPr marL="0" indent="0" algn="just">
              <a:buNone/>
            </a:pPr>
            <a:r>
              <a:rPr lang="en-US" sz="1700" b="1" dirty="0">
                <a:latin typeface="Times New Roman" panose="02020603050405020304" pitchFamily="18" charset="0"/>
                <a:cs typeface="Times New Roman" panose="02020603050405020304" pitchFamily="18" charset="0"/>
              </a:rPr>
              <a:t>Differential Diagnosis: </a:t>
            </a:r>
            <a:r>
              <a:rPr lang="en-US" sz="1700" dirty="0">
                <a:latin typeface="Times New Roman" panose="02020603050405020304" pitchFamily="18" charset="0"/>
                <a:cs typeface="Times New Roman" panose="02020603050405020304" pitchFamily="18" charset="0"/>
              </a:rPr>
              <a:t>F32.2 Severe Depressive Episode without psychotic symptoms</a:t>
            </a:r>
          </a:p>
          <a:p>
            <a:pPr marL="0" indent="0" algn="just">
              <a:buNone/>
            </a:pPr>
            <a:r>
              <a:rPr lang="en-US" sz="1700" b="1" dirty="0">
                <a:latin typeface="Times New Roman" panose="02020603050405020304" pitchFamily="18" charset="0"/>
                <a:cs typeface="Times New Roman" panose="02020603050405020304" pitchFamily="18" charset="0"/>
              </a:rPr>
              <a:t>POINTS IN FAVOUR</a:t>
            </a:r>
          </a:p>
          <a:p>
            <a:pPr marL="342900" indent="-342900" algn="just">
              <a:buAutoNum type="arabicPeriod"/>
            </a:pPr>
            <a:r>
              <a:rPr lang="en-US" sz="1700" dirty="0">
                <a:latin typeface="Times New Roman" panose="02020603050405020304" pitchFamily="18" charset="0"/>
                <a:cs typeface="Times New Roman" panose="02020603050405020304" pitchFamily="18" charset="0"/>
              </a:rPr>
              <a:t>Persistent low mood: Patient reports feeling sad for the past 10 months, indicating sustained depressive affect.</a:t>
            </a:r>
          </a:p>
          <a:p>
            <a:pPr marL="342900" indent="-342900" algn="just">
              <a:buAutoNum type="arabicPeriod"/>
            </a:pPr>
            <a:r>
              <a:rPr lang="en-US" sz="1700" dirty="0">
                <a:latin typeface="Times New Roman" panose="02020603050405020304" pitchFamily="18" charset="0"/>
                <a:cs typeface="Times New Roman" panose="02020603050405020304" pitchFamily="18" charset="0"/>
              </a:rPr>
              <a:t> Insidious onset: Symptoms developed gradually, which is consistent with the chronic nature of dysthymic presentations.</a:t>
            </a:r>
          </a:p>
          <a:p>
            <a:pPr marL="342900" indent="-342900" algn="just">
              <a:buAutoNum type="arabicPeriod"/>
            </a:pPr>
            <a:r>
              <a:rPr lang="en-US" sz="1700" dirty="0">
                <a:latin typeface="Times New Roman" panose="02020603050405020304" pitchFamily="18" charset="0"/>
                <a:cs typeface="Times New Roman" panose="02020603050405020304" pitchFamily="18" charset="0"/>
              </a:rPr>
              <a:t>Continuous course: The illness has followed a continuous course, suggesting persistence rather than distinct episodic depressive episodes.</a:t>
            </a:r>
          </a:p>
          <a:p>
            <a:pPr marL="342900" indent="-342900" algn="just">
              <a:buAutoNum type="arabicPeriod"/>
            </a:pPr>
            <a:r>
              <a:rPr lang="en-US" sz="1700" dirty="0">
                <a:latin typeface="Times New Roman" panose="02020603050405020304" pitchFamily="18" charset="0"/>
                <a:cs typeface="Times New Roman" panose="02020603050405020304" pitchFamily="18" charset="0"/>
              </a:rPr>
              <a:t>Dysphoric mood: MSE revealed a dysphoric mood, corroborating the patient's subjective report of sadness.</a:t>
            </a:r>
          </a:p>
          <a:p>
            <a:pPr marL="342900" indent="-342900" algn="just">
              <a:buAutoNum type="arabicPeriod"/>
            </a:pPr>
            <a:r>
              <a:rPr lang="en-US" sz="1700" dirty="0">
                <a:latin typeface="Times New Roman" panose="02020603050405020304" pitchFamily="18" charset="0"/>
                <a:cs typeface="Times New Roman" panose="02020603050405020304" pitchFamily="18" charset="0"/>
              </a:rPr>
              <a:t>Ruminative thinking: The patient reports excessive overthinking and worry for the past 4 years, with MSE showing ruminative thought content, indicating persistent cognitive preoccupation.</a:t>
            </a:r>
          </a:p>
          <a:p>
            <a:pPr marL="342900" indent="-342900" algn="just">
              <a:buAutoNum type="arabicPeriod"/>
            </a:pPr>
            <a:r>
              <a:rPr lang="en-US" sz="1700" dirty="0">
                <a:latin typeface="Times New Roman" panose="02020603050405020304" pitchFamily="18" charset="0"/>
                <a:cs typeface="Times New Roman" panose="02020603050405020304" pitchFamily="18" charset="0"/>
              </a:rPr>
              <a:t>Difficulty relaxing with preserved cognition: The patient experiences difficulty resting/relaxing, while cognitive functions remain intact, consistent with a chronic depressive-anxious presentation without marked cognitive impairment.</a:t>
            </a:r>
          </a:p>
        </p:txBody>
      </p:sp>
    </p:spTree>
    <p:extLst>
      <p:ext uri="{BB962C8B-B14F-4D97-AF65-F5344CB8AC3E}">
        <p14:creationId xmlns:p14="http://schemas.microsoft.com/office/powerpoint/2010/main" val="299431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8926CD3B-4A95-B65A-387C-F11DEBD9BA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F458732A-0D30-8CEE-EE70-BDF43AEC931A}"/>
              </a:ext>
            </a:extLst>
          </p:cNvPr>
          <p:cNvSpPr>
            <a:spLocks noChangeAspect="1" noChangeArrowheads="1"/>
          </p:cNvSpPr>
          <p:nvPr/>
        </p:nvSpPr>
        <p:spPr bwMode="auto">
          <a:xfrm>
            <a:off x="6095999" y="1277471"/>
            <a:ext cx="2456329" cy="24563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DE9A5626-1241-764A-3941-2218624C25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183713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5973F-06C3-B3F1-C647-FE9C57210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B10A2-76DF-F1A2-C7E5-1BF0A95D21CF}"/>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Rationale for Therapy </a:t>
            </a:r>
            <a:endParaRPr lang="en-IN" sz="3600" dirty="0"/>
          </a:p>
        </p:txBody>
      </p:sp>
      <p:sp>
        <p:nvSpPr>
          <p:cNvPr id="3" name="Content Placeholder 2">
            <a:extLst>
              <a:ext uri="{FF2B5EF4-FFF2-40B4-BE49-F238E27FC236}">
                <a16:creationId xmlns:a16="http://schemas.microsoft.com/office/drawing/2014/main" id="{C85E9B2B-227D-B972-51A0-62D72EEF1E5F}"/>
              </a:ext>
            </a:extLst>
          </p:cNvPr>
          <p:cNvSpPr>
            <a:spLocks noGrp="1"/>
          </p:cNvSpPr>
          <p:nvPr>
            <p:ph idx="1"/>
          </p:nvPr>
        </p:nvSpPr>
        <p:spPr/>
        <p:txBody>
          <a:bodyPr>
            <a:normAutofit fontScale="62500" lnSpcReduction="20000"/>
          </a:bodyPr>
          <a:lstStyle/>
          <a:p>
            <a:pPr marL="0" indent="0">
              <a:buNone/>
            </a:pPr>
            <a:r>
              <a:rPr lang="en-US" b="1" dirty="0">
                <a:latin typeface="Times New Roman" panose="02020603050405020304" pitchFamily="18" charset="0"/>
                <a:cs typeface="Times New Roman" panose="02020603050405020304" pitchFamily="18" charset="0"/>
              </a:rPr>
              <a:t>Cognitive </a:t>
            </a:r>
            <a:r>
              <a:rPr lang="en-US" b="1" dirty="0" err="1">
                <a:latin typeface="Times New Roman" panose="02020603050405020304" pitchFamily="18" charset="0"/>
                <a:cs typeface="Times New Roman" panose="02020603050405020304" pitchFamily="18" charset="0"/>
              </a:rPr>
              <a:t>Behaviour</a:t>
            </a:r>
            <a:r>
              <a:rPr lang="en-US" b="1" dirty="0">
                <a:latin typeface="Times New Roman" panose="02020603050405020304" pitchFamily="18" charset="0"/>
                <a:cs typeface="Times New Roman" panose="02020603050405020304" pitchFamily="18" charset="0"/>
              </a:rPr>
              <a:t> Therapy for Depression</a:t>
            </a:r>
          </a:p>
          <a:p>
            <a:pPr marL="0" indent="0">
              <a:buNone/>
            </a:pP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CBT for depression is appropriate because the patient presents with low mood, reduced interest, crying spells, low motivation, lethargy, disturbed sleep, irritability, excessive thinking and impairment in daily functioning.</a:t>
            </a:r>
          </a:p>
          <a:p>
            <a:r>
              <a:rPr lang="en-US" dirty="0">
                <a:latin typeface="Times New Roman" panose="02020603050405020304" pitchFamily="18" charset="0"/>
                <a:cs typeface="Times New Roman" panose="02020603050405020304" pitchFamily="18" charset="0"/>
              </a:rPr>
              <a:t>Understand the cycle between low mood, inactivity and negative thinking.</a:t>
            </a:r>
          </a:p>
          <a:p>
            <a:r>
              <a:rPr lang="en-US" dirty="0">
                <a:latin typeface="Times New Roman" panose="02020603050405020304" pitchFamily="18" charset="0"/>
                <a:cs typeface="Times New Roman" panose="02020603050405020304" pitchFamily="18" charset="0"/>
              </a:rPr>
              <a:t>Identify and modify negative automatic thoughts.</a:t>
            </a:r>
          </a:p>
          <a:p>
            <a:r>
              <a:rPr lang="en-US" dirty="0">
                <a:latin typeface="Times New Roman" panose="02020603050405020304" pitchFamily="18" charset="0"/>
                <a:cs typeface="Times New Roman" panose="02020603050405020304" pitchFamily="18" charset="0"/>
              </a:rPr>
              <a:t>Increase activity and positive reinforcement through </a:t>
            </a: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activation.</a:t>
            </a:r>
          </a:p>
          <a:p>
            <a:r>
              <a:rPr lang="en-US" dirty="0">
                <a:latin typeface="Times New Roman" panose="02020603050405020304" pitchFamily="18" charset="0"/>
                <a:cs typeface="Times New Roman" panose="02020603050405020304" pitchFamily="18" charset="0"/>
              </a:rPr>
              <a:t>Address hopelessness, guilt, helplessness and negative predictions about the future.</a:t>
            </a:r>
          </a:p>
          <a:p>
            <a:r>
              <a:rPr lang="en-US" dirty="0">
                <a:latin typeface="Times New Roman" panose="02020603050405020304" pitchFamily="18" charset="0"/>
                <a:cs typeface="Times New Roman" panose="02020603050405020304" pitchFamily="18" charset="0"/>
              </a:rPr>
              <a:t>Develop problem-solving, coping and sleep-management skills.</a:t>
            </a:r>
          </a:p>
          <a:p>
            <a:r>
              <a:rPr lang="en-US" dirty="0">
                <a:latin typeface="Times New Roman" panose="02020603050405020304" pitchFamily="18" charset="0"/>
                <a:cs typeface="Times New Roman" panose="02020603050405020304" pitchFamily="18" charset="0"/>
              </a:rPr>
              <a:t>Maintain progress and prevent future relapse.</a:t>
            </a:r>
          </a:p>
          <a:p>
            <a:r>
              <a:rPr lang="en-US" dirty="0">
                <a:latin typeface="Times New Roman" panose="02020603050405020304" pitchFamily="18" charset="0"/>
                <a:cs typeface="Times New Roman" panose="02020603050405020304" pitchFamily="18" charset="0"/>
              </a:rPr>
              <a:t>The therapy will remain collaborative, structured and gradual. Risk, sleep, mood and daily functioning should continue to be monitored throughout treatment.</a:t>
            </a:r>
          </a:p>
          <a:p>
            <a:pPr marL="0" indent="0">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768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3FD05-260B-B6BD-5395-B4129E06D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C7804B-C58E-1ABE-B2EE-259455B0ACFC}"/>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Goals for Therapy </a:t>
            </a:r>
            <a:endParaRPr lang="en-IN" sz="3600" dirty="0"/>
          </a:p>
        </p:txBody>
      </p:sp>
      <p:sp>
        <p:nvSpPr>
          <p:cNvPr id="3" name="Content Placeholder 2">
            <a:extLst>
              <a:ext uri="{FF2B5EF4-FFF2-40B4-BE49-F238E27FC236}">
                <a16:creationId xmlns:a16="http://schemas.microsoft.com/office/drawing/2014/main" id="{1533CDA7-4568-1927-32D3-D5F2CEE7BFDD}"/>
              </a:ext>
            </a:extLst>
          </p:cNvPr>
          <p:cNvSpPr>
            <a:spLocks noGrp="1"/>
          </p:cNvSpPr>
          <p:nvPr>
            <p:ph idx="1"/>
          </p:nvPr>
        </p:nvSpPr>
        <p:spPr/>
        <p:txBody>
          <a:bodyPr numCol="1">
            <a:normAutofit/>
          </a:bodyPr>
          <a:lstStyle/>
          <a:p>
            <a:pPr marL="0" indent="0" algn="just">
              <a:buNone/>
            </a:pPr>
            <a:r>
              <a:rPr lang="en-US" sz="2000" b="1" u="sng" dirty="0"/>
              <a:t>Short-Term Goals</a:t>
            </a:r>
          </a:p>
          <a:p>
            <a:r>
              <a:rPr lang="en-US" sz="2000" dirty="0">
                <a:latin typeface="Times New Roman" panose="02020603050405020304" pitchFamily="18" charset="0"/>
                <a:cs typeface="Times New Roman" panose="02020603050405020304" pitchFamily="18" charset="0"/>
              </a:rPr>
              <a:t>Establish rapport and a collaborative therapeutic relationship.</a:t>
            </a:r>
          </a:p>
          <a:p>
            <a:r>
              <a:rPr lang="en-US" sz="2000" dirty="0">
                <a:latin typeface="Times New Roman" panose="02020603050405020304" pitchFamily="18" charset="0"/>
                <a:cs typeface="Times New Roman" panose="02020603050405020304" pitchFamily="18" charset="0"/>
              </a:rPr>
              <a:t>Provide psychoeducation about depression and the CBT model.</a:t>
            </a:r>
          </a:p>
          <a:p>
            <a:r>
              <a:rPr lang="en-US" sz="2000" dirty="0">
                <a:latin typeface="Times New Roman" panose="02020603050405020304" pitchFamily="18" charset="0"/>
                <a:cs typeface="Times New Roman" panose="02020603050405020304" pitchFamily="18" charset="0"/>
              </a:rPr>
              <a:t>Identify the relationship between thoughts, emotions,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and physical symptoms.</a:t>
            </a:r>
          </a:p>
          <a:p>
            <a:r>
              <a:rPr lang="en-US" sz="2000" dirty="0">
                <a:latin typeface="Times New Roman" panose="02020603050405020304" pitchFamily="18" charset="0"/>
                <a:cs typeface="Times New Roman" panose="02020603050405020304" pitchFamily="18" charset="0"/>
              </a:rPr>
              <a:t>Increase daily routine and participation in pleasurable activities.</a:t>
            </a:r>
          </a:p>
          <a:p>
            <a:r>
              <a:rPr lang="en-US" sz="2000" dirty="0">
                <a:latin typeface="Times New Roman" panose="02020603050405020304" pitchFamily="18" charset="0"/>
                <a:cs typeface="Times New Roman" panose="02020603050405020304" pitchFamily="18" charset="0"/>
              </a:rPr>
              <a:t>Identify negative automatic thoughts and cognitive distortions.</a:t>
            </a:r>
          </a:p>
          <a:p>
            <a:r>
              <a:rPr lang="en-US" sz="2000" dirty="0">
                <a:latin typeface="Times New Roman" panose="02020603050405020304" pitchFamily="18" charset="0"/>
                <a:cs typeface="Times New Roman" panose="02020603050405020304" pitchFamily="18" charset="0"/>
              </a:rPr>
              <a:t>Begin reducing excessive thinking, withdrawal and inactivity.</a:t>
            </a:r>
          </a:p>
          <a:p>
            <a:r>
              <a:rPr lang="en-US" sz="2000" dirty="0">
                <a:latin typeface="Times New Roman" panose="02020603050405020304" pitchFamily="18" charset="0"/>
                <a:cs typeface="Times New Roman" panose="02020603050405020304" pitchFamily="18" charset="0"/>
              </a:rPr>
              <a:t>Improve sleep routine and activity planning.</a:t>
            </a:r>
          </a:p>
          <a:p>
            <a:pPr marL="0" indent="0" algn="just">
              <a:buNone/>
            </a:pPr>
            <a:endParaRPr lang="en-US" sz="2000" b="1" dirty="0"/>
          </a:p>
        </p:txBody>
      </p:sp>
    </p:spTree>
    <p:extLst>
      <p:ext uri="{BB962C8B-B14F-4D97-AF65-F5344CB8AC3E}">
        <p14:creationId xmlns:p14="http://schemas.microsoft.com/office/powerpoint/2010/main" val="857576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A122E-95BF-723B-FC4B-902269DA1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2E622-8389-B20F-80CF-8AAD61753190}"/>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Goals for Therapy </a:t>
            </a:r>
            <a:endParaRPr lang="en-IN" sz="3600" dirty="0"/>
          </a:p>
        </p:txBody>
      </p:sp>
      <p:sp>
        <p:nvSpPr>
          <p:cNvPr id="3" name="Content Placeholder 2">
            <a:extLst>
              <a:ext uri="{FF2B5EF4-FFF2-40B4-BE49-F238E27FC236}">
                <a16:creationId xmlns:a16="http://schemas.microsoft.com/office/drawing/2014/main" id="{495D3138-F2BB-A295-C5D9-ECCB0E23A1F2}"/>
              </a:ext>
            </a:extLst>
          </p:cNvPr>
          <p:cNvSpPr>
            <a:spLocks noGrp="1"/>
          </p:cNvSpPr>
          <p:nvPr>
            <p:ph idx="1"/>
          </p:nvPr>
        </p:nvSpPr>
        <p:spPr/>
        <p:txBody>
          <a:bodyPr numCol="1">
            <a:normAutofit/>
          </a:bodyPr>
          <a:lstStyle/>
          <a:p>
            <a:pPr marL="0" indent="0" algn="just">
              <a:buNone/>
            </a:pPr>
            <a:r>
              <a:rPr lang="en-US" sz="2000" b="1" u="sng" dirty="0"/>
              <a:t>Long-Term Goals</a:t>
            </a:r>
          </a:p>
          <a:p>
            <a:r>
              <a:rPr lang="en-US" sz="2000" dirty="0">
                <a:latin typeface="Times New Roman" panose="02020603050405020304" pitchFamily="18" charset="0"/>
                <a:cs typeface="Times New Roman" panose="02020603050405020304" pitchFamily="18" charset="0"/>
              </a:rPr>
              <a:t>Reduce depressive symptoms, including low mood, crying spells, irritability and lethargy.</a:t>
            </a:r>
          </a:p>
          <a:p>
            <a:r>
              <a:rPr lang="en-US" sz="2000" dirty="0">
                <a:latin typeface="Times New Roman" panose="02020603050405020304" pitchFamily="18" charset="0"/>
                <a:cs typeface="Times New Roman" panose="02020603050405020304" pitchFamily="18" charset="0"/>
              </a:rPr>
              <a:t>Improve sleep, motivation and daily functioning.</a:t>
            </a:r>
          </a:p>
          <a:p>
            <a:r>
              <a:rPr lang="en-US" sz="2000" dirty="0">
                <a:latin typeface="Times New Roman" panose="02020603050405020304" pitchFamily="18" charset="0"/>
                <a:cs typeface="Times New Roman" panose="02020603050405020304" pitchFamily="18" charset="0"/>
              </a:rPr>
              <a:t>Increase engagement in household, occupational and pleasurable activities.</a:t>
            </a:r>
          </a:p>
          <a:p>
            <a:r>
              <a:rPr lang="en-US" sz="2000" dirty="0">
                <a:latin typeface="Times New Roman" panose="02020603050405020304" pitchFamily="18" charset="0"/>
                <a:cs typeface="Times New Roman" panose="02020603050405020304" pitchFamily="18" charset="0"/>
              </a:rPr>
              <a:t>Develop more balanced thinking and adaptive coping strategies.</a:t>
            </a:r>
          </a:p>
          <a:p>
            <a:r>
              <a:rPr lang="en-US" sz="2000" dirty="0">
                <a:latin typeface="Times New Roman" panose="02020603050405020304" pitchFamily="18" charset="0"/>
                <a:cs typeface="Times New Roman" panose="02020603050405020304" pitchFamily="18" charset="0"/>
              </a:rPr>
              <a:t>Improve problem-solving and emotional regulation.</a:t>
            </a:r>
          </a:p>
          <a:p>
            <a:r>
              <a:rPr lang="en-US" sz="2000" dirty="0">
                <a:latin typeface="Times New Roman" panose="02020603050405020304" pitchFamily="18" charset="0"/>
                <a:cs typeface="Times New Roman" panose="02020603050405020304" pitchFamily="18" charset="0"/>
              </a:rPr>
              <a:t>Prevent relapse and support independent use of CBT skills.</a:t>
            </a:r>
          </a:p>
          <a:p>
            <a:pPr marL="0" indent="0" algn="just">
              <a:buNone/>
            </a:pPr>
            <a:endParaRPr lang="en-US" sz="2000" b="1" u="sng" dirty="0"/>
          </a:p>
        </p:txBody>
      </p:sp>
    </p:spTree>
    <p:extLst>
      <p:ext uri="{BB962C8B-B14F-4D97-AF65-F5344CB8AC3E}">
        <p14:creationId xmlns:p14="http://schemas.microsoft.com/office/powerpoint/2010/main" val="2433383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29977-ED71-FCD5-8ED1-E324399BD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0F5A1-666E-65FE-5CAF-7E6BD4A75EB3}"/>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Initial Phase (Session 1-5) </a:t>
            </a:r>
            <a:endParaRPr lang="en-IN" sz="3600" dirty="0"/>
          </a:p>
        </p:txBody>
      </p:sp>
      <p:sp>
        <p:nvSpPr>
          <p:cNvPr id="3" name="Content Placeholder 2">
            <a:extLst>
              <a:ext uri="{FF2B5EF4-FFF2-40B4-BE49-F238E27FC236}">
                <a16:creationId xmlns:a16="http://schemas.microsoft.com/office/drawing/2014/main" id="{BA19D8C7-773D-82D7-BE23-A77A75B9F86A}"/>
              </a:ext>
            </a:extLst>
          </p:cNvPr>
          <p:cNvSpPr>
            <a:spLocks noGrp="1"/>
          </p:cNvSpPr>
          <p:nvPr>
            <p:ph idx="1"/>
          </p:nvPr>
        </p:nvSpPr>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Session 1 — Rapport Building and Initial Assessment</a:t>
            </a:r>
          </a:p>
          <a:p>
            <a:pPr marL="0" indent="0">
              <a:buNone/>
            </a:pPr>
            <a:r>
              <a:rPr lang="en-US" b="1" dirty="0">
                <a:latin typeface="Times New Roman" panose="02020603050405020304" pitchFamily="18" charset="0"/>
                <a:cs typeface="Times New Roman" panose="02020603050405020304" pitchFamily="18" charset="0"/>
              </a:rPr>
              <a:t>Session Goals</a:t>
            </a:r>
          </a:p>
          <a:p>
            <a:r>
              <a:rPr lang="en-US" dirty="0">
                <a:latin typeface="Times New Roman" panose="02020603050405020304" pitchFamily="18" charset="0"/>
                <a:cs typeface="Times New Roman" panose="02020603050405020304" pitchFamily="18" charset="0"/>
              </a:rPr>
              <a:t>Establish therapeutic rapport and a safe, </a:t>
            </a:r>
            <a:r>
              <a:rPr lang="en-US" dirty="0" err="1">
                <a:latin typeface="Times New Roman" panose="02020603050405020304" pitchFamily="18" charset="0"/>
                <a:cs typeface="Times New Roman" panose="02020603050405020304" pitchFamily="18" charset="0"/>
              </a:rPr>
              <a:t>non-judgemental</a:t>
            </a:r>
            <a:r>
              <a:rPr lang="en-US" dirty="0">
                <a:latin typeface="Times New Roman" panose="02020603050405020304" pitchFamily="18" charset="0"/>
                <a:cs typeface="Times New Roman" panose="02020603050405020304" pitchFamily="18" charset="0"/>
              </a:rPr>
              <a:t> environment.</a:t>
            </a:r>
          </a:p>
          <a:p>
            <a:r>
              <a:rPr lang="en-US" dirty="0">
                <a:latin typeface="Times New Roman" panose="02020603050405020304" pitchFamily="18" charset="0"/>
                <a:cs typeface="Times New Roman" panose="02020603050405020304" pitchFamily="18" charset="0"/>
              </a:rPr>
              <a:t>Understand the patient’s main concerns in her own words.</a:t>
            </a:r>
          </a:p>
          <a:p>
            <a:r>
              <a:rPr lang="en-US" dirty="0">
                <a:latin typeface="Times New Roman" panose="02020603050405020304" pitchFamily="18" charset="0"/>
                <a:cs typeface="Times New Roman" panose="02020603050405020304" pitchFamily="18" charset="0"/>
              </a:rPr>
              <a:t>Explore the effect of low mood, poor sleep, overthinking and low motivation on daily life.</a:t>
            </a:r>
          </a:p>
          <a:p>
            <a:r>
              <a:rPr lang="en-US" dirty="0">
                <a:latin typeface="Times New Roman" panose="02020603050405020304" pitchFamily="18" charset="0"/>
                <a:cs typeface="Times New Roman" panose="02020603050405020304" pitchFamily="18" charset="0"/>
              </a:rPr>
              <a:t>Identify the patient’s expectations and collaboratively set initial therapy goals.</a:t>
            </a:r>
          </a:p>
          <a:p>
            <a:pPr marL="0" indent="0">
              <a:buNone/>
            </a:pPr>
            <a:r>
              <a:rPr lang="en-US" b="1" dirty="0">
                <a:latin typeface="Times New Roman" panose="02020603050405020304" pitchFamily="18" charset="0"/>
                <a:cs typeface="Times New Roman" panose="02020603050405020304" pitchFamily="18" charset="0"/>
              </a:rPr>
              <a:t>Intervention</a:t>
            </a:r>
          </a:p>
          <a:p>
            <a:r>
              <a:rPr lang="en-US" dirty="0">
                <a:latin typeface="Times New Roman" panose="02020603050405020304" pitchFamily="18" charset="0"/>
                <a:cs typeface="Times New Roman" panose="02020603050405020304" pitchFamily="18" charset="0"/>
              </a:rPr>
              <a:t>The patient was encouraged to describe her emotional and </a:t>
            </a: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difficulties, including frequent crying, reduced happiness, lethargy, irritability, excessive thinking and difficulty completing routine activities. The therapist validated her distress and explored the relationship between symptoms and daily functioning.</a:t>
            </a:r>
          </a:p>
          <a:p>
            <a:pPr marL="0" indent="0">
              <a:buNone/>
            </a:pPr>
            <a:r>
              <a:rPr lang="en-US" b="1" dirty="0">
                <a:latin typeface="Times New Roman" panose="02020603050405020304" pitchFamily="18" charset="0"/>
                <a:cs typeface="Times New Roman" panose="02020603050405020304" pitchFamily="18" charset="0"/>
              </a:rPr>
              <a:t>Homework</a:t>
            </a:r>
          </a:p>
          <a:p>
            <a:r>
              <a:rPr lang="en-US" dirty="0">
                <a:latin typeface="Times New Roman" panose="02020603050405020304" pitchFamily="18" charset="0"/>
                <a:cs typeface="Times New Roman" panose="02020603050405020304" pitchFamily="18" charset="0"/>
              </a:rPr>
              <a:t>Observe mood changes during the week.</a:t>
            </a:r>
          </a:p>
          <a:p>
            <a:r>
              <a:rPr lang="en-US" dirty="0">
                <a:latin typeface="Times New Roman" panose="02020603050405020304" pitchFamily="18" charset="0"/>
                <a:cs typeface="Times New Roman" panose="02020603050405020304" pitchFamily="18" charset="0"/>
              </a:rPr>
              <a:t>Note situations associated with low mood, irritability or excessive thinking.</a:t>
            </a:r>
          </a:p>
          <a:p>
            <a:pPr marL="0" indent="0">
              <a:spcAft>
                <a:spcPts val="400"/>
              </a:spcAf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54778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20AA-9768-D19E-4A87-32999EA2D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648DF-CEDE-1C13-4B76-9EBA6AF0087E}"/>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Initial Phase (Session 1-5)</a:t>
            </a:r>
            <a:endParaRPr lang="en-IN" sz="3600" dirty="0"/>
          </a:p>
        </p:txBody>
      </p:sp>
      <p:sp>
        <p:nvSpPr>
          <p:cNvPr id="3" name="Content Placeholder 2">
            <a:extLst>
              <a:ext uri="{FF2B5EF4-FFF2-40B4-BE49-F238E27FC236}">
                <a16:creationId xmlns:a16="http://schemas.microsoft.com/office/drawing/2014/main" id="{6232BAD9-665A-4514-9458-23BD8FF22D6A}"/>
              </a:ext>
            </a:extLst>
          </p:cNvPr>
          <p:cNvSpPr>
            <a:spLocks noGrp="1"/>
          </p:cNvSpPr>
          <p:nvPr>
            <p:ph idx="1"/>
          </p:nvPr>
        </p:nvSpPr>
        <p:spPr/>
        <p:txBody>
          <a:bodyPr>
            <a:normAutofit fontScale="55000" lnSpcReduction="20000"/>
          </a:bodyPr>
          <a:lstStyle/>
          <a:p>
            <a:pPr marL="0" indent="0">
              <a:buNone/>
            </a:pPr>
            <a:r>
              <a:rPr lang="en-US" sz="3200" b="1" dirty="0">
                <a:latin typeface="Times New Roman" panose="02020603050405020304" pitchFamily="18" charset="0"/>
                <a:cs typeface="Times New Roman" panose="02020603050405020304" pitchFamily="18" charset="0"/>
              </a:rPr>
              <a:t>Session 2 — Psychoeducation and Introduction to the CBT Model</a:t>
            </a:r>
          </a:p>
          <a:p>
            <a:pPr marL="0" indent="0">
              <a:buNone/>
            </a:pPr>
            <a:r>
              <a:rPr lang="en-US" sz="3200" b="1" dirty="0">
                <a:latin typeface="Times New Roman" panose="02020603050405020304" pitchFamily="18" charset="0"/>
                <a:cs typeface="Times New Roman" panose="02020603050405020304" pitchFamily="18" charset="0"/>
              </a:rPr>
              <a:t>Session Goals</a:t>
            </a:r>
          </a:p>
          <a:p>
            <a:r>
              <a:rPr lang="en-US" sz="3200" dirty="0">
                <a:latin typeface="Times New Roman" panose="02020603050405020304" pitchFamily="18" charset="0"/>
                <a:cs typeface="Times New Roman" panose="02020603050405020304" pitchFamily="18" charset="0"/>
              </a:rPr>
              <a:t>Provide psychoeducation about depression.</a:t>
            </a:r>
          </a:p>
          <a:p>
            <a:r>
              <a:rPr lang="en-US" sz="3200" dirty="0">
                <a:latin typeface="Times New Roman" panose="02020603050405020304" pitchFamily="18" charset="0"/>
                <a:cs typeface="Times New Roman" panose="02020603050405020304" pitchFamily="18" charset="0"/>
              </a:rPr>
              <a:t>Introduce the CBT model.</a:t>
            </a:r>
          </a:p>
          <a:p>
            <a:r>
              <a:rPr lang="en-US" sz="3200" dirty="0">
                <a:latin typeface="Times New Roman" panose="02020603050405020304" pitchFamily="18" charset="0"/>
                <a:cs typeface="Times New Roman" panose="02020603050405020304" pitchFamily="18" charset="0"/>
              </a:rPr>
              <a:t>Help the patient understand how thoughts, emotions, physical sensations and </a:t>
            </a:r>
            <a:r>
              <a:rPr lang="en-US" sz="3200" dirty="0" err="1">
                <a:latin typeface="Times New Roman" panose="02020603050405020304" pitchFamily="18" charset="0"/>
                <a:cs typeface="Times New Roman" panose="02020603050405020304" pitchFamily="18" charset="0"/>
              </a:rPr>
              <a:t>behaviour</a:t>
            </a:r>
            <a:r>
              <a:rPr lang="en-US" sz="3200" dirty="0">
                <a:latin typeface="Times New Roman" panose="02020603050405020304" pitchFamily="18" charset="0"/>
                <a:cs typeface="Times New Roman" panose="02020603050405020304" pitchFamily="18" charset="0"/>
              </a:rPr>
              <a:t> are connected.</a:t>
            </a:r>
          </a:p>
          <a:p>
            <a:pPr marL="0" indent="0">
              <a:buNone/>
            </a:pPr>
            <a:r>
              <a:rPr lang="en-US" sz="3200" b="1" dirty="0">
                <a:latin typeface="Times New Roman" panose="02020603050405020304" pitchFamily="18" charset="0"/>
                <a:cs typeface="Times New Roman" panose="02020603050405020304" pitchFamily="18" charset="0"/>
              </a:rPr>
              <a:t>Intervention</a:t>
            </a:r>
          </a:p>
          <a:p>
            <a:r>
              <a:rPr lang="en-US" sz="3200" dirty="0">
                <a:latin typeface="Times New Roman" panose="02020603050405020304" pitchFamily="18" charset="0"/>
                <a:cs typeface="Times New Roman" panose="02020603050405020304" pitchFamily="18" charset="0"/>
              </a:rPr>
              <a:t>The patient was introduced to the depressive cycle:</a:t>
            </a:r>
          </a:p>
          <a:p>
            <a:r>
              <a:rPr lang="en-US" sz="3200" b="1" dirty="0">
                <a:latin typeface="Times New Roman" panose="02020603050405020304" pitchFamily="18" charset="0"/>
                <a:cs typeface="Times New Roman" panose="02020603050405020304" pitchFamily="18" charset="0"/>
              </a:rPr>
              <a:t>Low mood → reduced activity → fewer positive experiences → increased negative thoughts → further low mood</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 therapist explained that reduced activity and withdrawal can maintain depression, while gradual engagement in meaningful activities can support improvement.</a:t>
            </a:r>
          </a:p>
          <a:p>
            <a:pPr marL="0" indent="0">
              <a:buNone/>
            </a:pPr>
            <a:r>
              <a:rPr lang="en-US" sz="3200" b="1" dirty="0">
                <a:latin typeface="Times New Roman" panose="02020603050405020304" pitchFamily="18" charset="0"/>
                <a:cs typeface="Times New Roman" panose="02020603050405020304" pitchFamily="18" charset="0"/>
              </a:rPr>
              <a:t>Homework</a:t>
            </a:r>
          </a:p>
          <a:p>
            <a:r>
              <a:rPr lang="en-US" sz="3200" dirty="0">
                <a:latin typeface="Times New Roman" panose="02020603050405020304" pitchFamily="18" charset="0"/>
                <a:cs typeface="Times New Roman" panose="02020603050405020304" pitchFamily="18" charset="0"/>
              </a:rPr>
              <a:t>Record situations, thoughts, emotions and </a:t>
            </a:r>
            <a:r>
              <a:rPr lang="en-US" sz="3200" dirty="0" err="1">
                <a:latin typeface="Times New Roman" panose="02020603050405020304" pitchFamily="18" charset="0"/>
                <a:cs typeface="Times New Roman" panose="02020603050405020304" pitchFamily="18" charset="0"/>
              </a:rPr>
              <a:t>behaviours</a:t>
            </a:r>
            <a:r>
              <a:rPr lang="en-US" sz="3200" dirty="0">
                <a:latin typeface="Times New Roman" panose="02020603050405020304" pitchFamily="18" charset="0"/>
                <a:cs typeface="Times New Roman" panose="02020603050405020304" pitchFamily="18" charset="0"/>
              </a:rPr>
              <a:t> using a simple CBT monitoring format.</a:t>
            </a:r>
          </a:p>
          <a:p>
            <a:r>
              <a:rPr lang="en-US" sz="3200" dirty="0">
                <a:latin typeface="Times New Roman" panose="02020603050405020304" pitchFamily="18" charset="0"/>
                <a:cs typeface="Times New Roman" panose="02020603050405020304" pitchFamily="18" charset="0"/>
              </a:rPr>
              <a:t>Observe how inactivity affects mood.</a:t>
            </a:r>
          </a:p>
          <a:p>
            <a:pPr marL="0" indent="0">
              <a:spcAft>
                <a:spcPts val="400"/>
              </a:spcAft>
              <a:buNone/>
            </a:pPr>
            <a:endParaRPr lang="en-US" sz="20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358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EA14-B71C-7D10-7E13-F3A3D3465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2084D-001B-0A6A-F893-8EE7EC2D73F8}"/>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Initial Phase (Session 1-5)</a:t>
            </a:r>
            <a:endParaRPr lang="en-IN" sz="3600" dirty="0"/>
          </a:p>
        </p:txBody>
      </p:sp>
      <p:sp>
        <p:nvSpPr>
          <p:cNvPr id="3" name="Content Placeholder 2">
            <a:extLst>
              <a:ext uri="{FF2B5EF4-FFF2-40B4-BE49-F238E27FC236}">
                <a16:creationId xmlns:a16="http://schemas.microsoft.com/office/drawing/2014/main" id="{6295EF07-9BA9-3E71-011E-B378A318E5A2}"/>
              </a:ext>
            </a:extLst>
          </p:cNvPr>
          <p:cNvSpPr>
            <a:spLocks noGrp="1"/>
          </p:cNvSpPr>
          <p:nvPr>
            <p:ph idx="1"/>
          </p:nvPr>
        </p:nvSpPr>
        <p:spPr>
          <a:xfrm>
            <a:off x="838200" y="1517714"/>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Session 3 — </a:t>
            </a:r>
            <a:r>
              <a:rPr lang="en-US" sz="1800" b="1" dirty="0" err="1">
                <a:latin typeface="Times New Roman" panose="02020603050405020304" pitchFamily="18" charset="0"/>
                <a:cs typeface="Times New Roman" panose="02020603050405020304" pitchFamily="18" charset="0"/>
              </a:rPr>
              <a:t>Behavioural</a:t>
            </a:r>
            <a:r>
              <a:rPr lang="en-US" sz="1800" b="1" dirty="0">
                <a:latin typeface="Times New Roman" panose="02020603050405020304" pitchFamily="18" charset="0"/>
                <a:cs typeface="Times New Roman" panose="02020603050405020304" pitchFamily="18" charset="0"/>
              </a:rPr>
              <a:t> Activation</a:t>
            </a:r>
          </a:p>
          <a:p>
            <a:pPr marL="0" indent="0">
              <a:buNone/>
            </a:pPr>
            <a:r>
              <a:rPr lang="en-US" sz="1800" b="1" dirty="0">
                <a:latin typeface="Times New Roman" panose="02020603050405020304" pitchFamily="18" charset="0"/>
                <a:cs typeface="Times New Roman" panose="02020603050405020304" pitchFamily="18" charset="0"/>
              </a:rPr>
              <a:t>Session Goals</a:t>
            </a:r>
          </a:p>
          <a:p>
            <a:r>
              <a:rPr lang="en-US" sz="1800" dirty="0">
                <a:latin typeface="Times New Roman" panose="02020603050405020304" pitchFamily="18" charset="0"/>
                <a:cs typeface="Times New Roman" panose="02020603050405020304" pitchFamily="18" charset="0"/>
              </a:rPr>
              <a:t>Identify activities that have reduced or stopped.</a:t>
            </a:r>
          </a:p>
          <a:p>
            <a:r>
              <a:rPr lang="en-US" sz="1800" dirty="0">
                <a:latin typeface="Times New Roman" panose="02020603050405020304" pitchFamily="18" charset="0"/>
                <a:cs typeface="Times New Roman" panose="02020603050405020304" pitchFamily="18" charset="0"/>
              </a:rPr>
              <a:t>Understand the relationship between inactivity and low mood.</a:t>
            </a:r>
          </a:p>
          <a:p>
            <a:r>
              <a:rPr lang="en-US" sz="1800" dirty="0">
                <a:latin typeface="Times New Roman" panose="02020603050405020304" pitchFamily="18" charset="0"/>
                <a:cs typeface="Times New Roman" panose="02020603050405020304" pitchFamily="18" charset="0"/>
              </a:rPr>
              <a:t>Begin planning small and manageable activities.</a:t>
            </a:r>
          </a:p>
          <a:p>
            <a:pPr marL="0" indent="0">
              <a:buNone/>
            </a:pPr>
            <a:r>
              <a:rPr lang="en-US" sz="1800" b="1" dirty="0">
                <a:latin typeface="Times New Roman" panose="02020603050405020304" pitchFamily="18" charset="0"/>
                <a:cs typeface="Times New Roman" panose="02020603050405020304" pitchFamily="18" charset="0"/>
              </a:rPr>
              <a:t>Intervention</a:t>
            </a:r>
          </a:p>
          <a:p>
            <a:r>
              <a:rPr lang="en-US" sz="1800" dirty="0" err="1">
                <a:latin typeface="Times New Roman" panose="02020603050405020304" pitchFamily="18" charset="0"/>
                <a:cs typeface="Times New Roman" panose="02020603050405020304" pitchFamily="18" charset="0"/>
              </a:rPr>
              <a:t>Behavioural</a:t>
            </a:r>
            <a:r>
              <a:rPr lang="en-US" sz="1800" dirty="0">
                <a:latin typeface="Times New Roman" panose="02020603050405020304" pitchFamily="18" charset="0"/>
                <a:cs typeface="Times New Roman" panose="02020603050405020304" pitchFamily="18" charset="0"/>
              </a:rPr>
              <a:t> activation was introduced. The patient identified routine, household and pleasurable activities that had become difficult because of lethargy, low motivation and low mood. Activities were divided into small steps based on feasibility rather than waiting for motivation to return.</a:t>
            </a:r>
          </a:p>
          <a:p>
            <a:r>
              <a:rPr lang="en-US" sz="1800" dirty="0">
                <a:latin typeface="Times New Roman" panose="02020603050405020304" pitchFamily="18" charset="0"/>
                <a:cs typeface="Times New Roman" panose="02020603050405020304" pitchFamily="18" charset="0"/>
              </a:rPr>
              <a:t>The distinction between </a:t>
            </a:r>
            <a:r>
              <a:rPr lang="en-US" sz="1800" b="1" dirty="0">
                <a:latin typeface="Times New Roman" panose="02020603050405020304" pitchFamily="18" charset="0"/>
                <a:cs typeface="Times New Roman" panose="02020603050405020304" pitchFamily="18" charset="0"/>
              </a:rPr>
              <a:t>pleasure</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mastery</a:t>
            </a:r>
            <a:r>
              <a:rPr lang="en-US" sz="1800" dirty="0">
                <a:latin typeface="Times New Roman" panose="02020603050405020304" pitchFamily="18" charset="0"/>
                <a:cs typeface="Times New Roman" panose="02020603050405020304" pitchFamily="18" charset="0"/>
              </a:rPr>
              <a:t> activities was explained.</a:t>
            </a:r>
          </a:p>
          <a:p>
            <a:pPr marL="0" indent="0">
              <a:buNone/>
            </a:pPr>
            <a:r>
              <a:rPr lang="en-US" sz="1800" b="1" dirty="0">
                <a:latin typeface="Times New Roman" panose="02020603050405020304" pitchFamily="18" charset="0"/>
                <a:cs typeface="Times New Roman" panose="02020603050405020304" pitchFamily="18" charset="0"/>
              </a:rPr>
              <a:t>Homework</a:t>
            </a:r>
          </a:p>
          <a:p>
            <a:r>
              <a:rPr lang="en-US" sz="1800" dirty="0">
                <a:latin typeface="Times New Roman" panose="02020603050405020304" pitchFamily="18" charset="0"/>
                <a:cs typeface="Times New Roman" panose="02020603050405020304" pitchFamily="18" charset="0"/>
              </a:rPr>
              <a:t>Complete one planned routine activity.</a:t>
            </a:r>
          </a:p>
          <a:p>
            <a:r>
              <a:rPr lang="en-US" sz="1800" dirty="0">
                <a:latin typeface="Times New Roman" panose="02020603050405020304" pitchFamily="18" charset="0"/>
                <a:cs typeface="Times New Roman" panose="02020603050405020304" pitchFamily="18" charset="0"/>
              </a:rPr>
              <a:t>Complete one small pleasurable or mastery-based activity.</a:t>
            </a:r>
          </a:p>
          <a:p>
            <a:r>
              <a:rPr lang="en-US" sz="1800" dirty="0">
                <a:latin typeface="Times New Roman" panose="02020603050405020304" pitchFamily="18" charset="0"/>
                <a:cs typeface="Times New Roman" panose="02020603050405020304" pitchFamily="18" charset="0"/>
              </a:rPr>
              <a:t>Record the effect of the activity on mood and energy.</a:t>
            </a:r>
          </a:p>
          <a:p>
            <a:pPr marL="0" indent="0" algn="just">
              <a:lnSpc>
                <a:spcPct val="170000"/>
              </a:lnSpc>
              <a:spcAft>
                <a:spcPts val="400"/>
              </a:spcAft>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lgn="just">
              <a:spcAft>
                <a:spcPts val="400"/>
              </a:spcAft>
              <a:buNone/>
            </a:pPr>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4944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09959-2C2B-0CAD-EEC7-E3566EBF5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E2FD1-1314-DE77-93A7-628582A39322}"/>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Initial Phase (Session 1-5)</a:t>
            </a:r>
            <a:endParaRPr lang="en-IN" sz="3600" dirty="0"/>
          </a:p>
        </p:txBody>
      </p:sp>
      <p:sp>
        <p:nvSpPr>
          <p:cNvPr id="3" name="Content Placeholder 2">
            <a:extLst>
              <a:ext uri="{FF2B5EF4-FFF2-40B4-BE49-F238E27FC236}">
                <a16:creationId xmlns:a16="http://schemas.microsoft.com/office/drawing/2014/main" id="{3F7182D4-5E75-9159-FD75-9D7280910864}"/>
              </a:ext>
            </a:extLst>
          </p:cNvPr>
          <p:cNvSpPr>
            <a:spLocks noGrp="1"/>
          </p:cNvSpPr>
          <p:nvPr>
            <p:ph idx="1"/>
          </p:nvPr>
        </p:nvSpPr>
        <p:spPr>
          <a:xfrm>
            <a:off x="838200" y="1517714"/>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Session 4 — </a:t>
            </a:r>
            <a:r>
              <a:rPr lang="en-US" sz="1800" b="1" dirty="0" err="1">
                <a:latin typeface="Times New Roman" panose="02020603050405020304" pitchFamily="18" charset="0"/>
                <a:cs typeface="Times New Roman" panose="02020603050405020304" pitchFamily="18" charset="0"/>
              </a:rPr>
              <a:t>Behavioural</a:t>
            </a:r>
            <a:r>
              <a:rPr lang="en-US" sz="1800" b="1" dirty="0">
                <a:latin typeface="Times New Roman" panose="02020603050405020304" pitchFamily="18" charset="0"/>
                <a:cs typeface="Times New Roman" panose="02020603050405020304" pitchFamily="18" charset="0"/>
              </a:rPr>
              <a:t> Activation and Activity Scheduling</a:t>
            </a:r>
          </a:p>
          <a:p>
            <a:pPr marL="0" indent="0">
              <a:buNone/>
            </a:pPr>
            <a:r>
              <a:rPr lang="en-US" sz="1800" b="1" dirty="0">
                <a:latin typeface="Times New Roman" panose="02020603050405020304" pitchFamily="18" charset="0"/>
                <a:cs typeface="Times New Roman" panose="02020603050405020304" pitchFamily="18" charset="0"/>
              </a:rPr>
              <a:t>Session Goals</a:t>
            </a:r>
          </a:p>
          <a:p>
            <a:r>
              <a:rPr lang="en-US" sz="1800" dirty="0">
                <a:latin typeface="Times New Roman" panose="02020603050405020304" pitchFamily="18" charset="0"/>
                <a:cs typeface="Times New Roman" panose="02020603050405020304" pitchFamily="18" charset="0"/>
              </a:rPr>
              <a:t>Review activity completion and difficulties.</a:t>
            </a:r>
          </a:p>
          <a:p>
            <a:r>
              <a:rPr lang="en-US" sz="1800" dirty="0">
                <a:latin typeface="Times New Roman" panose="02020603050405020304" pitchFamily="18" charset="0"/>
                <a:cs typeface="Times New Roman" panose="02020603050405020304" pitchFamily="18" charset="0"/>
              </a:rPr>
              <a:t>Identify barriers to starting or completing tasks.</a:t>
            </a:r>
          </a:p>
          <a:p>
            <a:r>
              <a:rPr lang="en-US" sz="1800" dirty="0">
                <a:latin typeface="Times New Roman" panose="02020603050405020304" pitchFamily="18" charset="0"/>
                <a:cs typeface="Times New Roman" panose="02020603050405020304" pitchFamily="18" charset="0"/>
              </a:rPr>
              <a:t>Strengthen daily structure and routine.</a:t>
            </a:r>
          </a:p>
          <a:p>
            <a:pPr marL="0" indent="0">
              <a:buNone/>
            </a:pPr>
            <a:r>
              <a:rPr lang="en-US" sz="1800" b="1" dirty="0">
                <a:latin typeface="Times New Roman" panose="02020603050405020304" pitchFamily="18" charset="0"/>
                <a:cs typeface="Times New Roman" panose="02020603050405020304" pitchFamily="18" charset="0"/>
              </a:rPr>
              <a:t>Intervention</a:t>
            </a:r>
          </a:p>
          <a:p>
            <a:r>
              <a:rPr lang="en-US" sz="1800" dirty="0">
                <a:latin typeface="Times New Roman" panose="02020603050405020304" pitchFamily="18" charset="0"/>
                <a:cs typeface="Times New Roman" panose="02020603050405020304" pitchFamily="18" charset="0"/>
              </a:rPr>
              <a:t>The patient’s activity record was reviewed. Avoidance, postponement and low energy were discussed as factors that may maintain depressive symptoms. A graded activity schedule was prepared, including manageable household, self-care and personally meaningful activities.</a:t>
            </a:r>
          </a:p>
          <a:p>
            <a:r>
              <a:rPr lang="en-US" sz="1800" dirty="0">
                <a:latin typeface="Times New Roman" panose="02020603050405020304" pitchFamily="18" charset="0"/>
                <a:cs typeface="Times New Roman" panose="02020603050405020304" pitchFamily="18" charset="0"/>
              </a:rPr>
              <a:t>Sleep-related habits and the effect of excessive thinking at night were also explored.</a:t>
            </a:r>
          </a:p>
          <a:p>
            <a:pPr marL="0" indent="0">
              <a:buNone/>
            </a:pPr>
            <a:r>
              <a:rPr lang="en-US" sz="1800" b="1" dirty="0">
                <a:latin typeface="Times New Roman" panose="02020603050405020304" pitchFamily="18" charset="0"/>
                <a:cs typeface="Times New Roman" panose="02020603050405020304" pitchFamily="18" charset="0"/>
              </a:rPr>
              <a:t>Homework</a:t>
            </a:r>
          </a:p>
          <a:p>
            <a:r>
              <a:rPr lang="en-US" sz="1800" dirty="0">
                <a:latin typeface="Times New Roman" panose="02020603050405020304" pitchFamily="18" charset="0"/>
                <a:cs typeface="Times New Roman" panose="02020603050405020304" pitchFamily="18" charset="0"/>
              </a:rPr>
              <a:t>Follow the activity schedule.</a:t>
            </a:r>
          </a:p>
          <a:p>
            <a:r>
              <a:rPr lang="en-US" sz="1800" dirty="0" err="1">
                <a:latin typeface="Times New Roman" panose="02020603050405020304" pitchFamily="18" charset="0"/>
                <a:cs typeface="Times New Roman" panose="02020603050405020304" pitchFamily="18" charset="0"/>
              </a:rPr>
              <a:t>Practise</a:t>
            </a:r>
            <a:r>
              <a:rPr lang="en-US" sz="1800" dirty="0">
                <a:latin typeface="Times New Roman" panose="02020603050405020304" pitchFamily="18" charset="0"/>
                <a:cs typeface="Times New Roman" panose="02020603050405020304" pitchFamily="18" charset="0"/>
              </a:rPr>
              <a:t> starting tasks for a limited period rather than waiting to feel motivated.</a:t>
            </a:r>
          </a:p>
          <a:p>
            <a:r>
              <a:rPr lang="en-US" sz="1800" dirty="0">
                <a:latin typeface="Times New Roman" panose="02020603050405020304" pitchFamily="18" charset="0"/>
                <a:cs typeface="Times New Roman" panose="02020603050405020304" pitchFamily="18" charset="0"/>
              </a:rPr>
              <a:t>Maintain a regular sleep and wake time as far as possible.</a:t>
            </a:r>
          </a:p>
          <a:p>
            <a:pPr marL="0" indent="0" algn="just">
              <a:spcAft>
                <a:spcPts val="400"/>
              </a:spcAft>
              <a:buNone/>
            </a:pPr>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5478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86A60-5984-015F-7E2E-DADFA720D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DE6D1-6708-6546-47A6-E997B5816D9A}"/>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Initial Phase (Session 1-5)</a:t>
            </a:r>
            <a:endParaRPr lang="en-IN" sz="3600" dirty="0"/>
          </a:p>
        </p:txBody>
      </p:sp>
      <p:sp>
        <p:nvSpPr>
          <p:cNvPr id="3" name="Content Placeholder 2">
            <a:extLst>
              <a:ext uri="{FF2B5EF4-FFF2-40B4-BE49-F238E27FC236}">
                <a16:creationId xmlns:a16="http://schemas.microsoft.com/office/drawing/2014/main" id="{18369BAA-D96E-8B1D-FC95-E51EAAF8AA54}"/>
              </a:ext>
            </a:extLst>
          </p:cNvPr>
          <p:cNvSpPr>
            <a:spLocks noGrp="1"/>
          </p:cNvSpPr>
          <p:nvPr>
            <p:ph idx="1"/>
          </p:nvPr>
        </p:nvSpPr>
        <p:spPr>
          <a:xfrm>
            <a:off x="838200" y="1517714"/>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Session 5 — Introduction to Cognitive Restructuring</a:t>
            </a:r>
          </a:p>
          <a:p>
            <a:pPr marL="0" indent="0">
              <a:buNone/>
            </a:pPr>
            <a:r>
              <a:rPr lang="en-US" sz="1800" b="1" dirty="0">
                <a:latin typeface="Times New Roman" panose="02020603050405020304" pitchFamily="18" charset="0"/>
                <a:cs typeface="Times New Roman" panose="02020603050405020304" pitchFamily="18" charset="0"/>
              </a:rPr>
              <a:t>Session Goals</a:t>
            </a:r>
          </a:p>
          <a:p>
            <a:r>
              <a:rPr lang="en-US" sz="1800" dirty="0">
                <a:latin typeface="Times New Roman" panose="02020603050405020304" pitchFamily="18" charset="0"/>
                <a:cs typeface="Times New Roman" panose="02020603050405020304" pitchFamily="18" charset="0"/>
              </a:rPr>
              <a:t>Identify negative automatic thoughts.</a:t>
            </a:r>
          </a:p>
          <a:p>
            <a:r>
              <a:rPr lang="en-US" sz="1800" dirty="0" err="1">
                <a:latin typeface="Times New Roman" panose="02020603050405020304" pitchFamily="18" charset="0"/>
                <a:cs typeface="Times New Roman" panose="02020603050405020304" pitchFamily="18" charset="0"/>
              </a:rPr>
              <a:t>Recognise</a:t>
            </a:r>
            <a:r>
              <a:rPr lang="en-US" sz="1800" dirty="0">
                <a:latin typeface="Times New Roman" panose="02020603050405020304" pitchFamily="18" charset="0"/>
                <a:cs typeface="Times New Roman" panose="02020603050405020304" pitchFamily="18" charset="0"/>
              </a:rPr>
              <a:t> common cognitive distortions.</a:t>
            </a:r>
          </a:p>
          <a:p>
            <a:r>
              <a:rPr lang="en-US" sz="1800" dirty="0">
                <a:latin typeface="Times New Roman" panose="02020603050405020304" pitchFamily="18" charset="0"/>
                <a:cs typeface="Times New Roman" panose="02020603050405020304" pitchFamily="18" charset="0"/>
              </a:rPr>
              <a:t>Begin examining the accuracy and helpfulness of negative thoughts.</a:t>
            </a:r>
          </a:p>
          <a:p>
            <a:pPr marL="0" indent="0">
              <a:buNone/>
            </a:pPr>
            <a:r>
              <a:rPr lang="en-US" sz="1800" b="1" dirty="0">
                <a:latin typeface="Times New Roman" panose="02020603050405020304" pitchFamily="18" charset="0"/>
                <a:cs typeface="Times New Roman" panose="02020603050405020304" pitchFamily="18" charset="0"/>
              </a:rPr>
              <a:t>Intervention</a:t>
            </a:r>
          </a:p>
          <a:p>
            <a:r>
              <a:rPr lang="en-US" sz="1800" dirty="0">
                <a:latin typeface="Times New Roman" panose="02020603050405020304" pitchFamily="18" charset="0"/>
                <a:cs typeface="Times New Roman" panose="02020603050405020304" pitchFamily="18" charset="0"/>
              </a:rPr>
              <a:t>Initial cognitive restructuring was introduced. Thoughts related to hopelessness, failure, helplessness, the future and inability to cope were identified. The patient was encouraged to examine:</a:t>
            </a:r>
          </a:p>
          <a:p>
            <a:r>
              <a:rPr lang="en-US" sz="1800" dirty="0">
                <a:latin typeface="Times New Roman" panose="02020603050405020304" pitchFamily="18" charset="0"/>
                <a:cs typeface="Times New Roman" panose="02020603050405020304" pitchFamily="18" charset="0"/>
              </a:rPr>
              <a:t>What was the situation?</a:t>
            </a:r>
          </a:p>
          <a:p>
            <a:r>
              <a:rPr lang="en-US" sz="1800" dirty="0">
                <a:latin typeface="Times New Roman" panose="02020603050405020304" pitchFamily="18" charset="0"/>
                <a:cs typeface="Times New Roman" panose="02020603050405020304" pitchFamily="18" charset="0"/>
              </a:rPr>
              <a:t>What thought came to mind?</a:t>
            </a:r>
          </a:p>
          <a:p>
            <a:r>
              <a:rPr lang="en-US" sz="1800" dirty="0">
                <a:latin typeface="Times New Roman" panose="02020603050405020304" pitchFamily="18" charset="0"/>
                <a:cs typeface="Times New Roman" panose="02020603050405020304" pitchFamily="18" charset="0"/>
              </a:rPr>
              <a:t>What emotion followed?</a:t>
            </a:r>
          </a:p>
          <a:p>
            <a:pPr marL="0" indent="0" algn="just">
              <a:spcAft>
                <a:spcPts val="400"/>
              </a:spcAft>
              <a:buNone/>
            </a:pPr>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432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DE0FBB-0962-5C64-EFEC-C1E6EDE06919}"/>
              </a:ext>
            </a:extLst>
          </p:cNvPr>
          <p:cNvSpPr>
            <a:spLocks noGrp="1"/>
          </p:cNvSpPr>
          <p:nvPr>
            <p:ph idx="1"/>
          </p:nvPr>
        </p:nvSpPr>
        <p:spPr>
          <a:xfrm>
            <a:off x="838200" y="860612"/>
            <a:ext cx="10515600" cy="5316351"/>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Intervention</a:t>
            </a:r>
          </a:p>
          <a:p>
            <a:r>
              <a:rPr lang="en-US" sz="1800" dirty="0">
                <a:latin typeface="Times New Roman" panose="02020603050405020304" pitchFamily="18" charset="0"/>
                <a:cs typeface="Times New Roman" panose="02020603050405020304" pitchFamily="18" charset="0"/>
              </a:rPr>
              <a:t>What evidence does not support it?</a:t>
            </a:r>
          </a:p>
          <a:p>
            <a:r>
              <a:rPr lang="en-US" sz="1800" dirty="0">
                <a:latin typeface="Times New Roman" panose="02020603050405020304" pitchFamily="18" charset="0"/>
                <a:cs typeface="Times New Roman" panose="02020603050405020304" pitchFamily="18" charset="0"/>
              </a:rPr>
              <a:t>What would be a more balanced response?</a:t>
            </a:r>
          </a:p>
          <a:p>
            <a:r>
              <a:rPr lang="en-US" sz="1800" dirty="0">
                <a:latin typeface="Times New Roman" panose="02020603050405020304" pitchFamily="18" charset="0"/>
                <a:cs typeface="Times New Roman" panose="02020603050405020304" pitchFamily="18" charset="0"/>
              </a:rPr>
              <a:t>The therapist explained that thoughts can feel convincing without always being complete or accurate.</a:t>
            </a:r>
          </a:p>
          <a:p>
            <a:pPr marL="0" indent="0">
              <a:buNone/>
            </a:pPr>
            <a:r>
              <a:rPr lang="en-US" sz="1800" b="1" dirty="0">
                <a:latin typeface="Times New Roman" panose="02020603050405020304" pitchFamily="18" charset="0"/>
                <a:cs typeface="Times New Roman" panose="02020603050405020304" pitchFamily="18" charset="0"/>
              </a:rPr>
              <a:t>Homework</a:t>
            </a:r>
          </a:p>
          <a:p>
            <a:r>
              <a:rPr lang="en-US" sz="1800" dirty="0">
                <a:latin typeface="Times New Roman" panose="02020603050405020304" pitchFamily="18" charset="0"/>
                <a:cs typeface="Times New Roman" panose="02020603050405020304" pitchFamily="18" charset="0"/>
              </a:rPr>
              <a:t>Complete a brief thought record.</a:t>
            </a:r>
          </a:p>
          <a:p>
            <a:r>
              <a:rPr lang="en-US" sz="1800" dirty="0">
                <a:latin typeface="Times New Roman" panose="02020603050405020304" pitchFamily="18" charset="0"/>
                <a:cs typeface="Times New Roman" panose="02020603050405020304" pitchFamily="18" charset="0"/>
              </a:rPr>
              <a:t>Identify one alternative, balanced thought for a distressing situation.</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5752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1AC07-FB49-40A8-E28F-B11F4B4C8A71}"/>
              </a:ext>
            </a:extLst>
          </p:cNvPr>
          <p:cNvSpPr>
            <a:spLocks noGrp="1"/>
          </p:cNvSpPr>
          <p:nvPr>
            <p:ph type="title"/>
          </p:nvPr>
        </p:nvSpPr>
        <p:spPr/>
        <p:txBody>
          <a:bodyPr/>
          <a:lstStyle/>
          <a:p>
            <a:pPr algn="just"/>
            <a:r>
              <a:rPr lang="en-US" b="1" dirty="0">
                <a:latin typeface="Times New Roman" panose="02020603050405020304" pitchFamily="18" charset="0"/>
                <a:cs typeface="Times New Roman" panose="02020603050405020304" pitchFamily="18" charset="0"/>
              </a:rPr>
              <a:t>Note</a:t>
            </a:r>
            <a:r>
              <a:rPr lang="en-US" dirty="0"/>
              <a:t> </a:t>
            </a:r>
            <a:endParaRPr lang="en-IN" dirty="0"/>
          </a:p>
        </p:txBody>
      </p:sp>
      <p:sp>
        <p:nvSpPr>
          <p:cNvPr id="3" name="Content Placeholder 2">
            <a:extLst>
              <a:ext uri="{FF2B5EF4-FFF2-40B4-BE49-F238E27FC236}">
                <a16:creationId xmlns:a16="http://schemas.microsoft.com/office/drawing/2014/main" id="{9938B8F4-89BE-E0EE-089A-FB81423BFB24}"/>
              </a:ext>
            </a:extLst>
          </p:cNvPr>
          <p:cNvSpPr>
            <a:spLocks noGrp="1"/>
          </p:cNvSpPr>
          <p:nvPr>
            <p:ph idx="1"/>
          </p:nvPr>
        </p:nvSpPr>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patient has completed 5 sessions of therapy so far. The subsequent sessions have been planned as a temporary proposed structure for the upcoming weeks.</a:t>
            </a:r>
          </a:p>
        </p:txBody>
      </p:sp>
    </p:spTree>
    <p:extLst>
      <p:ext uri="{BB962C8B-B14F-4D97-AF65-F5344CB8AC3E}">
        <p14:creationId xmlns:p14="http://schemas.microsoft.com/office/powerpoint/2010/main" val="3501687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36EBF-2C84-A2A3-E2C3-EA89F93DE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E634F-DD8F-C068-8130-9112C6799F21}"/>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6-8)</a:t>
            </a:r>
            <a:endParaRPr lang="en-IN" sz="3600" dirty="0"/>
          </a:p>
        </p:txBody>
      </p:sp>
      <p:sp>
        <p:nvSpPr>
          <p:cNvPr id="3" name="Content Placeholder 2">
            <a:extLst>
              <a:ext uri="{FF2B5EF4-FFF2-40B4-BE49-F238E27FC236}">
                <a16:creationId xmlns:a16="http://schemas.microsoft.com/office/drawing/2014/main" id="{AEBC607A-84B9-FF2A-2229-411C4E6C90C1}"/>
              </a:ext>
            </a:extLst>
          </p:cNvPr>
          <p:cNvSpPr>
            <a:spLocks noGrp="1"/>
          </p:cNvSpPr>
          <p:nvPr>
            <p:ph idx="1"/>
          </p:nvPr>
        </p:nvSpPr>
        <p:spPr/>
        <p:txBody>
          <a:bodyPr>
            <a:normAutofit/>
          </a:bodyPr>
          <a:lstStyle/>
          <a:p>
            <a:pPr marL="0" indent="0">
              <a:spcAft>
                <a:spcPts val="400"/>
              </a:spcAft>
              <a:buNone/>
            </a:pPr>
            <a:r>
              <a:rPr lang="en-US" sz="2000" b="1" dirty="0">
                <a:latin typeface="Times New Roman" panose="02020603050405020304" pitchFamily="18" charset="0"/>
                <a:cs typeface="Times New Roman" panose="02020603050405020304" pitchFamily="18" charset="0"/>
              </a:rPr>
              <a:t>Focus:</a:t>
            </a:r>
            <a:r>
              <a:rPr lang="en-US" sz="2000" dirty="0">
                <a:latin typeface="Times New Roman" panose="02020603050405020304" pitchFamily="18" charset="0"/>
                <a:cs typeface="Times New Roman" panose="02020603050405020304" pitchFamily="18" charset="0"/>
              </a:rPr>
              <a:t> </a:t>
            </a:r>
          </a:p>
          <a:p>
            <a:pPr marL="0" indent="0">
              <a:spcAft>
                <a:spcPts val="400"/>
              </a:spcAft>
              <a:buNone/>
            </a:pPr>
            <a:r>
              <a:rPr lang="en-US" sz="2000" dirty="0">
                <a:latin typeface="Times New Roman" panose="02020603050405020304" pitchFamily="18" charset="0"/>
                <a:cs typeface="Times New Roman" panose="02020603050405020304" pitchFamily="18" charset="0"/>
              </a:rPr>
              <a:t>Sessions 6–8 — Continuing </a:t>
            </a:r>
            <a:r>
              <a:rPr lang="en-US" sz="2000" dirty="0" err="1">
                <a:latin typeface="Times New Roman" panose="02020603050405020304" pitchFamily="18" charset="0"/>
                <a:cs typeface="Times New Roman" panose="02020603050405020304" pitchFamily="18" charset="0"/>
              </a:rPr>
              <a:t>Behavioural</a:t>
            </a:r>
            <a:r>
              <a:rPr lang="en-US" sz="2000" dirty="0">
                <a:latin typeface="Times New Roman" panose="02020603050405020304" pitchFamily="18" charset="0"/>
                <a:cs typeface="Times New Roman" panose="02020603050405020304" pitchFamily="18" charset="0"/>
              </a:rPr>
              <a:t> Activation and Cognitive Restructuring</a:t>
            </a:r>
          </a:p>
          <a:p>
            <a:pPr marL="0" indent="0">
              <a:buNone/>
            </a:pPr>
            <a:r>
              <a:rPr lang="en-US" sz="1800" b="1" dirty="0">
                <a:latin typeface="Times New Roman" panose="02020603050405020304" pitchFamily="18" charset="0"/>
                <a:cs typeface="Times New Roman" panose="02020603050405020304" pitchFamily="18" charset="0"/>
              </a:rPr>
              <a:t>Proposed Future Sessions</a:t>
            </a:r>
          </a:p>
          <a:p>
            <a:pPr marL="0" indent="0">
              <a:buNone/>
            </a:pPr>
            <a:r>
              <a:rPr lang="en-US" sz="1800" b="1" dirty="0">
                <a:latin typeface="Times New Roman" panose="02020603050405020304" pitchFamily="18" charset="0"/>
                <a:cs typeface="Times New Roman" panose="02020603050405020304" pitchFamily="18" charset="0"/>
              </a:rPr>
              <a:t>Focus</a:t>
            </a:r>
          </a:p>
          <a:p>
            <a:r>
              <a:rPr lang="en-US" sz="1800" dirty="0">
                <a:latin typeface="Times New Roman" panose="02020603050405020304" pitchFamily="18" charset="0"/>
                <a:cs typeface="Times New Roman" panose="02020603050405020304" pitchFamily="18" charset="0"/>
              </a:rPr>
              <a:t>Strengthen </a:t>
            </a:r>
            <a:r>
              <a:rPr lang="en-US" sz="1800" dirty="0" err="1">
                <a:latin typeface="Times New Roman" panose="02020603050405020304" pitchFamily="18" charset="0"/>
                <a:cs typeface="Times New Roman" panose="02020603050405020304" pitchFamily="18" charset="0"/>
              </a:rPr>
              <a:t>behavioural</a:t>
            </a:r>
            <a:r>
              <a:rPr lang="en-US" sz="1800" dirty="0">
                <a:latin typeface="Times New Roman" panose="02020603050405020304" pitchFamily="18" charset="0"/>
                <a:cs typeface="Times New Roman" panose="02020603050405020304" pitchFamily="18" charset="0"/>
              </a:rPr>
              <a:t> activation.</a:t>
            </a:r>
          </a:p>
          <a:p>
            <a:r>
              <a:rPr lang="en-US" sz="1800" dirty="0">
                <a:latin typeface="Times New Roman" panose="02020603050405020304" pitchFamily="18" charset="0"/>
                <a:cs typeface="Times New Roman" panose="02020603050405020304" pitchFamily="18" charset="0"/>
              </a:rPr>
              <a:t>Reduce avoidance and withdrawal.</a:t>
            </a:r>
          </a:p>
          <a:p>
            <a:r>
              <a:rPr lang="en-US" sz="1800" dirty="0">
                <a:latin typeface="Times New Roman" panose="02020603050405020304" pitchFamily="18" charset="0"/>
                <a:cs typeface="Times New Roman" panose="02020603050405020304" pitchFamily="18" charset="0"/>
              </a:rPr>
              <a:t>Continue identifying negative automatic thoughts.</a:t>
            </a:r>
          </a:p>
          <a:p>
            <a:r>
              <a:rPr lang="en-US" sz="1800" dirty="0">
                <a:latin typeface="Times New Roman" panose="02020603050405020304" pitchFamily="18" charset="0"/>
                <a:cs typeface="Times New Roman" panose="02020603050405020304" pitchFamily="18" charset="0"/>
              </a:rPr>
              <a:t>Address hopelessness, guilt, helplessness and negative predictions.</a:t>
            </a:r>
          </a:p>
          <a:p>
            <a:pPr marL="0" indent="0">
              <a:spcAft>
                <a:spcPts val="400"/>
              </a:spcAf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262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CF44D-BA96-F1DA-CEC1-D009A2EDA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B8F3F-FC4A-D67C-0146-EDBBE78ACE5F}"/>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6-8)</a:t>
            </a:r>
            <a:endParaRPr lang="en-IN" sz="3600" dirty="0"/>
          </a:p>
        </p:txBody>
      </p:sp>
      <p:sp>
        <p:nvSpPr>
          <p:cNvPr id="3" name="Content Placeholder 2">
            <a:extLst>
              <a:ext uri="{FF2B5EF4-FFF2-40B4-BE49-F238E27FC236}">
                <a16:creationId xmlns:a16="http://schemas.microsoft.com/office/drawing/2014/main" id="{8DD9AE45-3D78-F11C-B628-0A8D86111509}"/>
              </a:ext>
            </a:extLst>
          </p:cNvPr>
          <p:cNvSpPr>
            <a:spLocks noGrp="1"/>
          </p:cNvSpPr>
          <p:nvPr>
            <p:ph idx="1"/>
          </p:nvPr>
        </p:nvSpPr>
        <p:spPr>
          <a:xfrm>
            <a:off x="838200" y="1517714"/>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Proposed Interventions</a:t>
            </a:r>
          </a:p>
          <a:p>
            <a:r>
              <a:rPr lang="en-US" sz="1800" dirty="0">
                <a:latin typeface="Times New Roman" panose="02020603050405020304" pitchFamily="18" charset="0"/>
                <a:cs typeface="Times New Roman" panose="02020603050405020304" pitchFamily="18" charset="0"/>
              </a:rPr>
              <a:t>Review activity schedules and gradually increase routine, pleasurable and mastery activities.</a:t>
            </a:r>
          </a:p>
          <a:p>
            <a:r>
              <a:rPr lang="en-US" sz="1800" dirty="0">
                <a:latin typeface="Times New Roman" panose="02020603050405020304" pitchFamily="18" charset="0"/>
                <a:cs typeface="Times New Roman" panose="02020603050405020304" pitchFamily="18" charset="0"/>
              </a:rPr>
              <a:t>Identify barriers such as tiredness, low motivation and excessive thinking.</a:t>
            </a:r>
          </a:p>
          <a:p>
            <a:r>
              <a:rPr lang="en-US" sz="1800" dirty="0">
                <a:latin typeface="Times New Roman" panose="02020603050405020304" pitchFamily="18" charset="0"/>
                <a:cs typeface="Times New Roman" panose="02020603050405020304" pitchFamily="18" charset="0"/>
              </a:rPr>
              <a:t>Examine thoughts such as:</a:t>
            </a:r>
          </a:p>
          <a:p>
            <a:pPr lvl="1"/>
            <a:r>
              <a:rPr lang="en-US" sz="1800" dirty="0">
                <a:latin typeface="Times New Roman" panose="02020603050405020304" pitchFamily="18" charset="0"/>
                <a:cs typeface="Times New Roman" panose="02020603050405020304" pitchFamily="18" charset="0"/>
              </a:rPr>
              <a:t>“Nothing will improve.”</a:t>
            </a:r>
          </a:p>
          <a:p>
            <a:pPr lvl="1"/>
            <a:r>
              <a:rPr lang="en-US" sz="1800" dirty="0">
                <a:latin typeface="Times New Roman" panose="02020603050405020304" pitchFamily="18" charset="0"/>
                <a:cs typeface="Times New Roman" panose="02020603050405020304" pitchFamily="18" charset="0"/>
              </a:rPr>
              <a:t>“I cannot manage my responsibilities.”</a:t>
            </a:r>
          </a:p>
          <a:p>
            <a:pPr lvl="1"/>
            <a:r>
              <a:rPr lang="en-US" sz="1800" dirty="0">
                <a:latin typeface="Times New Roman" panose="02020603050405020304" pitchFamily="18" charset="0"/>
                <a:cs typeface="Times New Roman" panose="02020603050405020304" pitchFamily="18" charset="0"/>
              </a:rPr>
              <a:t>“There is no point in trying.”</a:t>
            </a:r>
          </a:p>
          <a:p>
            <a:pPr lvl="1"/>
            <a:r>
              <a:rPr lang="en-US" sz="1800" dirty="0">
                <a:latin typeface="Times New Roman" panose="02020603050405020304" pitchFamily="18" charset="0"/>
                <a:cs typeface="Times New Roman" panose="02020603050405020304" pitchFamily="18" charset="0"/>
              </a:rPr>
              <a:t>“I will always feel this way.”</a:t>
            </a:r>
          </a:p>
          <a:p>
            <a:r>
              <a:rPr lang="en-US" sz="1800" dirty="0">
                <a:latin typeface="Times New Roman" panose="02020603050405020304" pitchFamily="18" charset="0"/>
                <a:cs typeface="Times New Roman" panose="02020603050405020304" pitchFamily="18" charset="0"/>
              </a:rPr>
              <a:t>Use evidence examination and generation of balanced alternative thoughts.</a:t>
            </a:r>
          </a:p>
          <a:p>
            <a:r>
              <a:rPr lang="en-US" sz="1800" dirty="0">
                <a:latin typeface="Times New Roman" panose="02020603050405020304" pitchFamily="18" charset="0"/>
                <a:cs typeface="Times New Roman" panose="02020603050405020304" pitchFamily="18" charset="0"/>
              </a:rPr>
              <a:t>Continue monitoring sleep, mood, activity and energy levels.</a:t>
            </a:r>
          </a:p>
          <a:p>
            <a:r>
              <a:rPr lang="en-US" sz="1800" dirty="0">
                <a:latin typeface="Times New Roman" panose="02020603050405020304" pitchFamily="18" charset="0"/>
                <a:cs typeface="Times New Roman" panose="02020603050405020304" pitchFamily="18" charset="0"/>
              </a:rPr>
              <a:t>Introduce simple coping strategies for periods of increased irritability.</a:t>
            </a:r>
          </a:p>
          <a:p>
            <a:pPr marL="0" indent="0" algn="just">
              <a:spcAft>
                <a:spcPts val="400"/>
              </a:spcAft>
              <a:buNone/>
            </a:pPr>
            <a:endParaRPr lang="en-US" sz="1800" b="1" u="sng" dirty="0">
              <a:solidFill>
                <a:srgbClr val="000000"/>
              </a:solidFill>
              <a:latin typeface="Times New Roman" panose="02020603050405020304" pitchFamily="18" charset="0"/>
              <a:cs typeface="Times New Roman" panose="02020603050405020304" pitchFamily="18" charset="0"/>
            </a:endParaRPr>
          </a:p>
          <a:p>
            <a:pPr marL="0" indent="0" algn="just">
              <a:spcAft>
                <a:spcPts val="400"/>
              </a:spcAft>
              <a:buNone/>
            </a:pPr>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1914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B31F4-E2B4-26C9-C787-CFF36516B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6885D-C11E-768B-F76D-8DD034CF70F1}"/>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6-8)</a:t>
            </a:r>
            <a:endParaRPr lang="en-IN" sz="3600" dirty="0"/>
          </a:p>
        </p:txBody>
      </p:sp>
      <p:sp>
        <p:nvSpPr>
          <p:cNvPr id="3" name="Content Placeholder 2">
            <a:extLst>
              <a:ext uri="{FF2B5EF4-FFF2-40B4-BE49-F238E27FC236}">
                <a16:creationId xmlns:a16="http://schemas.microsoft.com/office/drawing/2014/main" id="{1F85CB28-ED18-48E4-DEB3-B0E3225A0C08}"/>
              </a:ext>
            </a:extLst>
          </p:cNvPr>
          <p:cNvSpPr>
            <a:spLocks noGrp="1"/>
          </p:cNvSpPr>
          <p:nvPr>
            <p:ph idx="1"/>
          </p:nvPr>
        </p:nvSpPr>
        <p:spPr>
          <a:xfrm>
            <a:off x="838200" y="1517714"/>
            <a:ext cx="10515600" cy="4351338"/>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Homework</a:t>
            </a:r>
          </a:p>
          <a:p>
            <a:r>
              <a:rPr lang="en-US" sz="2000" dirty="0">
                <a:latin typeface="Times New Roman" panose="02020603050405020304" pitchFamily="18" charset="0"/>
                <a:cs typeface="Times New Roman" panose="02020603050405020304" pitchFamily="18" charset="0"/>
              </a:rPr>
              <a:t>Continue activity scheduling.</a:t>
            </a:r>
          </a:p>
          <a:p>
            <a:r>
              <a:rPr lang="en-US" sz="2000" dirty="0">
                <a:latin typeface="Times New Roman" panose="02020603050405020304" pitchFamily="18" charset="0"/>
                <a:cs typeface="Times New Roman" panose="02020603050405020304" pitchFamily="18" charset="0"/>
              </a:rPr>
              <a:t>Complete thought records for two distressing situations.</a:t>
            </a:r>
          </a:p>
          <a:p>
            <a:r>
              <a:rPr lang="en-US" sz="2000" dirty="0" err="1">
                <a:latin typeface="Times New Roman" panose="02020603050405020304" pitchFamily="18" charset="0"/>
                <a:cs typeface="Times New Roman" panose="02020603050405020304" pitchFamily="18" charset="0"/>
              </a:rPr>
              <a:t>Practise</a:t>
            </a:r>
            <a:r>
              <a:rPr lang="en-US" sz="2000" dirty="0">
                <a:latin typeface="Times New Roman" panose="02020603050405020304" pitchFamily="18" charset="0"/>
                <a:cs typeface="Times New Roman" panose="02020603050405020304" pitchFamily="18" charset="0"/>
              </a:rPr>
              <a:t> one balanced response each day.</a:t>
            </a:r>
          </a:p>
          <a:p>
            <a:pPr marL="0" indent="0">
              <a:buNone/>
            </a:pPr>
            <a:br>
              <a:rPr lang="en-US" sz="1600" dirty="0"/>
            </a:br>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167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3D5BA-A88E-045E-2D5E-35EC75AD9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8884A-08BF-6007-4B22-3408C8AAA017}"/>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9-11)</a:t>
            </a:r>
            <a:endParaRPr lang="en-IN" sz="3600" dirty="0"/>
          </a:p>
        </p:txBody>
      </p:sp>
      <p:sp>
        <p:nvSpPr>
          <p:cNvPr id="3" name="Content Placeholder 2">
            <a:extLst>
              <a:ext uri="{FF2B5EF4-FFF2-40B4-BE49-F238E27FC236}">
                <a16:creationId xmlns:a16="http://schemas.microsoft.com/office/drawing/2014/main" id="{E777A138-6819-EA77-7556-E4323D948CDF}"/>
              </a:ext>
            </a:extLst>
          </p:cNvPr>
          <p:cNvSpPr>
            <a:spLocks noGrp="1"/>
          </p:cNvSpPr>
          <p:nvPr>
            <p:ph idx="1"/>
          </p:nvPr>
        </p:nvSpPr>
        <p:spPr>
          <a:xfrm>
            <a:off x="838200" y="1517714"/>
            <a:ext cx="10515600" cy="4351338"/>
          </a:xfrm>
        </p:spPr>
        <p:txBody>
          <a:bodyPr>
            <a:noAutofit/>
          </a:bodyPr>
          <a:lstStyle/>
          <a:p>
            <a:pPr marL="0" indent="0" algn="just">
              <a:lnSpc>
                <a:spcPct val="100000"/>
              </a:lnSpc>
              <a:spcAft>
                <a:spcPts val="400"/>
              </a:spcAft>
              <a:buNone/>
            </a:pPr>
            <a:r>
              <a:rPr lang="en-US" sz="1800" b="1" dirty="0">
                <a:latin typeface="Times New Roman" panose="02020603050405020304" pitchFamily="18" charset="0"/>
                <a:cs typeface="Times New Roman" panose="02020603050405020304" pitchFamily="18" charset="0"/>
              </a:rPr>
              <a:t>Sessions 9–11 — Rumination, Problem-Solving and Functional Improvement</a:t>
            </a:r>
          </a:p>
          <a:p>
            <a:pPr marL="0" indent="0">
              <a:buNone/>
            </a:pPr>
            <a:r>
              <a:rPr lang="en-US" sz="1800" b="1" dirty="0">
                <a:latin typeface="Times New Roman" panose="02020603050405020304" pitchFamily="18" charset="0"/>
                <a:cs typeface="Times New Roman" panose="02020603050405020304" pitchFamily="18" charset="0"/>
              </a:rPr>
              <a:t>Proposed Future Sessions</a:t>
            </a:r>
          </a:p>
          <a:p>
            <a:pPr marL="0" indent="0">
              <a:buNone/>
            </a:pPr>
            <a:r>
              <a:rPr lang="en-US" sz="1800" b="1" dirty="0">
                <a:latin typeface="Times New Roman" panose="02020603050405020304" pitchFamily="18" charset="0"/>
                <a:cs typeface="Times New Roman" panose="02020603050405020304" pitchFamily="18" charset="0"/>
              </a:rPr>
              <a:t>Focus</a:t>
            </a:r>
          </a:p>
          <a:p>
            <a:r>
              <a:rPr lang="en-US" sz="1800" dirty="0">
                <a:latin typeface="Times New Roman" panose="02020603050405020304" pitchFamily="18" charset="0"/>
                <a:cs typeface="Times New Roman" panose="02020603050405020304" pitchFamily="18" charset="0"/>
              </a:rPr>
              <a:t>Reduce excessive thinking and repetitive negative thinking.</a:t>
            </a:r>
          </a:p>
          <a:p>
            <a:r>
              <a:rPr lang="en-US" sz="1800" dirty="0">
                <a:latin typeface="Times New Roman" panose="02020603050405020304" pitchFamily="18" charset="0"/>
                <a:cs typeface="Times New Roman" panose="02020603050405020304" pitchFamily="18" charset="0"/>
              </a:rPr>
              <a:t>Improve problem-solving and daily </a:t>
            </a:r>
            <a:r>
              <a:rPr lang="en-US" sz="1800" dirty="0" err="1">
                <a:latin typeface="Times New Roman" panose="02020603050405020304" pitchFamily="18" charset="0"/>
                <a:cs typeface="Times New Roman" panose="02020603050405020304" pitchFamily="18" charset="0"/>
              </a:rPr>
              <a:t>organisation</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Address irritability and emotional reactions.</a:t>
            </a:r>
          </a:p>
          <a:p>
            <a:r>
              <a:rPr lang="en-US" sz="1800" dirty="0">
                <a:latin typeface="Times New Roman" panose="02020603050405020304" pitchFamily="18" charset="0"/>
                <a:cs typeface="Times New Roman" panose="02020603050405020304" pitchFamily="18" charset="0"/>
              </a:rPr>
              <a:t>Improve occupational, household and interpersonal functioning.</a:t>
            </a:r>
          </a:p>
          <a:p>
            <a:pPr marL="0" indent="0" algn="just">
              <a:lnSpc>
                <a:spcPct val="100000"/>
              </a:lnSpc>
              <a:spcAft>
                <a:spcPts val="400"/>
              </a:spcAft>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6023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06137-14B2-E45E-9292-A1B5427A9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19545-BCA6-868F-8DA5-F24191A68118}"/>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9-11)</a:t>
            </a:r>
            <a:endParaRPr lang="en-IN" sz="3600" dirty="0"/>
          </a:p>
        </p:txBody>
      </p:sp>
      <p:sp>
        <p:nvSpPr>
          <p:cNvPr id="3" name="Content Placeholder 2">
            <a:extLst>
              <a:ext uri="{FF2B5EF4-FFF2-40B4-BE49-F238E27FC236}">
                <a16:creationId xmlns:a16="http://schemas.microsoft.com/office/drawing/2014/main" id="{D4367A3D-CFEE-3EC9-E190-1BB6088247BB}"/>
              </a:ext>
            </a:extLst>
          </p:cNvPr>
          <p:cNvSpPr>
            <a:spLocks noGrp="1"/>
          </p:cNvSpPr>
          <p:nvPr>
            <p:ph idx="1"/>
          </p:nvPr>
        </p:nvSpPr>
        <p:spPr>
          <a:xfrm>
            <a:off x="838200" y="1350566"/>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Proposed Interventions</a:t>
            </a:r>
          </a:p>
          <a:p>
            <a:r>
              <a:rPr lang="en-US" sz="1800" dirty="0">
                <a:latin typeface="Times New Roman" panose="02020603050405020304" pitchFamily="18" charset="0"/>
                <a:cs typeface="Times New Roman" panose="02020603050405020304" pitchFamily="18" charset="0"/>
              </a:rPr>
              <a:t>Identify triggers and patterns of rumination, particularly during the night.</a:t>
            </a:r>
          </a:p>
          <a:p>
            <a:r>
              <a:rPr lang="en-US" sz="1800" dirty="0">
                <a:latin typeface="Times New Roman" panose="02020603050405020304" pitchFamily="18" charset="0"/>
                <a:cs typeface="Times New Roman" panose="02020603050405020304" pitchFamily="18" charset="0"/>
              </a:rPr>
              <a:t>Introduce scheduled worry or thinking time to reduce repetitive thinking throughout the day.</a:t>
            </a:r>
          </a:p>
          <a:p>
            <a:r>
              <a:rPr lang="en-US" sz="1800" dirty="0" err="1">
                <a:latin typeface="Times New Roman" panose="02020603050405020304" pitchFamily="18" charset="0"/>
                <a:cs typeface="Times New Roman" panose="02020603050405020304" pitchFamily="18" charset="0"/>
              </a:rPr>
              <a:t>Practise</a:t>
            </a:r>
            <a:r>
              <a:rPr lang="en-US" sz="1800" dirty="0">
                <a:latin typeface="Times New Roman" panose="02020603050405020304" pitchFamily="18" charset="0"/>
                <a:cs typeface="Times New Roman" panose="02020603050405020304" pitchFamily="18" charset="0"/>
              </a:rPr>
              <a:t> attention shifting, grounding and engagement in present activities.</a:t>
            </a:r>
          </a:p>
          <a:p>
            <a:r>
              <a:rPr lang="en-US" sz="1800" dirty="0">
                <a:latin typeface="Times New Roman" panose="02020603050405020304" pitchFamily="18" charset="0"/>
                <a:cs typeface="Times New Roman" panose="02020603050405020304" pitchFamily="18" charset="0"/>
              </a:rPr>
              <a:t>Use structured problem-solving for household, work and routine difficulties.</a:t>
            </a:r>
          </a:p>
          <a:p>
            <a:r>
              <a:rPr lang="en-US" sz="1800" dirty="0">
                <a:latin typeface="Times New Roman" panose="02020603050405020304" pitchFamily="18" charset="0"/>
                <a:cs typeface="Times New Roman" panose="02020603050405020304" pitchFamily="18" charset="0"/>
              </a:rPr>
              <a:t>Break large tasks into smaller, achievable steps.</a:t>
            </a:r>
          </a:p>
          <a:p>
            <a:r>
              <a:rPr lang="en-US" sz="1800" dirty="0">
                <a:latin typeface="Times New Roman" panose="02020603050405020304" pitchFamily="18" charset="0"/>
                <a:cs typeface="Times New Roman" panose="02020603050405020304" pitchFamily="18" charset="0"/>
              </a:rPr>
              <a:t>Identify links between poor sleep, tiredness and irritability.</a:t>
            </a:r>
          </a:p>
          <a:p>
            <a:r>
              <a:rPr lang="en-US" sz="1800" dirty="0">
                <a:latin typeface="Times New Roman" panose="02020603050405020304" pitchFamily="18" charset="0"/>
                <a:cs typeface="Times New Roman" panose="02020603050405020304" pitchFamily="18" charset="0"/>
              </a:rPr>
              <a:t>Develop communication strategies for expressing needs without shouting, arguing or withdrawing.</a:t>
            </a:r>
          </a:p>
          <a:p>
            <a:r>
              <a:rPr lang="en-US" sz="1800" dirty="0">
                <a:latin typeface="Times New Roman" panose="02020603050405020304" pitchFamily="18" charset="0"/>
                <a:cs typeface="Times New Roman" panose="02020603050405020304" pitchFamily="18" charset="0"/>
              </a:rPr>
              <a:t>Continue cognitive restructuring of self-critical and hopeless thoughts.</a:t>
            </a:r>
          </a:p>
          <a:p>
            <a:pPr marL="0" indent="0" algn="just">
              <a:lnSpc>
                <a:spcPct val="100000"/>
              </a:lnSpc>
              <a:spcAft>
                <a:spcPts val="400"/>
              </a:spcAft>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54162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28119-D4DF-9CDA-F02F-3C4AE20AB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5B57B-75BE-D51C-03CD-9C9871507BA4}"/>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9-11)</a:t>
            </a:r>
            <a:endParaRPr lang="en-IN" sz="3600" dirty="0"/>
          </a:p>
        </p:txBody>
      </p:sp>
      <p:sp>
        <p:nvSpPr>
          <p:cNvPr id="3" name="Content Placeholder 2">
            <a:extLst>
              <a:ext uri="{FF2B5EF4-FFF2-40B4-BE49-F238E27FC236}">
                <a16:creationId xmlns:a16="http://schemas.microsoft.com/office/drawing/2014/main" id="{851E4C67-F117-2B49-4A3E-5829E2444DAC}"/>
              </a:ext>
            </a:extLst>
          </p:cNvPr>
          <p:cNvSpPr>
            <a:spLocks noGrp="1"/>
          </p:cNvSpPr>
          <p:nvPr>
            <p:ph idx="1"/>
          </p:nvPr>
        </p:nvSpPr>
        <p:spPr>
          <a:xfrm>
            <a:off x="838200" y="1761113"/>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Homework</a:t>
            </a:r>
          </a:p>
          <a:p>
            <a:r>
              <a:rPr lang="en-US" sz="1800" dirty="0">
                <a:latin typeface="Times New Roman" panose="02020603050405020304" pitchFamily="18" charset="0"/>
                <a:cs typeface="Times New Roman" panose="02020603050405020304" pitchFamily="18" charset="0"/>
              </a:rPr>
              <a:t>Practice scheduled thinking time or attention-shifting strategies.</a:t>
            </a:r>
          </a:p>
          <a:p>
            <a:r>
              <a:rPr lang="en-US" sz="1800" dirty="0">
                <a:latin typeface="Times New Roman" panose="02020603050405020304" pitchFamily="18" charset="0"/>
                <a:cs typeface="Times New Roman" panose="02020603050405020304" pitchFamily="18" charset="0"/>
              </a:rPr>
              <a:t>Apply the problem-solving steps to one current difficulty.</a:t>
            </a:r>
          </a:p>
          <a:p>
            <a:r>
              <a:rPr lang="en-US" sz="1800" dirty="0">
                <a:latin typeface="Times New Roman" panose="02020603050405020304" pitchFamily="18" charset="0"/>
                <a:cs typeface="Times New Roman" panose="02020603050405020304" pitchFamily="18" charset="0"/>
              </a:rPr>
              <a:t>Continue planned activities and sleep monitoring</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8585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79FD-9E96-AB0C-D1BD-2BB3382F2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581FD-2352-0AFE-C1B4-34CC2388FD3E}"/>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12-14)</a:t>
            </a:r>
            <a:endParaRPr lang="en-IN" sz="3600" dirty="0"/>
          </a:p>
        </p:txBody>
      </p:sp>
      <p:sp>
        <p:nvSpPr>
          <p:cNvPr id="3" name="Content Placeholder 2">
            <a:extLst>
              <a:ext uri="{FF2B5EF4-FFF2-40B4-BE49-F238E27FC236}">
                <a16:creationId xmlns:a16="http://schemas.microsoft.com/office/drawing/2014/main" id="{5DC01141-560C-5706-DC42-8B50E58244A2}"/>
              </a:ext>
            </a:extLst>
          </p:cNvPr>
          <p:cNvSpPr>
            <a:spLocks noGrp="1"/>
          </p:cNvSpPr>
          <p:nvPr>
            <p:ph idx="1"/>
          </p:nvPr>
        </p:nvSpPr>
        <p:spPr>
          <a:xfrm>
            <a:off x="838200" y="1761113"/>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Sessions 12–14 — Consolidation and Preparation for Relapse Prevention</a:t>
            </a:r>
          </a:p>
          <a:p>
            <a:pPr marL="0" indent="0">
              <a:buNone/>
            </a:pPr>
            <a:r>
              <a:rPr lang="en-US" sz="1800" b="1" dirty="0">
                <a:latin typeface="Times New Roman" panose="02020603050405020304" pitchFamily="18" charset="0"/>
                <a:cs typeface="Times New Roman" panose="02020603050405020304" pitchFamily="18" charset="0"/>
              </a:rPr>
              <a:t>Proposed Future Sessions</a:t>
            </a:r>
          </a:p>
          <a:p>
            <a:pPr marL="0" indent="0">
              <a:buNone/>
            </a:pPr>
            <a:r>
              <a:rPr lang="en-US" sz="1800" b="1" dirty="0">
                <a:latin typeface="Times New Roman" panose="02020603050405020304" pitchFamily="18" charset="0"/>
                <a:cs typeface="Times New Roman" panose="02020603050405020304" pitchFamily="18" charset="0"/>
              </a:rPr>
              <a:t>Focus</a:t>
            </a:r>
          </a:p>
          <a:p>
            <a:r>
              <a:rPr lang="en-US" sz="1800" dirty="0">
                <a:latin typeface="Times New Roman" panose="02020603050405020304" pitchFamily="18" charset="0"/>
                <a:cs typeface="Times New Roman" panose="02020603050405020304" pitchFamily="18" charset="0"/>
              </a:rPr>
              <a:t>Consolidate </a:t>
            </a:r>
            <a:r>
              <a:rPr lang="en-US" sz="1800" dirty="0" err="1">
                <a:latin typeface="Times New Roman" panose="02020603050405020304" pitchFamily="18" charset="0"/>
                <a:cs typeface="Times New Roman" panose="02020603050405020304" pitchFamily="18" charset="0"/>
              </a:rPr>
              <a:t>behavioural</a:t>
            </a:r>
            <a:r>
              <a:rPr lang="en-US" sz="1800" dirty="0">
                <a:latin typeface="Times New Roman" panose="02020603050405020304" pitchFamily="18" charset="0"/>
                <a:cs typeface="Times New Roman" panose="02020603050405020304" pitchFamily="18" charset="0"/>
              </a:rPr>
              <a:t> activation and cognitive restructuring.</a:t>
            </a:r>
          </a:p>
          <a:p>
            <a:r>
              <a:rPr lang="en-US" sz="1800" dirty="0">
                <a:latin typeface="Times New Roman" panose="02020603050405020304" pitchFamily="18" charset="0"/>
                <a:cs typeface="Times New Roman" panose="02020603050405020304" pitchFamily="18" charset="0"/>
              </a:rPr>
              <a:t>Strengthen independent coping.</a:t>
            </a:r>
          </a:p>
          <a:p>
            <a:r>
              <a:rPr lang="en-US" sz="1800" dirty="0">
                <a:latin typeface="Times New Roman" panose="02020603050405020304" pitchFamily="18" charset="0"/>
                <a:cs typeface="Times New Roman" panose="02020603050405020304" pitchFamily="18" charset="0"/>
              </a:rPr>
              <a:t>Review progress and remaining difficulties.</a:t>
            </a:r>
          </a:p>
          <a:p>
            <a:r>
              <a:rPr lang="en-US" sz="1800" dirty="0">
                <a:latin typeface="Times New Roman" panose="02020603050405020304" pitchFamily="18" charset="0"/>
                <a:cs typeface="Times New Roman" panose="02020603050405020304" pitchFamily="18" charset="0"/>
              </a:rPr>
              <a:t>Prepare for future stressors and mood fluctuations.</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38468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BF48B-4462-2EE5-1F2D-3AC892AB2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6CC19-8C3D-D6C4-CA7E-3C9F52FBBF4B}"/>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Middle Phase (Session 12-14)</a:t>
            </a:r>
            <a:endParaRPr lang="en-IN" sz="3600" dirty="0"/>
          </a:p>
        </p:txBody>
      </p:sp>
      <p:sp>
        <p:nvSpPr>
          <p:cNvPr id="3" name="Content Placeholder 2">
            <a:extLst>
              <a:ext uri="{FF2B5EF4-FFF2-40B4-BE49-F238E27FC236}">
                <a16:creationId xmlns:a16="http://schemas.microsoft.com/office/drawing/2014/main" id="{9E7C60DB-DC13-B4FC-5137-CB7FA4F008F5}"/>
              </a:ext>
            </a:extLst>
          </p:cNvPr>
          <p:cNvSpPr>
            <a:spLocks noGrp="1"/>
          </p:cNvSpPr>
          <p:nvPr>
            <p:ph idx="1"/>
          </p:nvPr>
        </p:nvSpPr>
        <p:spPr>
          <a:xfrm>
            <a:off x="838200" y="1761113"/>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Proposed Interventions</a:t>
            </a:r>
          </a:p>
          <a:p>
            <a:r>
              <a:rPr lang="en-US" sz="1600" dirty="0">
                <a:latin typeface="Times New Roman" panose="02020603050405020304" pitchFamily="18" charset="0"/>
                <a:cs typeface="Times New Roman" panose="02020603050405020304" pitchFamily="18" charset="0"/>
              </a:rPr>
              <a:t>Review the patient’s progress in mood, sleep, motivation, activity and functioning.</a:t>
            </a:r>
          </a:p>
          <a:p>
            <a:r>
              <a:rPr lang="en-US" sz="1600" dirty="0">
                <a:latin typeface="Times New Roman" panose="02020603050405020304" pitchFamily="18" charset="0"/>
                <a:cs typeface="Times New Roman" panose="02020603050405020304" pitchFamily="18" charset="0"/>
              </a:rPr>
              <a:t>Identify the most helpful CBT strategies.</a:t>
            </a:r>
          </a:p>
          <a:p>
            <a:r>
              <a:rPr lang="en-US" sz="1600" dirty="0" err="1">
                <a:latin typeface="Times New Roman" panose="02020603050405020304" pitchFamily="18" charset="0"/>
                <a:cs typeface="Times New Roman" panose="02020603050405020304" pitchFamily="18" charset="0"/>
              </a:rPr>
              <a:t>Practise</a:t>
            </a:r>
            <a:r>
              <a:rPr lang="en-US" sz="1600" dirty="0">
                <a:latin typeface="Times New Roman" panose="02020603050405020304" pitchFamily="18" charset="0"/>
                <a:cs typeface="Times New Roman" panose="02020603050405020304" pitchFamily="18" charset="0"/>
              </a:rPr>
              <a:t> using the CBT model independently.</a:t>
            </a:r>
          </a:p>
          <a:p>
            <a:r>
              <a:rPr lang="en-US" sz="1600" dirty="0">
                <a:latin typeface="Times New Roman" panose="02020603050405020304" pitchFamily="18" charset="0"/>
                <a:cs typeface="Times New Roman" panose="02020603050405020304" pitchFamily="18" charset="0"/>
              </a:rPr>
              <a:t>Develop coping cards or written reminders for common negative thoughts.</a:t>
            </a:r>
          </a:p>
          <a:p>
            <a:r>
              <a:rPr lang="en-US" sz="1600" dirty="0">
                <a:latin typeface="Times New Roman" panose="02020603050405020304" pitchFamily="18" charset="0"/>
                <a:cs typeface="Times New Roman" panose="02020603050405020304" pitchFamily="18" charset="0"/>
              </a:rPr>
              <a:t>Identify early warning signs such as:</a:t>
            </a:r>
          </a:p>
          <a:p>
            <a:pPr lvl="1"/>
            <a:r>
              <a:rPr lang="en-US" sz="1600" dirty="0">
                <a:latin typeface="Times New Roman" panose="02020603050405020304" pitchFamily="18" charset="0"/>
                <a:cs typeface="Times New Roman" panose="02020603050405020304" pitchFamily="18" charset="0"/>
              </a:rPr>
              <a:t>Increased crying</a:t>
            </a:r>
          </a:p>
          <a:p>
            <a:pPr lvl="1"/>
            <a:r>
              <a:rPr lang="en-US" sz="1600" dirty="0">
                <a:latin typeface="Times New Roman" panose="02020603050405020304" pitchFamily="18" charset="0"/>
                <a:cs typeface="Times New Roman" panose="02020603050405020304" pitchFamily="18" charset="0"/>
              </a:rPr>
              <a:t>Reduced activity</a:t>
            </a:r>
          </a:p>
          <a:p>
            <a:pPr lvl="1"/>
            <a:r>
              <a:rPr lang="en-US" sz="1600" dirty="0">
                <a:latin typeface="Times New Roman" panose="02020603050405020304" pitchFamily="18" charset="0"/>
                <a:cs typeface="Times New Roman" panose="02020603050405020304" pitchFamily="18" charset="0"/>
              </a:rPr>
              <a:t>Sleep disturbance</a:t>
            </a:r>
          </a:p>
          <a:p>
            <a:pPr lvl="1"/>
            <a:r>
              <a:rPr lang="en-US" sz="1600" dirty="0">
                <a:latin typeface="Times New Roman" panose="02020603050405020304" pitchFamily="18" charset="0"/>
                <a:cs typeface="Times New Roman" panose="02020603050405020304" pitchFamily="18" charset="0"/>
              </a:rPr>
              <a:t>Increased irritability</a:t>
            </a:r>
          </a:p>
          <a:p>
            <a:pPr lvl="1"/>
            <a:r>
              <a:rPr lang="en-US" sz="1600" dirty="0">
                <a:latin typeface="Times New Roman" panose="02020603050405020304" pitchFamily="18" charset="0"/>
                <a:cs typeface="Times New Roman" panose="02020603050405020304" pitchFamily="18" charset="0"/>
              </a:rPr>
              <a:t>Excessive overthinking</a:t>
            </a:r>
          </a:p>
          <a:p>
            <a:pPr lvl="1"/>
            <a:r>
              <a:rPr lang="en-US" sz="1600" dirty="0">
                <a:latin typeface="Times New Roman" panose="02020603050405020304" pitchFamily="18" charset="0"/>
                <a:cs typeface="Times New Roman" panose="02020603050405020304" pitchFamily="18" charset="0"/>
              </a:rPr>
              <a:t>Loss of interest</a:t>
            </a:r>
          </a:p>
          <a:p>
            <a:pPr lvl="1"/>
            <a:r>
              <a:rPr lang="en-US" sz="1600" dirty="0">
                <a:latin typeface="Times New Roman" panose="02020603050405020304" pitchFamily="18" charset="0"/>
                <a:cs typeface="Times New Roman" panose="02020603050405020304" pitchFamily="18" charset="0"/>
              </a:rPr>
              <a:t>Reduced motivation</a:t>
            </a:r>
          </a:p>
          <a:p>
            <a:r>
              <a:rPr lang="en-US" sz="1600" dirty="0">
                <a:latin typeface="Times New Roman" panose="02020603050405020304" pitchFamily="18" charset="0"/>
                <a:cs typeface="Times New Roman" panose="02020603050405020304" pitchFamily="18" charset="0"/>
              </a:rPr>
              <a:t>Prepare alternative responses for each warning sign.</a:t>
            </a:r>
          </a:p>
          <a:p>
            <a:r>
              <a:rPr lang="en-US" sz="1600" dirty="0">
                <a:latin typeface="Times New Roman" panose="02020603050405020304" pitchFamily="18" charset="0"/>
                <a:cs typeface="Times New Roman" panose="02020603050405020304" pitchFamily="18" charset="0"/>
              </a:rPr>
              <a:t>Discuss how to seek support when symptoms increase.</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04107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89266-E2A8-6205-1399-39731EFF5562}"/>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Middle Phase (Session 12-14)</a:t>
            </a:r>
            <a:endParaRPr lang="en-IN" dirty="0"/>
          </a:p>
        </p:txBody>
      </p:sp>
      <p:sp>
        <p:nvSpPr>
          <p:cNvPr id="3" name="Content Placeholder 2">
            <a:extLst>
              <a:ext uri="{FF2B5EF4-FFF2-40B4-BE49-F238E27FC236}">
                <a16:creationId xmlns:a16="http://schemas.microsoft.com/office/drawing/2014/main" id="{DAE340E7-BC59-61CC-D54F-728CA5063E30}"/>
              </a:ext>
            </a:extLst>
          </p:cNvPr>
          <p:cNvSpPr>
            <a:spLocks noGrp="1"/>
          </p:cNvSpPr>
          <p:nvPr>
            <p:ph idx="1"/>
          </p:nvPr>
        </p:nvSpPr>
        <p:spPr/>
        <p:txBody>
          <a:bodyPr/>
          <a:lstStyle/>
          <a:p>
            <a:pPr marL="0" indent="0">
              <a:buNone/>
            </a:pPr>
            <a:r>
              <a:rPr lang="en-US" sz="1800" b="1" dirty="0">
                <a:latin typeface="Times New Roman" panose="02020603050405020304" pitchFamily="18" charset="0"/>
                <a:cs typeface="Times New Roman" panose="02020603050405020304" pitchFamily="18" charset="0"/>
              </a:rPr>
              <a:t>Homework</a:t>
            </a:r>
          </a:p>
          <a:p>
            <a:r>
              <a:rPr lang="en-US" sz="1800" dirty="0">
                <a:latin typeface="Times New Roman" panose="02020603050405020304" pitchFamily="18" charset="0"/>
                <a:cs typeface="Times New Roman" panose="02020603050405020304" pitchFamily="18" charset="0"/>
              </a:rPr>
              <a:t>Prepare a personal list of helpful coping strategies.</a:t>
            </a:r>
          </a:p>
          <a:p>
            <a:r>
              <a:rPr lang="en-US" sz="1800" dirty="0">
                <a:latin typeface="Times New Roman" panose="02020603050405020304" pitchFamily="18" charset="0"/>
                <a:cs typeface="Times New Roman" panose="02020603050405020304" pitchFamily="18" charset="0"/>
              </a:rPr>
              <a:t>Practice responding to early warning signs using the CBT model.</a:t>
            </a:r>
          </a:p>
          <a:p>
            <a:r>
              <a:rPr lang="en-US" sz="1800" dirty="0">
                <a:latin typeface="Times New Roman" panose="02020603050405020304" pitchFamily="18" charset="0"/>
                <a:cs typeface="Times New Roman" panose="02020603050405020304" pitchFamily="18" charset="0"/>
              </a:rPr>
              <a:t>Continue meaningful activities despite fluctuations in mood.</a:t>
            </a:r>
          </a:p>
          <a:p>
            <a:pPr marL="0" indent="0">
              <a:buNone/>
            </a:pPr>
            <a:endParaRPr lang="en-IN" dirty="0"/>
          </a:p>
        </p:txBody>
      </p:sp>
    </p:spTree>
    <p:extLst>
      <p:ext uri="{BB962C8B-B14F-4D97-AF65-F5344CB8AC3E}">
        <p14:creationId xmlns:p14="http://schemas.microsoft.com/office/powerpoint/2010/main" val="399205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E18C2-2321-3A0D-BF76-92D690F53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D92D4-4B3F-EBCA-94FE-7CD1E8B077A7}"/>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Termination Phase (Session 15-16)</a:t>
            </a:r>
            <a:endParaRPr lang="en-IN" sz="3600" dirty="0"/>
          </a:p>
        </p:txBody>
      </p:sp>
      <p:sp>
        <p:nvSpPr>
          <p:cNvPr id="3" name="Content Placeholder 2">
            <a:extLst>
              <a:ext uri="{FF2B5EF4-FFF2-40B4-BE49-F238E27FC236}">
                <a16:creationId xmlns:a16="http://schemas.microsoft.com/office/drawing/2014/main" id="{E0D5EDC4-E5CA-1C0A-FAE0-7C66E3E229F9}"/>
              </a:ext>
            </a:extLst>
          </p:cNvPr>
          <p:cNvSpPr>
            <a:spLocks noGrp="1"/>
          </p:cNvSpPr>
          <p:nvPr>
            <p:ph idx="1"/>
          </p:nvPr>
        </p:nvSpPr>
        <p:spPr>
          <a:xfrm>
            <a:off x="838200" y="1761113"/>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Sessions 15–16 — Relapse Prevention and Termination</a:t>
            </a:r>
          </a:p>
          <a:p>
            <a:pPr marL="0" indent="0">
              <a:buNone/>
            </a:pPr>
            <a:r>
              <a:rPr lang="en-US" sz="1800" b="1" dirty="0">
                <a:latin typeface="Times New Roman" panose="02020603050405020304" pitchFamily="18" charset="0"/>
                <a:cs typeface="Times New Roman" panose="02020603050405020304" pitchFamily="18" charset="0"/>
              </a:rPr>
              <a:t>Proposed Future Sessions</a:t>
            </a:r>
          </a:p>
          <a:p>
            <a:pPr marL="0" indent="0">
              <a:buNone/>
            </a:pPr>
            <a:r>
              <a:rPr lang="en-US" sz="1800" b="1" dirty="0">
                <a:latin typeface="Times New Roman" panose="02020603050405020304" pitchFamily="18" charset="0"/>
                <a:cs typeface="Times New Roman" panose="02020603050405020304" pitchFamily="18" charset="0"/>
              </a:rPr>
              <a:t>Focus</a:t>
            </a:r>
          </a:p>
          <a:p>
            <a:r>
              <a:rPr lang="en-US" sz="1800" dirty="0">
                <a:latin typeface="Times New Roman" panose="02020603050405020304" pitchFamily="18" charset="0"/>
                <a:cs typeface="Times New Roman" panose="02020603050405020304" pitchFamily="18" charset="0"/>
              </a:rPr>
              <a:t>Review and consolidate treatment gains.</a:t>
            </a:r>
          </a:p>
          <a:p>
            <a:r>
              <a:rPr lang="en-US" sz="1800" dirty="0">
                <a:latin typeface="Times New Roman" panose="02020603050405020304" pitchFamily="18" charset="0"/>
                <a:cs typeface="Times New Roman" panose="02020603050405020304" pitchFamily="18" charset="0"/>
              </a:rPr>
              <a:t>Develop a relapse-prevention plan.</a:t>
            </a:r>
          </a:p>
          <a:p>
            <a:r>
              <a:rPr lang="en-US" sz="1800" dirty="0">
                <a:latin typeface="Times New Roman" panose="02020603050405020304" pitchFamily="18" charset="0"/>
                <a:cs typeface="Times New Roman" panose="02020603050405020304" pitchFamily="18" charset="0"/>
              </a:rPr>
              <a:t>Support independent use of CBT skills.</a:t>
            </a:r>
          </a:p>
          <a:p>
            <a:r>
              <a:rPr lang="en-US" sz="1800" dirty="0">
                <a:latin typeface="Times New Roman" panose="02020603050405020304" pitchFamily="18" charset="0"/>
                <a:cs typeface="Times New Roman" panose="02020603050405020304" pitchFamily="18" charset="0"/>
              </a:rPr>
              <a:t>Prepare for the end of regular therapy.</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6465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7E5F6-0A23-C50F-49EA-1629E6F4539E}"/>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Termination Phase (Session 15-16)</a:t>
            </a:r>
            <a:endParaRPr lang="en-IN" dirty="0"/>
          </a:p>
        </p:txBody>
      </p:sp>
      <p:sp>
        <p:nvSpPr>
          <p:cNvPr id="3" name="Content Placeholder 2">
            <a:extLst>
              <a:ext uri="{FF2B5EF4-FFF2-40B4-BE49-F238E27FC236}">
                <a16:creationId xmlns:a16="http://schemas.microsoft.com/office/drawing/2014/main" id="{1B253F1D-4445-57BA-DEE8-EF04192656CE}"/>
              </a:ext>
            </a:extLst>
          </p:cNvPr>
          <p:cNvSpPr>
            <a:spLocks noGrp="1"/>
          </p:cNvSpPr>
          <p:nvPr>
            <p:ph idx="1"/>
          </p:nvPr>
        </p:nvSpPr>
        <p:spPr/>
        <p:txBody>
          <a:bodyPr>
            <a:normAutofit lnSpcReduction="10000"/>
          </a:bodyPr>
          <a:lstStyle/>
          <a:p>
            <a:pPr marL="0" indent="0">
              <a:buNone/>
            </a:pPr>
            <a:r>
              <a:rPr lang="en-US" sz="1800" b="1" dirty="0">
                <a:latin typeface="Times New Roman" panose="02020603050405020304" pitchFamily="18" charset="0"/>
                <a:cs typeface="Times New Roman" panose="02020603050405020304" pitchFamily="18" charset="0"/>
              </a:rPr>
              <a:t>Proposed Interventions</a:t>
            </a:r>
          </a:p>
          <a:p>
            <a:r>
              <a:rPr lang="en-US" sz="2100" dirty="0">
                <a:latin typeface="Times New Roman" panose="02020603050405020304" pitchFamily="18" charset="0"/>
                <a:cs typeface="Times New Roman" panose="02020603050405020304" pitchFamily="18" charset="0"/>
              </a:rPr>
              <a:t>Review the original therapy goals and changes achieved.</a:t>
            </a:r>
          </a:p>
          <a:p>
            <a:r>
              <a:rPr lang="en-US" sz="2100" dirty="0">
                <a:latin typeface="Times New Roman" panose="02020603050405020304" pitchFamily="18" charset="0"/>
                <a:cs typeface="Times New Roman" panose="02020603050405020304" pitchFamily="18" charset="0"/>
              </a:rPr>
              <a:t>Consolidate </a:t>
            </a:r>
            <a:r>
              <a:rPr lang="en-US" sz="2100" dirty="0" err="1">
                <a:latin typeface="Times New Roman" panose="02020603050405020304" pitchFamily="18" charset="0"/>
                <a:cs typeface="Times New Roman" panose="02020603050405020304" pitchFamily="18" charset="0"/>
              </a:rPr>
              <a:t>behavioural</a:t>
            </a:r>
            <a:r>
              <a:rPr lang="en-US" sz="2100" dirty="0">
                <a:latin typeface="Times New Roman" panose="02020603050405020304" pitchFamily="18" charset="0"/>
                <a:cs typeface="Times New Roman" panose="02020603050405020304" pitchFamily="18" charset="0"/>
              </a:rPr>
              <a:t> activation, cognitive restructuring, problem-solving and rumination-management skills.</a:t>
            </a:r>
          </a:p>
          <a:p>
            <a:r>
              <a:rPr lang="en-US" sz="2100" dirty="0">
                <a:latin typeface="Times New Roman" panose="02020603050405020304" pitchFamily="18" charset="0"/>
                <a:cs typeface="Times New Roman" panose="02020603050405020304" pitchFamily="18" charset="0"/>
              </a:rPr>
              <a:t>Develop a written relapse-prevention plan.</a:t>
            </a:r>
          </a:p>
          <a:p>
            <a:r>
              <a:rPr lang="en-US" sz="2100" dirty="0">
                <a:latin typeface="Times New Roman" panose="02020603050405020304" pitchFamily="18" charset="0"/>
                <a:cs typeface="Times New Roman" panose="02020603050405020304" pitchFamily="18" charset="0"/>
              </a:rPr>
              <a:t>Identify situations that may increase the risk of depressive symptoms returning.</a:t>
            </a:r>
          </a:p>
          <a:p>
            <a:r>
              <a:rPr lang="en-US" sz="2100" dirty="0">
                <a:latin typeface="Times New Roman" panose="02020603050405020304" pitchFamily="18" charset="0"/>
                <a:cs typeface="Times New Roman" panose="02020603050405020304" pitchFamily="18" charset="0"/>
              </a:rPr>
              <a:t>Prepare a step-by-step plan for responding to future difficulties.</a:t>
            </a:r>
          </a:p>
          <a:p>
            <a:r>
              <a:rPr lang="en-US" sz="2100" dirty="0">
                <a:latin typeface="Times New Roman" panose="02020603050405020304" pitchFamily="18" charset="0"/>
                <a:cs typeface="Times New Roman" panose="02020603050405020304" pitchFamily="18" charset="0"/>
              </a:rPr>
              <a:t>Discuss continuation of routine, pleasurable and mastery activities.</a:t>
            </a:r>
          </a:p>
          <a:p>
            <a:r>
              <a:rPr lang="en-US" sz="2100" dirty="0">
                <a:latin typeface="Times New Roman" panose="02020603050405020304" pitchFamily="18" charset="0"/>
                <a:cs typeface="Times New Roman" panose="02020603050405020304" pitchFamily="18" charset="0"/>
              </a:rPr>
              <a:t>Review when further professional help may be required.</a:t>
            </a:r>
          </a:p>
          <a:p>
            <a:r>
              <a:rPr lang="en-US" sz="2100" dirty="0">
                <a:latin typeface="Times New Roman" panose="02020603050405020304" pitchFamily="18" charset="0"/>
                <a:cs typeface="Times New Roman" panose="02020603050405020304" pitchFamily="18" charset="0"/>
              </a:rPr>
              <a:t>Gradually prepare the patient for independent management after termination.</a:t>
            </a:r>
          </a:p>
          <a:p>
            <a:r>
              <a:rPr lang="en-US" sz="2100" dirty="0">
                <a:latin typeface="Times New Roman" panose="02020603050405020304" pitchFamily="18" charset="0"/>
                <a:cs typeface="Times New Roman" panose="02020603050405020304" pitchFamily="18" charset="0"/>
              </a:rPr>
              <a:t>Conduct a final review of progress, remaining concerns and future goals.</a:t>
            </a:r>
          </a:p>
          <a:p>
            <a:endParaRPr lang="en-IN" dirty="0"/>
          </a:p>
        </p:txBody>
      </p:sp>
    </p:spTree>
    <p:extLst>
      <p:ext uri="{BB962C8B-B14F-4D97-AF65-F5344CB8AC3E}">
        <p14:creationId xmlns:p14="http://schemas.microsoft.com/office/powerpoint/2010/main" val="18895636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0115A-3028-53E3-2C79-F51533F168D7}"/>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Termination Phase (Session 15-16)</a:t>
            </a:r>
            <a:endParaRPr lang="en-IN" dirty="0"/>
          </a:p>
        </p:txBody>
      </p:sp>
      <p:sp>
        <p:nvSpPr>
          <p:cNvPr id="3" name="Content Placeholder 2">
            <a:extLst>
              <a:ext uri="{FF2B5EF4-FFF2-40B4-BE49-F238E27FC236}">
                <a16:creationId xmlns:a16="http://schemas.microsoft.com/office/drawing/2014/main" id="{85B8FEE4-4029-3BA5-EF14-01A7957B9E13}"/>
              </a:ext>
            </a:extLst>
          </p:cNvPr>
          <p:cNvSpPr>
            <a:spLocks noGrp="1"/>
          </p:cNvSpPr>
          <p:nvPr>
            <p:ph idx="1"/>
          </p:nvPr>
        </p:nvSpPr>
        <p:spPr/>
        <p:txBody>
          <a:bodyPr/>
          <a:lstStyle/>
          <a:p>
            <a:pPr marL="0" indent="0">
              <a:buNone/>
            </a:pPr>
            <a:r>
              <a:rPr lang="en-US" sz="1800" b="1" dirty="0">
                <a:latin typeface="Times New Roman" panose="02020603050405020304" pitchFamily="18" charset="0"/>
                <a:cs typeface="Times New Roman" panose="02020603050405020304" pitchFamily="18" charset="0"/>
              </a:rPr>
              <a:t>Final Homework / Maintenance Plan</a:t>
            </a:r>
          </a:p>
          <a:p>
            <a:r>
              <a:rPr lang="en-US" sz="1800" dirty="0">
                <a:latin typeface="Times New Roman" panose="02020603050405020304" pitchFamily="18" charset="0"/>
                <a:cs typeface="Times New Roman" panose="02020603050405020304" pitchFamily="18" charset="0"/>
              </a:rPr>
              <a:t>Continue regular activity scheduling.</a:t>
            </a:r>
          </a:p>
          <a:p>
            <a:r>
              <a:rPr lang="en-US" sz="1800" dirty="0">
                <a:latin typeface="Times New Roman" panose="02020603050405020304" pitchFamily="18" charset="0"/>
                <a:cs typeface="Times New Roman" panose="02020603050405020304" pitchFamily="18" charset="0"/>
              </a:rPr>
              <a:t>Use thought records when negative thinking increases.</a:t>
            </a:r>
          </a:p>
          <a:p>
            <a:r>
              <a:rPr lang="en-US" sz="1800" dirty="0">
                <a:latin typeface="Times New Roman" panose="02020603050405020304" pitchFamily="18" charset="0"/>
                <a:cs typeface="Times New Roman" panose="02020603050405020304" pitchFamily="18" charset="0"/>
              </a:rPr>
              <a:t>Maintain sleep and daily routine.</a:t>
            </a:r>
          </a:p>
          <a:p>
            <a:r>
              <a:rPr lang="en-US" sz="1800" dirty="0">
                <a:latin typeface="Times New Roman" panose="02020603050405020304" pitchFamily="18" charset="0"/>
                <a:cs typeface="Times New Roman" panose="02020603050405020304" pitchFamily="18" charset="0"/>
              </a:rPr>
              <a:t>Review the relapse-prevention plan periodically.</a:t>
            </a:r>
          </a:p>
          <a:p>
            <a:r>
              <a:rPr lang="en-US" sz="1800" dirty="0">
                <a:latin typeface="Times New Roman" panose="02020603050405020304" pitchFamily="18" charset="0"/>
                <a:cs typeface="Times New Roman" panose="02020603050405020304" pitchFamily="18" charset="0"/>
              </a:rPr>
              <a:t>Seek professional support if symptoms significantly worsen or functioning declines.</a:t>
            </a:r>
          </a:p>
          <a:p>
            <a:pPr marL="0" indent="0">
              <a:buNone/>
            </a:pPr>
            <a:br>
              <a:rPr lang="en-US" dirty="0"/>
            </a:br>
            <a:endParaRPr lang="en-IN" dirty="0"/>
          </a:p>
        </p:txBody>
      </p:sp>
    </p:spTree>
    <p:extLst>
      <p:ext uri="{BB962C8B-B14F-4D97-AF65-F5344CB8AC3E}">
        <p14:creationId xmlns:p14="http://schemas.microsoft.com/office/powerpoint/2010/main" val="27440702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8F6484-0CC0-B071-BB33-5E615D61A675}"/>
              </a:ext>
            </a:extLst>
          </p:cNvPr>
          <p:cNvSpPr>
            <a:spLocks noGrp="1"/>
          </p:cNvSpPr>
          <p:nvPr>
            <p:ph idx="1"/>
          </p:nvPr>
        </p:nvSpPr>
        <p:spPr/>
        <p:txBody>
          <a:bodyPr/>
          <a:lstStyle/>
          <a:p>
            <a:pPr marL="0" indent="0">
              <a:buNone/>
            </a:pPr>
            <a:r>
              <a:rPr lang="en-US" b="1" dirty="0"/>
              <a:t>Note for the PPT</a:t>
            </a:r>
          </a:p>
          <a:p>
            <a:pPr marL="0" indent="0">
              <a:buNone/>
            </a:pPr>
            <a:r>
              <a:rPr lang="en-US" sz="2000" dirty="0">
                <a:latin typeface="Times New Roman" panose="02020603050405020304" pitchFamily="18" charset="0"/>
                <a:cs typeface="Times New Roman" panose="02020603050405020304" pitchFamily="18" charset="0"/>
              </a:rPr>
              <a:t>The patient has completed five therapy sessions. Sessions 6–16 represent a tentative future treatment plan and may be modified according to clinical progress, ongoing assessment, risk, treatment response and emerging needs.</a:t>
            </a:r>
          </a:p>
          <a:p>
            <a:pPr marL="0" indent="0">
              <a:buNone/>
            </a:pPr>
            <a:endParaRPr lang="en-IN" dirty="0"/>
          </a:p>
        </p:txBody>
      </p:sp>
    </p:spTree>
    <p:extLst>
      <p:ext uri="{BB962C8B-B14F-4D97-AF65-F5344CB8AC3E}">
        <p14:creationId xmlns:p14="http://schemas.microsoft.com/office/powerpoint/2010/main" val="40288108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70535-7DD0-D43D-7575-3150C73A8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376AA-AF6A-B5C7-17FB-95857EDC1F98}"/>
              </a:ext>
            </a:extLst>
          </p:cNvPr>
          <p:cNvSpPr>
            <a:spLocks noGrp="1"/>
          </p:cNvSpPr>
          <p:nvPr>
            <p:ph type="title"/>
          </p:nvPr>
        </p:nvSpPr>
        <p:spPr>
          <a:xfrm>
            <a:off x="838200" y="2520497"/>
            <a:ext cx="10515600" cy="1325563"/>
          </a:xfrm>
        </p:spPr>
        <p:txBody>
          <a:bodyPr/>
          <a:lstStyle/>
          <a:p>
            <a:pPr algn="ctr"/>
            <a:r>
              <a:rPr lang="en-US" b="1" dirty="0">
                <a:latin typeface="Times New Roman" panose="02020603050405020304" pitchFamily="18" charset="0"/>
                <a:cs typeface="Times New Roman" panose="02020603050405020304" pitchFamily="18" charset="0"/>
              </a:rPr>
              <a:t>THANK YOU!</a:t>
            </a:r>
            <a:endParaRPr lang="en-IN" dirty="0"/>
          </a:p>
        </p:txBody>
      </p:sp>
    </p:spTree>
    <p:extLst>
      <p:ext uri="{BB962C8B-B14F-4D97-AF65-F5344CB8AC3E}">
        <p14:creationId xmlns:p14="http://schemas.microsoft.com/office/powerpoint/2010/main" val="3899533241"/>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5126</TotalTime>
  <Words>5075</Words>
  <Application>Microsoft Office PowerPoint</Application>
  <PresentationFormat>Widescreen</PresentationFormat>
  <Paragraphs>455</Paragraphs>
  <Slides>58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Times New Roman</vt:lpstr>
      <vt:lpstr>Office Theme</vt:lpstr>
      <vt:lpstr>Case Conference </vt:lpstr>
      <vt:lpstr>Demographic Details</vt:lpstr>
      <vt:lpstr>Demographic Details</vt:lpstr>
      <vt:lpstr>Chief Complaints </vt:lpstr>
      <vt:lpstr>HOPI</vt:lpstr>
      <vt:lpstr>HOPI</vt:lpstr>
      <vt:lpstr>History of Present Illness</vt:lpstr>
      <vt:lpstr>History of Present Illness</vt:lpstr>
      <vt:lpstr>History of Present Illness</vt:lpstr>
      <vt:lpstr>Biological Functioning </vt:lpstr>
      <vt:lpstr>Negative History</vt:lpstr>
      <vt:lpstr>Treatment History</vt:lpstr>
      <vt:lpstr>Family History</vt:lpstr>
      <vt:lpstr>Family History</vt:lpstr>
      <vt:lpstr>Personal History</vt:lpstr>
      <vt:lpstr>Personal History</vt:lpstr>
      <vt:lpstr>Personal History</vt:lpstr>
      <vt:lpstr>Premorbid Personality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TESTS ADMINISTERED</vt:lpstr>
      <vt:lpstr>TESTS ADMINISTERED</vt:lpstr>
      <vt:lpstr>Overall Interpretation</vt:lpstr>
      <vt:lpstr>DIAGNOSTIC FORMULATION</vt:lpstr>
      <vt:lpstr>PROVISIONAL DIAGNOSIS </vt:lpstr>
      <vt:lpstr>PowerPoint Presentation</vt:lpstr>
      <vt:lpstr>Rationale for Therapy </vt:lpstr>
      <vt:lpstr>Goals for Therapy </vt:lpstr>
      <vt:lpstr>Goals for Therapy </vt:lpstr>
      <vt:lpstr>Initial Phase (Session 1-5) </vt:lpstr>
      <vt:lpstr>Initial Phase (Session 1-5)</vt:lpstr>
      <vt:lpstr>Initial Phase (Session 1-5)</vt:lpstr>
      <vt:lpstr>Initial Phase (Session 1-5)</vt:lpstr>
      <vt:lpstr>Initial Phase (Session 1-5)</vt:lpstr>
      <vt:lpstr>PowerPoint Presentation</vt:lpstr>
      <vt:lpstr>Note </vt:lpstr>
      <vt:lpstr>Middle Phase (Session 6-8)</vt:lpstr>
      <vt:lpstr>Middle Phase (Session 6-8)</vt:lpstr>
      <vt:lpstr>Middle Phase (Session 6-8)</vt:lpstr>
      <vt:lpstr>Middle Phase (Session 9-11)</vt:lpstr>
      <vt:lpstr>Middle Phase (Session 9-11)</vt:lpstr>
      <vt:lpstr>Middle Phase (Session 9-11)</vt:lpstr>
      <vt:lpstr>Middle Phase (Session 12-14)</vt:lpstr>
      <vt:lpstr>Middle Phase (Session 12-14)</vt:lpstr>
      <vt:lpstr>Middle Phase (Session 12-14)</vt:lpstr>
      <vt:lpstr>Termination Phase (Session 15-16)</vt:lpstr>
      <vt:lpstr>Termination Phase (Session 15-16)</vt:lpstr>
      <vt:lpstr>Termination Phase (Session 15-16)</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ANUJA VIKAS PATANKAR</dc:creator>
  <cp:lastModifiedBy>Anukruti Rohini</cp:lastModifiedBy>
  <cp:revision>68</cp:revision>
  <dcterms:created xsi:type="dcterms:W3CDTF">2025-09-08T02:56:16Z</dcterms:created>
  <dcterms:modified xsi:type="dcterms:W3CDTF">2026-08-30T09:40:02Z</dcterms:modified>
</cp:coreProperties>
</file>