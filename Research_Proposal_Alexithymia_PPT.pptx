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slide" Target="slides/slide4.xml"/>
    <Relationship Id="rId6" Type="http://schemas.openxmlformats.org/officeDocument/2006/relationships/slide" Target="slides/slide5.xml"/>
    <Relationship Id="rId7" Type="http://schemas.openxmlformats.org/officeDocument/2006/relationships/slide" Target="slides/slide6.xml"/>
    <Relationship Id="rId8" Type="http://schemas.openxmlformats.org/officeDocument/2006/relationships/slide" Target="slides/slide7.xml"/>
    <Relationship Id="rId9" Type="http://schemas.openxmlformats.org/officeDocument/2006/relationships/slide" Target="slides/slide8.xml"/>
    <Relationship Id="rId10" Type="http://schemas.openxmlformats.org/officeDocument/2006/relationships/slide" Target="slides/slide9.xml"/>
    <Relationship Id="rId11" Type="http://schemas.openxmlformats.org/officeDocument/2006/relationships/slide" Target="slides/slide10.xml"/>
    <Relationship Id="rId12" Type="http://schemas.openxmlformats.org/officeDocument/2006/relationships/slide" Target="slides/slide11.xml"/>
    <Relationship Id="rId13" Type="http://schemas.openxmlformats.org/officeDocument/2006/relationships/slide" Target="slides/slide12.xml"/>
    <Relationship Id="rId14" Type="http://schemas.openxmlformats.org/officeDocument/2006/relationships/slide" Target="slides/slide13.xml"/>
    <Relationship Id="rId15" Type="http://schemas.openxmlformats.org/officeDocument/2006/relationships/slide" Target="slides/slide14.xml"/>
    <Relationship Id="rId16" Type="http://schemas.openxmlformats.org/officeDocument/2006/relationships/slide" Target="slides/slide15.xml"/>
    <Relationship Id="rId17" Type="http://schemas.openxmlformats.org/officeDocument/2006/relationships/slide" Target="slides/slide16.xml"/>
    <Relationship Id="rId18" Type="http://schemas.openxmlformats.org/officeDocument/2006/relationships/slide" Target="slides/slide17.xml"/>
    <Relationship Id="rId19" Type="http://schemas.openxmlformats.org/officeDocument/2006/relationships/slide" Target="slides/slide18.xml"/>
    <Relationship Id="rId20" Type="http://schemas.openxmlformats.org/officeDocument/2006/relationships/slide" Target="slides/slide19.xml"/>
    <Relationship Id="rId21" Type="http://schemas.openxmlformats.org/officeDocument/2006/relationships/slide" Target="slides/slide20.xml"/>
    <Relationship Id="rId22" Type="http://schemas.openxmlformats.org/officeDocument/2006/relationships/slide" Target="slides/slide2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360000" y="180000"/>
            <a:ext cx="11472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 lvl="0">
              <a:spcBef>
                <a:spcPts val="400"/>
              </a:spcBef>
            </a:pPr>
            <a:r>
              <a:rPr lang="en-US" b="1" sz="1400" dirty="0">
                <a:solidFill>
                  <a:srgbClr val="FFFFFF"/>
                </a:solidFill>
                <a:latin typeface="Calibri"/>
                <a:cs typeface="Calibri"/>
              </a:rPr>
              <a:t>RESEARCH PROPOSAL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440000"/>
            <a:ext cx="10752000" cy="21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 lvl="0">
              <a:spcBef>
                <a:spcPts val="400"/>
              </a:spcBef>
            </a:pPr>
            <a:r>
              <a:rPr lang="en-US" b="1" sz="2400" dirty="0">
                <a:solidFill>
                  <a:srgbClr val="1A237E"/>
                </a:solidFill>
                <a:latin typeface="Calibri"/>
                <a:cs typeface="Calibri"/>
              </a:rPr>
              <a:t>Effect of Emotion-Focused Skills Training on Alexithymia in Opioid-Dependent Individuals With and Without HIV</a:t>
            </a:r>
          </a:p>
          <a:p>
            <a:pPr algn="ctr" lvl="0">
              <a:spcBef>
                <a:spcPts val="400"/>
              </a:spcBef>
            </a:pPr>
            <a:r>
              <a:rPr lang="en-US" sz="1600" dirty="0">
                <a:solidFill>
                  <a:srgbClr val="555555"/>
                </a:solidFill>
                <a:latin typeface="Calibri"/>
                <a:cs typeface="Calibri"/>
              </a:rPr>
              <a:t>A Pilot Pretest-Posttest Study Using Psychometric and Projective Assessment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4320000"/>
            <a:ext cx="10752000" cy="21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 lvl="0"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MPhil Clinical Psychology Dissertation</a:t>
            </a:r>
          </a:p>
          <a:p>
            <a:pPr algn="ctr" lvl="0">
              <a:spcBef>
                <a:spcPts val="400"/>
              </a:spcBef>
            </a:pPr>
            <a:r>
              <a:rPr lang="en-US" sz="1200" dirty="0">
                <a:solidFill>
                  <a:srgbClr val="666666"/>
                </a:solidFill>
                <a:latin typeface="Calibri"/>
                <a:cs typeface="Calibri"/>
              </a:rPr>
              <a:t>Presented by: [Your Name]</a:t>
            </a:r>
          </a:p>
          <a:p>
            <a:pPr algn="ctr" lvl="0">
              <a:spcBef>
                <a:spcPts val="400"/>
              </a:spcBef>
            </a:pPr>
            <a:r>
              <a:rPr lang="en-US" sz="1200" dirty="0">
                <a:solidFill>
                  <a:srgbClr val="666666"/>
                </a:solidFill>
                <a:latin typeface="Calibri"/>
                <a:cs typeface="Calibri"/>
              </a:rPr>
              <a:t>Guide: [Supervisor Name]</a:t>
            </a:r>
          </a:p>
          <a:p>
            <a:pPr algn="ctr" lvl="0">
              <a:spcBef>
                <a:spcPts val="400"/>
              </a:spcBef>
            </a:pPr>
            <a:r>
              <a:rPr lang="en-US" sz="1200" dirty="0">
                <a:solidFill>
                  <a:srgbClr val="666666"/>
                </a:solidFill>
                <a:latin typeface="Calibri"/>
                <a:cs typeface="Calibri"/>
              </a:rPr>
              <a:t>[Institution Name]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INTRODUCTION &amp; BACKGROUND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Opioid dependence: Major SUD globally; rising prevalence in India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22-28% of PWID in India are HIV-positive (NACO, 2022)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Dual burden: Opioid dependence + HIV = compounded psychological vulnerability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Alexithymia: Inability to identify, describe &amp; communicate emotions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Prevalence: 40-67% in opioid-dependent vs. 8-10% in general population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HIV neuropathology may independently worsen emotional processing deficits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Gap: No study combines alexithymia + intervention + HIV stratification + projective assessment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ALEXITHYMIA: THE VARIABLE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Greek: a (lack) + lexis (word) + thymos (emotion) = 'No words for feelings'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Introduced by Sifneos (1973)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Three core dimensions: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1. Difficulty Identifying Feelings (DIF)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2. Difficulty Describing Feelings (DDF)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3. Externally Oriented Thinking (EOT)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Gold standard measure: TAS-20 (25+ years of validation, 20+ languages)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Cut-offs: &lt;=51 non-alexithymic | 52-60 possible | &gt;=61 alexithymic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Linked to: Substance use, HIV outcomes, medication non-adherence, relapse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RESEARCH GAP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No comparative study of alexithymia: HIV+ vs HIV- opioid-dependent individuals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No intervention targeting alexithymia in opioid-HIV comorbidity population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Over-reliance on self-report (TAS-20 alone); projective methods never used here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No Indian study on alexithymia as intervention target in de-addiction settings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Inpatient de-addiction context (1-month stay) never utilised for EFST delivery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No pilot/feasibility data for emotion-focused intervention in this population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AIM &amp; OBJECTIVES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AIM: Evaluate effectiveness of EFST in reducing alexithymia in opioid-dependent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    inpatients; examine if HIV status moderates treatment response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OBJECTIVES: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1. Compare baseline alexithymia between HIV+ and HIV- groups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2. Evaluate pre-post change in alexithymia after 8-session EFST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3. Examine HIV status as moderator of intervention effectiveness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4. Assess alexithymia via projective methods (Rorschach, TAT)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5. Explore relationship: alexithymia, emotion regulation, depression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6. Establish pilot feasibility data (retention, attendance, feedback)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HYPOTHESES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H1: HIV+ group will have significantly higher baseline alexithymia than HIV- group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H2: Both groups will show significant TAS-20 reduction post-intervention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H3: Magnitude of change will differ between HIV+ and HIV- (interaction effect)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H4: TAS-20 will correlate significantly with Rorschach affect variables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H5: Higher alexithymia will associate with greater emotion dysregulation (DERS)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H6: Projective indicators will show significant pre-post improvement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40000" y="1007999"/>
            <a:ext cx="5376000" cy="3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1400" dirty="0">
                <a:solidFill>
                  <a:srgbClr val="1A237E"/>
                </a:solidFill>
                <a:latin typeface="Calibri"/>
                <a:cs typeface="Calibri"/>
              </a:rPr>
              <a:t>Independent Variables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368000"/>
            <a:ext cx="5376000" cy="505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HIV Status (Between-subjects): HIV+ vs HIV-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Time (Within-subjects): Pre-test vs Post-test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276000" y="1007999"/>
            <a:ext cx="5376000" cy="3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1400" dirty="0">
                <a:solidFill>
                  <a:srgbClr val="1A237E"/>
                </a:solidFill>
                <a:latin typeface="Calibri"/>
                <a:cs typeface="Calibri"/>
              </a:rPr>
              <a:t>Dependent Variables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56000" y="1368000"/>
            <a:ext cx="5376000" cy="505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Alexithymia (TAS-20 total + 3 subscales)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Rorschach Affect Variables (Afr, FC:CF+C, WSumC, Blends, Lambda)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TAT Emotional Narrative (SCORS-G Affect dimension)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Emotion Regulation (DERS total + subscales)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RESEARCH DESIGN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Design: Pilot Pretest-Posttest with between-group comparison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Type: Quasi-experimental, mixed design (within x between)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Nature: Quantitative, applied, interventional pilot study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Population: Male opioid-dependent inpatients in de-addiction facility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Sample: N = 60 (n=30 HIV+, n=30 HIV-)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Setting: Inpatient de-addiction ward (1-month rehabilitation programme)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Sampling: Purposive, consecutive enrollment post-detoxification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Duration: 4 weeks per participant (Week 1: Pre-test, Weeks 2-3: Intervention, Week 4: Post-test)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INCLUSION &amp; EXCLUSION CRITERIA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40000" y="1007999"/>
            <a:ext cx="5376000" cy="3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1400" dirty="0">
                <a:solidFill>
                  <a:srgbClr val="1A237E"/>
                </a:solidFill>
                <a:latin typeface="Calibri"/>
                <a:cs typeface="Calibri"/>
              </a:rPr>
              <a:t>Inclusion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368000"/>
            <a:ext cx="5376000" cy="505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Opioid Dependence (ICD-11/DSM-5)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Male, Age 18-50 years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Inpatient for minimum 1 month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Detoxification completed (&gt;7 days)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HIV status documented (ELISA)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Literate; Informed consent given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276000" y="1007999"/>
            <a:ext cx="5376000" cy="3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1400" dirty="0">
                <a:solidFill>
                  <a:srgbClr val="1A237E"/>
                </a:solidFill>
                <a:latin typeface="Calibri"/>
                <a:cs typeface="Calibri"/>
              </a:rPr>
              <a:t>Exclusion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56000" y="1368000"/>
            <a:ext cx="5376000" cy="505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Comorbid psychotic disorders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Intellectual disability (IQ &lt; 70)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Neurological disorders / TBI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HIV-associated dementia (HAD 3-4)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Primary non-opioid dependence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Prior emotion regulation training (&lt;6 months)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ASSESSMENT TOOLS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PRIMARY: Toronto Alexithymia Scale-20 (TAS-20) - alpha=.81-.86, Hindi available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PROJECTIVE: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Rorschach Inkblot Test (Exner CS/R-PAS) - Afr, FC:CF+C, WSumC, Blends, Lambda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TAT (SCORS-G Affective Quality dimension) - Cards 1,2,3BM,4,6BM,13MF,14,16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SECONDARY: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DERS (Difficulties in Emotion Regulation Scale) - alpha=.93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BDI-II (Beck Depression Inventory) - depression control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SDS (Severity of Dependence Scale) - addiction severity control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Sociodemographic &amp; Clinical Data Sheet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INTERVENTION: Emotion-Focused Skills Training (EFST)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Format: 8 sessions | 2x/week | 4 weeks | 60 min | Individual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Session 1: Psychoeducation - What are Emotions?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Session 2: Body-Emotion Connection (interoceptive awareness)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Session 3: Emotion Vocabulary Building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Session 4: Identifying Feelings in Daily Life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Session 5: Describing Feelings to Others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Session 6: Understanding Others' Emotions (empathy)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Session 7: Emotions and the Addiction Cycle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Session 8: Integration &amp; Maintenance Planning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PROCEDURE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Phase 1 (Days 7-10): Screening, enrollment, consent, HIV status confirmation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Phase 2 (Days 8-12): Pre-Test - TAS-20, DERS, BDI-II, SDS, Rorschach, TAT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Phase 3 (Weeks 2-3): Deliver 8 EFST sessions to both groups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Phase 4 (Days 25-28): Post-Test - Re-administer full battery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Phase 5: Scoring, inter-rater reliability, statistical analysis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Both HIV+ and HIV- groups receive SAME intervention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Standard de-addiction treatment continues for all participants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STATISTICAL ANALYSIS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Descriptive Statistics: Mean, SD, frequencies for demographics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Independent t-test: Compare baseline TAS-20 between groups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2x2 Mixed ANOVA (PRIMARY): Group (HIV+/HIV-) x Time (Pre/Post)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- Main effects: Group, Time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- Interaction: Group x Time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ANCOVA: Controlling for BDI-II, SDS if baseline differences exist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Paired t-test: Within-group pre-post change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Cohen's d: Effect sizes for clinical significance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Pearson correlation: TAS-20 with Rorschach/TAT variables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Software: SPSS v.26 / JASP | alpha = .05 (two-tailed)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THEORETICAL FRAMEWORK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1. Khantzian's Self-Medication Hypothesis (1985, 1997)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- Addiction = self-regulation disorder; opioids regulate undifferentiated affect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- Reducing alexithymia should reduce need for chemical regulation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2. Lane &amp; Schwartz Levels of Emotional Awareness (1987)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- 5 hierarchical levels: body sensations to complex differentiated emotions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- EFST targets progressive movement through these levels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3. HIV-Opioid Synergistic Neurotoxicity Model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- Both damage prefrontal, insula, ACC circuits for emotional processing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 - Predicts additive impairment in comorbid group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REVIEW OF LITERATURE (Summary)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Alexithymia prevalence: 40-67% in opioid-dependent (Thorberg, 2009; Cruise, 2018)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Opioid + Alexithymia: Higher TAS-20, impaired emotion recognition (Ferrari, 2016)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HIV + Alexithymia: Linked to neuroimmune dysfunction (Tull, 2013)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HIV + Alexithymia: Predicts poor ART adherence (Berger, 2015)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Interventions: CBT/emotion-focused reduce TAS-20 scores (MDPI Review, 2024)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Stability debate: Trait vs. state in addiction (de Haan, 2012 - modifiable)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Projective + Alexithymia: Rorschach Alexithymia Scale (Porcelli &amp; Mihura, 2010)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Indian PWID-HIV: 6.26% prevalence, limited psychological research (NACO, 2022)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EXPECTED OUTCOMES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1. HIV+ group will show higher baseline alexithymia than HIV- group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2. Both groups will demonstrate significant TAS-20 reduction post-EFST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3. HIV- group may show greater improvement magnitude (fewer neuro constraints)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4. Rorschach variables (Afr, WSumC, Blends) will show positive change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5. TAT emotional narratives will show increased complexity and feeling words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6. TAS-20 change will correlate with Rorschach/TAT change (convergent validity)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7. Feasibility: &gt;=80% retention, &gt;=75% session attendance (inpatient advantage)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SIGNIFICANCE OF THE STUDY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CLINICAL: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- EFST can be integrated into standard 1-month de-addiction programmes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- Personalised intervention based on HIV status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- Improved emotional processing may reduce relapse risk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ACADEMIC: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- First HIV-stratified alexithymia intervention study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- First projective + psychometric multi-method assessment in this population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- Pilot data for future RCT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INDIAN CONTEXT: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- Addresses neglected psychological dimension of India's opioid-HIV epidemic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  - Low-cost, implementable intervention for resource-limited settings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LIMITATIONS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No true no-intervention control group (ethical consideration)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Small sample (N=60) - appropriate for pilot but limits generalisability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Short intervention (8 sessions/4 weeks) - may be insufficient for trait change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No follow-up assessment post-discharge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Medication confounds (OST, ART, psychotropics)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Male-only sample; purposive sampling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Rorschach/TAT retest within 4 weeks (potential practice effects)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Single-centre design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FUTURE RESEARCH DIRECTIONS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Full-scale RCT with active control group and multi-site recruitment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Longitudinal follow-up (3- and 6-month post-discharge)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Neuroimaging (fMRI/EEG) correlates of EFST-induced change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Female opioid-dependent/HIV+ populations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Dose-response: 8 vs. 12 vs. 16 sessions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Mediator analyses: Does alexithymia reduction mediate relapse prevention?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Digital/app-based EFST for post-discharge maintenance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Cross-cultural replication across Indian states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540000" y="108000"/>
            <a:ext cx="11112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spcBef>
                <a:spcPts val="400"/>
              </a:spcBef>
            </a:pPr>
            <a:r>
              <a:rPr lang="en-US" b="1" sz="2000" dirty="0">
                <a:solidFill>
                  <a:srgbClr val="FFFFFF"/>
                </a:solidFill>
                <a:latin typeface="Calibri"/>
                <a:cs typeface="Calibri"/>
              </a:rPr>
              <a:t>KEY REFERENCES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20000" y="1080000"/>
            <a:ext cx="10752000" cy="523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Bagby, Parker &amp; Taylor (1994, 2020) - TAS-20 development &amp; 25-year review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Khantzian (1997) - Self-medication hypothesis of substance use disorders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Lane &amp; Schwartz (1987) - Levels of emotional awareness model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Tull et al. (2013) - Alexithymia linked to dysfunction in HIV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Berger et al. (2015) - Alexithymia, assertiveness &amp; HIV functioning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Ferrari et al. (2016) - Impaired emotion recognition in heroin addicts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Porcelli &amp; Mihura (2010) - Rorschach Alexithymia Scale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Hosseinzadeh Zoroufchi et al. (2018) - Alexithymia in opioid-dependent males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MDPI Systematic Review (2024) - Psychological treatments for alexithymia</a:t>
            </a:r>
          </a:p>
          <a:p>
            <a:pPr algn="l" lvl="0">
              <a:buChar char="•"/>
              <a:spcBef>
                <a:spcPts val="400"/>
              </a:spcBef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Gratz &amp; Roemer (2004) - DERS development</a:t>
            </a:r>
          </a:p>
        </p:txBody>
      </p:sp>
      <p:sp>
        <p:nvSpPr>
          <p:cNvPr id="0" name="Rectangl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FF9800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>
              <a:alpha val="100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TextBox"/>
          <p:cNvSpPr txBox="1"/>
          <p:nvPr/>
        </p:nvSpPr>
        <p:spPr>
          <a:xfrm>
            <a:off x="720000" y="1800000"/>
            <a:ext cx="10752000" cy="3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 lvl="0">
              <a:spcBef>
                <a:spcPts val="400"/>
              </a:spcBef>
            </a:pPr>
            <a:r>
              <a:rPr lang="en-US" b="1" sz="4000" dirty="0">
                <a:solidFill>
                  <a:srgbClr val="FFFFFF"/>
                </a:solidFill>
                <a:latin typeface="Calibri"/>
                <a:cs typeface="Calibri"/>
              </a:rPr>
              <a:t>Thank You</a:t>
            </a:r>
          </a:p>
          <a:p>
            <a:pPr algn="ctr" lvl="0">
              <a:spcBef>
                <a:spcPts val="400"/>
              </a:spcBef>
            </a:pPr>
            <a:r>
              <a:rPr lang="en-US" sz="1000" dirty="0">
                <a:solidFill>
                  <a:srgbClr val="FFFFFF"/>
                </a:solidFill>
                <a:latin typeface="Calibri"/>
                <a:cs typeface="Calibri"/>
              </a:rPr>
              <a:t/>
            </a:r>
          </a:p>
          <a:p>
            <a:pPr algn="ctr" lvl="0">
              <a:spcBef>
                <a:spcPts val="400"/>
              </a:spcBef>
            </a:pPr>
            <a:r>
              <a:rPr lang="en-US" sz="2000" dirty="0">
                <a:solidFill>
                  <a:srgbClr val="FFD54F"/>
                </a:solidFill>
                <a:latin typeface="Calibri"/>
                <a:cs typeface="Calibri"/>
              </a:rPr>
              <a:t>Questions &amp; Discussion</a:t>
            </a:r>
          </a:p>
          <a:p>
            <a:pPr algn="ctr" lvl="0">
              <a:spcBef>
                <a:spcPts val="400"/>
              </a:spcBef>
            </a:pPr>
            <a:r>
              <a:rPr lang="en-US" sz="1000" dirty="0">
                <a:solidFill>
                  <a:srgbClr val="FFFFFF"/>
                </a:solidFill>
                <a:latin typeface="Calibri"/>
                <a:cs typeface="Calibri"/>
              </a:rPr>
              <a:t/>
            </a:r>
          </a:p>
          <a:p>
            <a:pPr algn="ctr" lvl="0">
              <a:spcBef>
                <a:spcPts val="400"/>
              </a:spcBef>
            </a:pPr>
            <a:r>
              <a:rPr lang="en-US" sz="1600" dirty="0">
                <a:solidFill>
                  <a:srgbClr val="FFFFFF"/>
                </a:solidFill>
                <a:latin typeface="Calibri"/>
                <a:cs typeface="Calibri"/>
              </a:rPr>
              <a:t>[Your Name]</a:t>
            </a:r>
          </a:p>
          <a:p>
            <a:pPr algn="ctr" lvl="0">
              <a:spcBef>
                <a:spcPts val="400"/>
              </a:spcBef>
            </a:pPr>
            <a:r>
              <a:rPr lang="en-US" sz="1400" dirty="0">
                <a:solidFill>
                  <a:srgbClr val="B0BEC5"/>
                </a:solidFill>
                <a:latin typeface="Calibri"/>
                <a:cs typeface="Calibri"/>
              </a:rPr>
              <a:t>MPhil Clinical Psychology</a:t>
            </a:r>
          </a:p>
          <a:p>
            <a:pPr algn="ctr" lvl="0">
              <a:spcBef>
                <a:spcPts val="400"/>
              </a:spcBef>
            </a:pPr>
            <a:r>
              <a:rPr lang="en-US" sz="1400" dirty="0">
                <a:solidFill>
                  <a:srgbClr val="B0BEC5"/>
                </a:solidFill>
                <a:latin typeface="Calibri"/>
                <a:cs typeface="Calibri"/>
              </a:rPr>
              <a:t>[Institution]</a:t>
            </a:r>
          </a:p>
        </p:txBody>
      </p:sp>
    </p:spTree>
  </p:cSld>
</p:sld>
</file>