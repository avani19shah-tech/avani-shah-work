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71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4" r:id="rId19"/>
    <p:sldId id="275" r:id="rId20"/>
    <p:sldId id="270" r:id="rId21"/>
    <p:sldId id="272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AC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0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C0D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>
                <a:latin typeface="Bodoni MT Black" panose="02070A03080606020203" charset="0"/>
                <a:cs typeface="Bodoni MT Black" panose="02070A03080606020203" charset="0"/>
              </a:rPr>
              <a:t>Effect of Emotion-Focused Skills Training on Alexithymia among Opioid-Dependent Individuals With and Without HIV</a:t>
            </a:r>
            <a:endParaRPr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503920" cy="1003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bg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Presented by: Avani Shah</a:t>
            </a:r>
            <a:endParaRPr lang="en-US" sz="1400">
              <a:solidFill>
                <a:schemeClr val="bg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bg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Guide: Dr. Vasudha Singh</a:t>
            </a:r>
            <a:r>
              <a:rPr lang="en-IN" altLang="en-US" sz="1400">
                <a:solidFill>
                  <a:schemeClr val="bg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, </a:t>
            </a:r>
            <a:r>
              <a:rPr lang="en-US" sz="1400">
                <a:solidFill>
                  <a:schemeClr val="bg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Associate Professor</a:t>
            </a:r>
            <a:endParaRPr lang="en-US" sz="1400">
              <a:solidFill>
                <a:schemeClr val="bg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bg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Man College of Special Education and Psychological Studies, Guna</a:t>
            </a:r>
            <a:endParaRPr lang="en-US" sz="1400">
              <a:solidFill>
                <a:schemeClr val="bg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algn="ctr"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endParaRPr lang="en-US" sz="1400">
              <a:solidFill>
                <a:schemeClr val="bg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58035" y="4145915"/>
            <a:ext cx="85039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CF0F1"/>
                </a:solidFill>
                <a:latin typeface="Calibri" panose="020F0502020204030204"/>
              </a:defRPr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MPhil Clinical Psychology Dissertation Research Proposal</a:t>
            </a:r>
            <a:endParaRPr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3200">
                <a:latin typeface="Bodoni MT Black" panose="02070A03080606020203" charset="0"/>
                <a:cs typeface="Bodoni MT Black" panose="02070A03080606020203" charset="0"/>
              </a:rPr>
              <a:t>Introduction &amp; Need for the Study</a:t>
            </a:r>
            <a:endParaRPr sz="32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32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Font typeface="Wingdings" panose="05000000000000000000" charset="0"/>
              <a:buChar char="Ø"/>
              <a:defRPr sz="120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Opioid dependence is a major public health concern and contributes substantially to the global burden of substance use disorders, with an increasing prevalence in India.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Font typeface="Wingdings" panose="05000000000000000000" charset="0"/>
              <a:buChar char="Ø"/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People Who Inject Drugs (PWID) are at high risk of Human Immunodeficiency Virus (HIV) infection. In India, approximately 22–28% of PWID are living with HIV (NACO, 2022).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Font typeface="Wingdings" panose="05000000000000000000" charset="0"/>
              <a:buChar char="Ø"/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The co-occurrence of opioid dependence and HIV is associated with greater psychological distress, neurocognitive impairment, emotional dysregulation, and poorer treatment outcomes.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Font typeface="Wingdings" panose="05000000000000000000" charset="0"/>
              <a:buChar char="Ø"/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Alexithymia — difficulty identifying, describing, and communicating emotions — is highly prevalent among individuals with opioid dependence (40–67%) vs. the general population (8–10%).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Font typeface="Wingdings" panose="05000000000000000000" charset="0"/>
              <a:buChar char="Ø"/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HIV-related neuroinflammatory and neurocognitive changes may further impair emotional awareness, potentially increasing the severity of alexithymia.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Font typeface="Wingdings" panose="05000000000000000000" charset="0"/>
              <a:buChar char="Ø"/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Alexithymia is associated with increased craving, relapse risk, poor treatment adherence, and reduced quality of life in substance-dependent populations.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Font typeface="Wingdings" panose="05000000000000000000" charset="0"/>
              <a:buChar char="Ø"/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Emotion-Focused Skills Training (EFST) aims to enhance emotional awareness, identification, expression, and regulation — a promising intervention for reducing alexithymia.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56210"/>
            <a:ext cx="109728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3200">
                <a:latin typeface="Bodoni MT Black" panose="02070A03080606020203" charset="0"/>
                <a:cs typeface="Bodoni MT Black" panose="02070A03080606020203" charset="0"/>
              </a:rPr>
              <a:t>Review of Literature</a:t>
            </a:r>
            <a:endParaRPr sz="32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3749039" cy="2560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4747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A. Alexithymia &amp; Substance Use Disorders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474720" cy="143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Alexithymia rates: 40-67% in opioid dependence vs. 8-10% in healthy populations.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Functions as predisposing vulnerability and maintaining mechanism (Khantzian, 1997).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000" b="1">
                <a:solidFill>
                  <a:srgbClr val="C0392B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Gap: Most studies are observational; do not evaluate interventions.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06240" y="1097280"/>
            <a:ext cx="3749039" cy="2560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34747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B. Alexithymia &amp; HIV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474720" cy="143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HIV neuropathology may independently impair emotional processing.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Relates to poorer adherence, greater disease severity (Berger et al., 2015).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000" b="1">
                <a:solidFill>
                  <a:srgbClr val="C0392B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Gap: Studies involve general HIV populations, not opioid dependence.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38160" y="1097280"/>
            <a:ext cx="3749039" cy="2560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1188720"/>
            <a:ext cx="34747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C. Psychological Treatment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474720" cy="143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2024 systematic review: interventions can reduce alexithymia (doi:10.3390/bs14121173).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2025 case report: EFT improved alexithymia in adolescent depression.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000" b="1">
                <a:solidFill>
                  <a:srgbClr val="C0392B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Gap: Virtually no work evaluates EFST in opioid-dependent adults.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11612880" cy="265176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112471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Overall</a:t>
            </a:r>
            <a:r>
              <a:rPr lang="en-IN" sz="1400">
                <a:latin typeface="Times New Roman" panose="02020603050405020304" charset="0"/>
                <a:cs typeface="Times New Roman" panose="02020603050405020304" charset="0"/>
              </a:rPr>
              <a:t> Research</a:t>
            </a: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 Gap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11247120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Although alexithymia has been extensively associated with opioid dependence and psychological interventions have shown promise, there is limited evidence regarding intervention-based reduction of alexithymia among opioid-dependent individuals. Little is known about whether HIV status influences response to emotion-focused interventions. Comparative studies integrating assessment of emotional functioning before and after intervention are notably scarce.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900" b="0">
                <a:solidFill>
                  <a:srgbClr val="7F8C8D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Reference: doi:10.3390/bs14121173 | Frontiers in Psychiatry (2025) | PMC (2024)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3200">
                <a:latin typeface="Bodoni MT Black" panose="02070A03080606020203" charset="0"/>
                <a:cs typeface="Bodoni MT Black" panose="02070A03080606020203" charset="0"/>
              </a:rPr>
              <a:t>Research Gap</a:t>
            </a:r>
            <a:endParaRPr sz="32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4554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A review of the available literature indicates a paucity of studies examining: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spcAft>
                <a:spcPts val="400"/>
              </a:spcAft>
              <a:buAutoNum type="arabicPeriod"/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No comparative intervention study of alexithymia between HIV+ and HIV- opioid-dependent individuals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spcAft>
                <a:spcPts val="400"/>
              </a:spcAft>
              <a:buAutoNum type="arabicPeriod"/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Absence of EFST evaluation in opioid dependence populations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spcAft>
                <a:spcPts val="400"/>
              </a:spcAft>
              <a:buAutoNum type="arabicPeriod"/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No Indian context study examining alexithymia as an intervention target in de-addiction settings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spcAft>
                <a:spcPts val="400"/>
              </a:spcAft>
              <a:buAutoNum type="arabicPeriod"/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Whether HIV status moderates response to emotion-focused interventions remains untested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spcAft>
                <a:spcPts val="400"/>
              </a:spcAft>
              <a:buAutoNum type="arabicPeriod"/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Inpatient rehabilitation context for structured 1-month intervention delivery has not been utilised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Calibri" panose="020F0502020204030204"/>
              </a:defRPr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100" i="1">
                <a:solidFill>
                  <a:srgbClr val="2E86AB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The present study addresses these gaps by implementing a targeted Emotion-Focused Skills Training during a structured 1-month inpatient stay, comparing HIV-positive and HIV-negative opioid-dependent individuals.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3200">
                <a:latin typeface="Bodoni MT Black" panose="02070A03080606020203" charset="0"/>
                <a:cs typeface="Bodoni MT Black" panose="02070A03080606020203" charset="0"/>
              </a:rPr>
              <a:t>Aim &amp; Objectives</a:t>
            </a:r>
            <a:endParaRPr sz="32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AIM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7899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To examine whether HIV status influences the change in alexithymia following Emotion-Focused Skills Training among opioid-dependent individuals.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6090" y="3129915"/>
            <a:ext cx="11238230" cy="2472055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290570"/>
            <a:ext cx="7315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OBJECTIVE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746500"/>
            <a:ext cx="10789920" cy="1855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eriod"/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To evaluate changes in alexithymia following Emotion-Focused Skills Training among opioid-dependent individuals.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  <a:defRPr sz="120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 compare baseline alexithymia between opioid-dependent individuals with and without HIV.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 compare post-intervention alexithymia between the two groups.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 determine whether HIV status moderates the change in alexithymia following EFST.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78915" y="2539365"/>
            <a:ext cx="9342120" cy="18548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lang="en-IN" sz="8000" u="sng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Methodology</a:t>
            </a:r>
            <a:endParaRPr lang="en-IN" sz="8000" u="sng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3200">
                <a:latin typeface="Bodoni MT Black" panose="02070A03080606020203" charset="0"/>
                <a:cs typeface="Bodoni MT Black" panose="02070A03080606020203" charset="0"/>
              </a:rPr>
              <a:t>Hypotheses</a:t>
            </a:r>
            <a:endParaRPr sz="32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2286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Null Hypothesis (H₀)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78992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There will be no significant difference in the change in alexithymia following Emotion-Focused Skills Training between opioid-dependent individuals with HIV and those without HIV.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3200">
                <a:latin typeface="Bodoni MT Black" panose="02070A03080606020203" charset="0"/>
                <a:cs typeface="Bodoni MT Black" panose="02070A03080606020203" charset="0"/>
              </a:rPr>
              <a:t>Variables</a:t>
            </a:r>
            <a:endParaRPr sz="32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Independent Variable (IV)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03520" y="1325880"/>
            <a:ext cx="61264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Emotion-Focused Skills Training (EFST)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1247120" cy="10058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4572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Dependent Variable (DV)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0" y="2514600"/>
            <a:ext cx="61264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Alexithymia (Toronto Alexithymia Scale-20)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11247120" cy="100584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4572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Grouping Variable (Between-Subject)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03520" y="3703320"/>
            <a:ext cx="61264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HIV Status (HIV-positive vs. HIV-negative)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4754880"/>
            <a:ext cx="11247120" cy="10058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4572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Within-Subject Variable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03520" y="4892040"/>
            <a:ext cx="61264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Time (Pre-intervention vs. Post-intervention)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0972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Covariates (Optional): Age, duration of opioid dependence, duration of HIV infection, education, depression/anxiety scores, ART status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3200">
                <a:latin typeface="Bodoni MT Black" panose="02070A03080606020203" charset="0"/>
                <a:cs typeface="Bodoni MT Black" panose="02070A03080606020203" charset="0"/>
              </a:rPr>
              <a:t>Research Design</a:t>
            </a:r>
            <a:endParaRPr sz="32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0332720" cy="12801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97840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A Quasi-Experimental, Comparative, Pretest–Posttest Intervention Study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3566160" cy="34747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874520" y="3108960"/>
            <a:ext cx="914400" cy="9144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11680" y="3246120"/>
            <a:ext cx="6400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32004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Intervention Design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320040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Single-arm intervention</a:t>
            </a:r>
            <a:br>
              <a:rPr sz="24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in each group</a:t>
            </a:r>
            <a:br>
              <a:rPr sz="24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(Both groups receive EFST)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80559" y="2926080"/>
            <a:ext cx="3566160" cy="34747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806439" y="3108960"/>
            <a:ext cx="914400" cy="9144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599" y="3246120"/>
            <a:ext cx="6400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3439" y="4206240"/>
            <a:ext cx="32004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Comparison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63439" y="4663440"/>
            <a:ext cx="320040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HIV-positive vs.</a:t>
            </a:r>
            <a:br>
              <a:rPr sz="24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HIV-negative</a:t>
            </a:r>
            <a:br>
              <a:rPr sz="24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opioid-dependent individuals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412480" y="2926080"/>
            <a:ext cx="3566160" cy="34747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738360" y="3108960"/>
            <a:ext cx="914400" cy="9144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75520" y="3246120"/>
            <a:ext cx="6400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95360" y="4206240"/>
            <a:ext cx="32004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Assessment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95360" y="4663440"/>
            <a:ext cx="320040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Pre-intervention (Baseline)</a:t>
            </a:r>
            <a:br>
              <a:rPr sz="24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and Post-intervention</a:t>
            </a:r>
            <a:br>
              <a:rPr sz="24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(After 8-session EFST)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3200">
                <a:latin typeface="Bodoni MT Black" panose="02070A03080606020203" charset="0"/>
                <a:cs typeface="Bodoni MT Black" panose="02070A03080606020203" charset="0"/>
              </a:rPr>
              <a:t>Sample &amp; Participants</a:t>
            </a:r>
            <a:endParaRPr sz="32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1828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93776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SAMPLE SIZE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93776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Total N = 60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Group 1: n = 30 (HIV+, Opioid-dependent)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Group 2: n = 30 (HIV-, Opioid-dependent)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Purposive sampling, consecutive enrollment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486400" cy="18288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1206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8A49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SETTING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88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Inpatient de-addiction facility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Standard 1-month rehabilitation programme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Post-detox (min 7 days post-admission)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5486400" cy="3383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51206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INCLUSION CRITERIA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120640" cy="2368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 sz="100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Opioid Dependence (ICD-11/DSM-5)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Male gender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Age: 18-50 years (per test specifications)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Inpatient for minimum 1 month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Min. 1 week detoxification completed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Confirmed HIV status (ELISA)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Basic literacy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Informed consent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0" y="3200400"/>
            <a:ext cx="5486400" cy="338328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51206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EXCLUSION CRITERIA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5120640" cy="207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 sz="100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Comorbid psychotic disorders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Severe cognitive impairment (IQ &lt; 70)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Active neurological disorder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HIV-associated dementia (Stage 3-4)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Acute medical instability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Prior emotion regulation training (6 months)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Cannot commit to 4-week stay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1400">
                <a:latin typeface="Bodoni MT Black" panose="02070A03080606020203" charset="0"/>
                <a:cs typeface="Bodoni MT Black" panose="02070A03080606020203" charset="0"/>
              </a:rPr>
              <a:t>Tools &amp; Instruments</a:t>
            </a:r>
            <a:endParaRPr sz="14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590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endParaRPr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endParaRPr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endParaRPr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endParaRPr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endParaRPr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PRIMARY OUTCOME MEASURE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23060"/>
            <a:ext cx="5211445" cy="10744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Toronto Alexithymia Scale-20 (TAS-20) 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Bagby, Parker &amp; Taylor (1994)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20 items, 5-point Likert scale | Three factors: DIF, DDF, EOT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Cut-offs: ≤51 non-alexithymic | 52-60 possible | ≥61 alexithymic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α = .81-.86 | Test-retest r = .77 | Hindi adaptation available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57200" y="3787775"/>
            <a:ext cx="5395595" cy="2613025"/>
            <a:chOff x="720" y="5040"/>
            <a:chExt cx="8352" cy="5040"/>
          </a:xfrm>
        </p:grpSpPr>
        <p:sp>
          <p:nvSpPr>
            <p:cNvPr id="7" name="Rectangle 6"/>
            <p:cNvSpPr/>
            <p:nvPr/>
          </p:nvSpPr>
          <p:spPr>
            <a:xfrm>
              <a:off x="720" y="5040"/>
              <a:ext cx="8352" cy="504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08" y="5184"/>
              <a:ext cx="7776" cy="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2E86AB"/>
                  </a:solidFill>
                  <a:latin typeface="Calibri" panose="020F0502020204030204"/>
                </a:defRPr>
              </a:pP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SECONDARY MEASURES</a:t>
              </a:r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8" y="5760"/>
              <a:ext cx="7776" cy="37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00" b="1">
                  <a:solidFill>
                    <a:srgbClr val="2C3E50"/>
                  </a:solidFill>
                  <a:latin typeface="Calibri" panose="020F0502020204030204"/>
                </a:defRPr>
              </a:pPr>
              <a:r>
                <a:rPr lang="en-US" altLang="en-US" sz="1400">
                  <a:latin typeface="Times New Roman" panose="02020603050405020304" charset="0"/>
                  <a:cs typeface="Times New Roman" panose="02020603050405020304" charset="0"/>
                </a:rPr>
                <a:t>The Difficulties in Emotion Regulation Scale (DERS)</a:t>
              </a: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 Gratz &amp; Roemer (2004)</a:t>
              </a:r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>
                <a:spcAft>
                  <a:spcPts val="400"/>
                </a:spcAft>
                <a:defRPr sz="1000" b="0">
                  <a:solidFill>
                    <a:srgbClr val="2C3E50"/>
                  </a:solidFill>
                  <a:latin typeface="Calibri" panose="020F0502020204030204"/>
                </a:defRPr>
              </a:pP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36 items, 6 subscales | α = .93</a:t>
              </a:r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>
                <a:spcAft>
                  <a:spcPts val="400"/>
                </a:spcAft>
                <a:defRPr sz="1000" b="0">
                  <a:solidFill>
                    <a:srgbClr val="2C3E50"/>
                  </a:solidFill>
                  <a:latin typeface="Calibri" panose="020F0502020204030204"/>
                </a:defRPr>
              </a:pP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Measures emotion dysregulation</a:t>
              </a:r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>
                <a:spcAft>
                  <a:spcPts val="400"/>
                </a:spcAft>
                <a:defRPr sz="400" b="0">
                  <a:solidFill>
                    <a:srgbClr val="2C3E50"/>
                  </a:solidFill>
                  <a:latin typeface="Calibri" panose="020F0502020204030204"/>
                </a:defRPr>
              </a:pPr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>
                <a:defRPr sz="1100" b="1">
                  <a:solidFill>
                    <a:srgbClr val="2C3E50"/>
                  </a:solidFill>
                  <a:latin typeface="Calibri" panose="020F0502020204030204"/>
                </a:defRPr>
              </a:pP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BDI-II  </a:t>
              </a:r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>
                <a:defRPr sz="1100" b="1">
                  <a:solidFill>
                    <a:srgbClr val="2C3E50"/>
                  </a:solidFill>
                  <a:latin typeface="Calibri" panose="020F0502020204030204"/>
                </a:defRPr>
              </a:pP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Beck et al. (1996)</a:t>
              </a:r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>
                <a:spcAft>
                  <a:spcPts val="400"/>
                </a:spcAft>
                <a:defRPr sz="1000" b="0">
                  <a:solidFill>
                    <a:srgbClr val="2C3E50"/>
                  </a:solidFill>
                  <a:latin typeface="Calibri" panose="020F0502020204030204"/>
                </a:defRPr>
              </a:pP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21 items | Controls for depression overlap</a:t>
              </a:r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095365" y="3788410"/>
            <a:ext cx="5608955" cy="2612390"/>
            <a:chOff x="9792" y="5040"/>
            <a:chExt cx="8640" cy="5040"/>
          </a:xfrm>
        </p:grpSpPr>
        <p:sp>
          <p:nvSpPr>
            <p:cNvPr id="10" name="Rectangle 9"/>
            <p:cNvSpPr/>
            <p:nvPr/>
          </p:nvSpPr>
          <p:spPr>
            <a:xfrm>
              <a:off x="9792" y="5040"/>
              <a:ext cx="8640" cy="504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080" y="5184"/>
              <a:ext cx="8064" cy="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2E86AB"/>
                  </a:solidFill>
                  <a:latin typeface="Calibri" panose="020F0502020204030204"/>
                </a:defRPr>
              </a:pP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ADDITIONAL TOOLS</a:t>
              </a:r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080" y="5760"/>
              <a:ext cx="8064" cy="28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00" b="1">
                  <a:solidFill>
                    <a:srgbClr val="2C3E50"/>
                  </a:solidFill>
                  <a:latin typeface="Calibri" panose="020F0502020204030204"/>
                </a:defRPr>
              </a:pP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S</a:t>
              </a:r>
              <a:r>
                <a:rPr lang="en-IN" sz="1400">
                  <a:latin typeface="Times New Roman" panose="02020603050405020304" charset="0"/>
                  <a:cs typeface="Times New Roman" panose="02020603050405020304" charset="0"/>
                </a:rPr>
                <a:t>everity of </a:t>
              </a: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  <a:r>
                <a:rPr lang="en-IN" sz="1400">
                  <a:latin typeface="Times New Roman" panose="02020603050405020304" charset="0"/>
                  <a:cs typeface="Times New Roman" panose="02020603050405020304" charset="0"/>
                </a:rPr>
                <a:t>epenence </a:t>
              </a: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S</a:t>
              </a:r>
              <a:r>
                <a:rPr lang="en-IN" sz="1400">
                  <a:latin typeface="Times New Roman" panose="02020603050405020304" charset="0"/>
                  <a:cs typeface="Times New Roman" panose="02020603050405020304" charset="0"/>
                </a:rPr>
                <a:t>cale</a:t>
              </a: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IN" sz="1400">
                  <a:latin typeface="Times New Roman" panose="02020603050405020304" charset="0"/>
                  <a:cs typeface="Times New Roman" panose="02020603050405020304" charset="0"/>
                </a:rPr>
                <a:t>(SDS)</a:t>
              </a:r>
              <a:endParaRPr lang="en-IN" sz="14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>
                <a:defRPr sz="1100" b="1">
                  <a:solidFill>
                    <a:srgbClr val="2C3E50"/>
                  </a:solidFill>
                  <a:latin typeface="Calibri" panose="020F0502020204030204"/>
                </a:defRPr>
              </a:pP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Gossop et al. (1995)</a:t>
              </a:r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>
                <a:spcAft>
                  <a:spcPts val="400"/>
                </a:spcAft>
                <a:defRPr sz="1000" b="0">
                  <a:solidFill>
                    <a:srgbClr val="2C3E50"/>
                  </a:solidFill>
                  <a:latin typeface="Calibri" panose="020F0502020204030204"/>
                </a:defRPr>
              </a:pP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5 items | Controls for addiction severity</a:t>
              </a:r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>
                <a:spcAft>
                  <a:spcPts val="400"/>
                </a:spcAft>
                <a:defRPr sz="400" b="0">
                  <a:solidFill>
                    <a:srgbClr val="2C3E50"/>
                  </a:solidFill>
                  <a:latin typeface="Calibri" panose="020F0502020204030204"/>
                </a:defRPr>
              </a:pPr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>
                <a:defRPr sz="1100" b="1">
                  <a:solidFill>
                    <a:srgbClr val="2C3E50"/>
                  </a:solidFill>
                  <a:latin typeface="Calibri" panose="020F0502020204030204"/>
                </a:defRPr>
              </a:pP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Sociodemographic &amp; Clinical Data Sheet</a:t>
              </a:r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>
                <a:spcAft>
                  <a:spcPts val="400"/>
                </a:spcAft>
                <a:defRPr sz="1000" b="0">
                  <a:solidFill>
                    <a:srgbClr val="2C3E50"/>
                  </a:solidFill>
                  <a:latin typeface="Calibri" panose="020F0502020204030204"/>
                </a:defRPr>
              </a:pPr>
              <a:r>
                <a:rPr sz="1400">
                  <a:latin typeface="Times New Roman" panose="02020603050405020304" charset="0"/>
                  <a:cs typeface="Times New Roman" panose="02020603050405020304" charset="0"/>
                </a:rPr>
                <a:t>Age, education, duration of use, HIV duration</a:t>
              </a:r>
              <a:endParaRPr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8" name="TextBox 5"/>
          <p:cNvSpPr txBox="1"/>
          <p:nvPr/>
        </p:nvSpPr>
        <p:spPr>
          <a:xfrm>
            <a:off x="5666740" y="1623695"/>
            <a:ext cx="5702935" cy="12007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Rorschach Inkblot Test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rPr lang="en-IN" altLang="en-US" sz="1400" b="0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en-US" sz="1400" b="0">
                <a:latin typeface="Times New Roman" panose="02020603050405020304" charset="0"/>
                <a:cs typeface="Times New Roman" panose="02020603050405020304" charset="0"/>
              </a:rPr>
              <a:t>ssesses implicit emotional processing deficits </a:t>
            </a:r>
            <a:endParaRPr lang="en-US" altLang="en-US" sz="1400" b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Key Variables:</a:t>
            </a:r>
            <a:r>
              <a:rPr lang="en-US" altLang="en-US" sz="1400" b="0">
                <a:latin typeface="Times New Roman" panose="02020603050405020304" charset="0"/>
                <a:cs typeface="Times New Roman" panose="02020603050405020304" charset="0"/>
              </a:rPr>
              <a:t> Affective Ratio (Afr), Form-Color ratio (FC:CF+C), Weighted Sum of Color (WSumC), Number of Blends, and Lambda (emotional avoidance index).</a:t>
            </a:r>
            <a:endParaRPr lang="en-US" altLang="en-US" sz="1400" b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Administration:</a:t>
            </a:r>
            <a:r>
              <a:rPr lang="en-US" altLang="en-US" sz="1400" b="0">
                <a:latin typeface="Times New Roman" panose="02020603050405020304" charset="0"/>
                <a:cs typeface="Times New Roman" panose="02020603050405020304" charset="0"/>
              </a:rPr>
              <a:t> Individual administration (45–60 min); scored using Exner CS/R-PAS; inter-rater reliability κ = .80–.95 for major affect variables.</a:t>
            </a:r>
            <a:endParaRPr lang="en-US" altLang="en-US" sz="1400" b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3000">
                <a:latin typeface="Bodoni MT Black" panose="02070A03080606020203" charset="0"/>
                <a:cs typeface="Bodoni MT Black" panose="02070A03080606020203" charset="0"/>
              </a:rPr>
              <a:t>Emotion-Focused Skills Training (EFST): Background</a:t>
            </a:r>
            <a:endParaRPr sz="30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645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THEORETICAL FOUNDATION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112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  <a:defRPr sz="120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EFST is grounded in Emotion-Focused Therapy (EFT), originally developed by Leslie Greenberg (1990s).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Ø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Theoretical bases: Khantzian's Self-Medication Hypothesis (1985, 1997); Lane &amp; Schwartz's Cognitive-Affective Processing Model (1987).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Ø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EFST adapts EFT principles into a structured skills-based format suitable for group/individual delivery in clinical settings.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47120" cy="34747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7899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KEY PRINCIPLES OF EFST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789920" cy="207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  <a:defRPr sz="110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Enhancing emotional awareness and identification (addressing DIF component of alexithymia)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Ø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Building emotion vocabulary and description skills (addressing DDF component)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Ø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Developing interoceptive awareness — body-emotion connection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Ø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Moving from externally-oriented thinking to internal emotional processing (addressing EOT)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Ø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Linking emotional processing deficits to the addiction cycle and relapse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000" b="0">
                <a:solidFill>
                  <a:srgbClr val="7F8C8D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Reference: Greenberg (2002). Emotion-Focused Therapy. APA Press.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000" b="0">
                <a:solidFill>
                  <a:srgbClr val="7F8C8D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Reference: Cameron et al. (2014). Emotion-focused interventions for alexithymia.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3000">
                <a:latin typeface="Bodoni MT Black" panose="02070A03080606020203" charset="0"/>
                <a:cs typeface="Bodoni MT Black" panose="02070A03080606020203" charset="0"/>
              </a:rPr>
              <a:t>EFST Intervention Protocol: Flow Chart (8 Sessions)</a:t>
            </a:r>
            <a:endParaRPr sz="30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651760" cy="23774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4688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Session 1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4688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Psychoeducation:</a:t>
            </a:r>
            <a:br>
              <a:rPr sz="20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What are Emotions?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3108960" y="2194560"/>
            <a:ext cx="274320" cy="36576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83280" y="1188720"/>
            <a:ext cx="2651760" cy="23774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74720" y="1280160"/>
            <a:ext cx="24688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Session 2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4688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Body-Emotion</a:t>
            </a:r>
            <a:br>
              <a:rPr sz="20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Connection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6035040" y="2194560"/>
            <a:ext cx="274320" cy="36576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2651760" cy="237744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24688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Session 3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24688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Emotion Vocabulary</a:t>
            </a:r>
            <a:br>
              <a:rPr sz="20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Building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8961120" y="2194560"/>
            <a:ext cx="274320" cy="36576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235440" y="1188720"/>
            <a:ext cx="2651760" cy="237744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26880" y="1280160"/>
            <a:ext cx="24688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Session 4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26880" y="1737360"/>
            <a:ext cx="24688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Identifying Feelings</a:t>
            </a:r>
            <a:br>
              <a:rPr sz="20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in Daily Life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2651760" cy="23774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24688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Session 5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24688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Describing Feelings</a:t>
            </a:r>
            <a:br>
              <a:rPr sz="20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to Others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3108960" y="5029200"/>
            <a:ext cx="274320" cy="36576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383280" y="4023360"/>
            <a:ext cx="2651760" cy="23774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74720" y="4114800"/>
            <a:ext cx="24688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Session 6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74720" y="4572000"/>
            <a:ext cx="24688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Understanding</a:t>
            </a:r>
            <a:br>
              <a:rPr sz="20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Others' Emotions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6035040" y="5029200"/>
            <a:ext cx="274320" cy="36576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09360" y="4023360"/>
            <a:ext cx="2651760" cy="237744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0" y="4114800"/>
            <a:ext cx="24688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Session 7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0" y="4572000"/>
            <a:ext cx="24688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Emotions &amp; the</a:t>
            </a:r>
            <a:br>
              <a:rPr sz="20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Addiction Cycle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8961120" y="5029200"/>
            <a:ext cx="274320" cy="36576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235440" y="4023360"/>
            <a:ext cx="2651760" cy="237744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326880" y="4114800"/>
            <a:ext cx="24688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Session 8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326880" y="4572000"/>
            <a:ext cx="24688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Integration &amp;</a:t>
            </a:r>
            <a:br>
              <a:rPr sz="20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Maintenance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Down Arrow 33"/>
          <p:cNvSpPr/>
          <p:nvPr/>
        </p:nvSpPr>
        <p:spPr>
          <a:xfrm>
            <a:off x="10424160" y="3566160"/>
            <a:ext cx="365760" cy="457200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12471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 panose="020F0502020204030204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Format: </a:t>
            </a:r>
            <a:r>
              <a:rPr lang="en-IN" sz="2000">
                <a:latin typeface="Times New Roman" panose="02020603050405020304" charset="0"/>
                <a:cs typeface="Times New Roman" panose="02020603050405020304" charset="0"/>
              </a:rPr>
              <a:t>Group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| Duration: 60 min/session | Frequency: 2x/week over 4 weeks | Total: 8 sessions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3000">
                <a:latin typeface="Bodoni MT Black" panose="02070A03080606020203" charset="0"/>
                <a:cs typeface="Bodoni MT Black" panose="02070A03080606020203" charset="0"/>
              </a:rPr>
              <a:t>Proposed Statistical Analysis &amp; Ethical Considerations</a:t>
            </a:r>
            <a:endParaRPr sz="30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760720" cy="5486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PROPOSED STATISTICAL ANALYSIS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4102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Primary Analysis: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Ø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2 x 2 Mixed ANOVA (Group x Time) on TAS-20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Ø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Main effects: HIV status (between), Time (within)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Ø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Interaction: Group x Time on alexithymia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400" b="0">
                <a:solidFill>
                  <a:srgbClr val="2C3E50"/>
                </a:solidFill>
                <a:latin typeface="Calibri" panose="020F0502020204030204"/>
              </a:defRPr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1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Secondary Analyses: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Ø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Independent t-test: Baseline comparison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Ø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Paired t-test: Within-group pre-post change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Ø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ANCOVA: Controlling for covariates (BDI-II, SDS)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Ø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Effect size: Cohen's d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Ø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Reliable Change Index (RCI)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Ø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Chi-square: Categorical baseline comparisons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400" b="0">
                <a:solidFill>
                  <a:srgbClr val="2C3E50"/>
                </a:solidFill>
                <a:latin typeface="Calibri" panose="020F0502020204030204"/>
              </a:defRPr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000">
                <a:solidFill>
                  <a:srgbClr val="7F8C8D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Software: SPSS / JASP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18250" y="1097280"/>
            <a:ext cx="5577840" cy="548640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5303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ETHICAL CONSIDERATIONS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5303520" cy="414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 sz="100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Institutional Ethics Committee (IEC) approval prior to data collection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Written informed consent in participant's preferred language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Confidentiality of HIV status strictly maintained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Right to withdraw at any time without impact on treatment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No deception involved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Participants in distress referred to treating psychiatrist/psychologist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Data stored securely with coded identifiers (de-identified)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All participants receive standard de-addiction treatment regardless of study participation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Study registered with C</a:t>
            </a:r>
            <a:r>
              <a:rPr lang="en-IN" sz="1600">
                <a:latin typeface="Times New Roman" panose="02020603050405020304" charset="0"/>
                <a:cs typeface="Times New Roman" panose="02020603050405020304" charset="0"/>
              </a:rPr>
              <a:t>inical trial registry-India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 if required by institution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3200">
                <a:latin typeface="Bodoni MT Black" panose="02070A03080606020203" charset="0"/>
                <a:cs typeface="Bodoni MT Black" panose="02070A03080606020203" charset="0"/>
              </a:rPr>
              <a:t>Study Timeline</a:t>
            </a:r>
            <a:endParaRPr sz="32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0698480" cy="914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103120" cy="1645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9202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Phase 1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9202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Screening &amp;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Enrollment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80160" y="30175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210312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9202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Week 1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(Days 7-10)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88920" y="1280160"/>
            <a:ext cx="2103120" cy="1645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80360" y="1371600"/>
            <a:ext cx="19202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Phase 2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80360" y="1645920"/>
            <a:ext cx="19202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Pre-Test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Assessment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611880" y="30175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88920" y="3657600"/>
            <a:ext cx="210312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80360" y="3749039"/>
            <a:ext cx="19202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Week 1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(Days 8-12)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120640" y="1280160"/>
            <a:ext cx="2103120" cy="164592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12080" y="1371600"/>
            <a:ext cx="19202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Phase 3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12080" y="1645920"/>
            <a:ext cx="19202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Intervention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Delivery (EFST)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5943600" y="30175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20640" y="3657600"/>
            <a:ext cx="210312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12080" y="3749039"/>
            <a:ext cx="19202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Weeks 2-3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(8 sessions)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452359" y="1280160"/>
            <a:ext cx="2103120" cy="164592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43799" y="1371600"/>
            <a:ext cx="19202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Phase 4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43799" y="1645920"/>
            <a:ext cx="19202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Post-Test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Assessment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275319" y="30175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452359" y="3657600"/>
            <a:ext cx="210312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43799" y="3749039"/>
            <a:ext cx="19202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Week 4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(Days 25-28)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784080" y="1280160"/>
            <a:ext cx="2103120" cy="1645920"/>
          </a:xfrm>
          <a:prstGeom prst="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875520" y="1371600"/>
            <a:ext cx="19202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Phase 5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75520" y="1645920"/>
            <a:ext cx="19202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Data Analysis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&amp; Interpretation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607040" y="30175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784080" y="3657600"/>
            <a:ext cx="210312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875520" y="3749039"/>
            <a:ext cx="19202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Post-data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collection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5029200"/>
            <a:ext cx="11247120" cy="1588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Key Activities: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Phase 1: Screen patients, obtain consent, confirm HIV status, assign groups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Phase 2: Administer TAS-20, DERS, BDI-II, SDS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Phase 3: Deliver 8 EFST sessions (individual, 60 min, 2x/week)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Phase 4: Re-administer TAS-20, DERS, BDI-II; collect participant feedback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Phase 5: Score instruments, conduct statistical analyses, interpret findings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3600">
                <a:latin typeface="Bodoni MT Black" panose="02070A03080606020203" charset="0"/>
                <a:cs typeface="Bodoni MT Black" panose="02070A03080606020203" charset="0"/>
              </a:rPr>
              <a:t>Significance of the Study</a:t>
            </a:r>
            <a:endParaRPr sz="36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669280" cy="5303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CLINICAL SIGNIFICANCE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303520" cy="4225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 sz="110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First intervention study targeting alexithymia in opioid-dependent individuals stratified by HIV status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If effective, EFST can be integrated into standard 1-month de-addiction programmes at low cost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Informs treatment personalisation — HIV+ individuals may require adapted interventions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Reducing alexithymia may improve emotional coping and reduce relapse risk post-discharge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Addresses a dual-burden population (opioid dependence + HIV) with compounded vulnerabilities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Provides feasibility data for EFST delivery within standard inpatient rehabilitation timeframe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3035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8A49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RESEARCH SIGNIFICANCE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03520" cy="367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 sz="110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Fills a critical gap — no prior study evaluates EFST in opioid-dependent adults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First Indian study examining alexithymia as an intervention target in de-addiction settings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Tests whether alexithymia (often considered stable) is modifiable through brief structured intervention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Examines whether HIV-related neurobiological changes affect capacity to benefit from EFST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Contributes to the evidence base on emotion-focused approaches in addiction populations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Scalable — can be implemented in government de-addiction programmes across India if effective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3600">
                <a:latin typeface="Bodoni MT Black" panose="02070A03080606020203" charset="0"/>
                <a:cs typeface="Bodoni MT Black" panose="02070A03080606020203" charset="0"/>
              </a:rPr>
              <a:t>Limitations of the Study</a:t>
            </a:r>
            <a:endParaRPr sz="36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657600" cy="548640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2918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DESIGN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91840" cy="3730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 sz="100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No untreated control group — improvements may reflect natural recovery or concurrent treatment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Quasi-experimental — groups based on pre-existing HIV status, not randomised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No blinding of participants or researcher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No long-term follow-up — durability of gains post-discharge unknown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Brief duration (8 sessions/4 weeks) may be insufficient for stable trait change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06240" y="1097280"/>
            <a:ext cx="3657600" cy="548640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32918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35A0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SAMPLE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291840" cy="292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 sz="100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Male-only sample — limits generalisability to female populations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Single-site data — may not generalise to other settings/regions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Purposive sampling — limits external validity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N = 60 may be underpowered for small-to-medium or interaction effects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46720" y="1097280"/>
            <a:ext cx="3840480" cy="5486400"/>
          </a:xfrm>
          <a:prstGeom prst="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0" y="1188720"/>
            <a:ext cx="34747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3A83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MEASUREMENT &amp; CONFOUNDS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474720" cy="3484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 sz="100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Self-report paradox — alexithymic individuals may underreport deficits on TAS-20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No performance-based emotion recognition measure included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Concurrent de-addiction treatment may confound EFST effects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ART side effects may independently affect emotional processing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AutoNum type="arabicPeriod"/>
              <a:defRPr sz="10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Single therapist — therapist effects cannot be separated from intervention effects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3600">
                <a:latin typeface="Bodoni MT Black" panose="02070A03080606020203" charset="0"/>
                <a:cs typeface="Bodoni MT Black" panose="02070A03080606020203" charset="0"/>
              </a:rPr>
              <a:t>References</a:t>
            </a:r>
            <a:endParaRPr sz="36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charset="0"/>
              <a:buChar char="q"/>
              <a:defRPr sz="90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Bagby, R. M., Parker, J. D. A., &amp; Taylor, G. J. (1994). The twenty-item Toronto Alexithymia Scale—I. Item selection and cross-validation of the factor structure. Journal of Psychosomatic Research, 38(1), 23–32.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q"/>
              <a:defRPr sz="9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Beck, A. T., Steer, R. A., &amp; Brown, G. K. (1996). Manual for the Beck Depression Inventory–II. Psychological Corporation.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q"/>
              <a:defRPr sz="9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Berger, S., et al. (2015). Alexithymia in HIV infection. Psychotherapy and Psychosomatics, 84(4), 231–238.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q"/>
              <a:defRPr sz="9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Cameron, K., et al. (2014). Emotion-focused group therapy for alexithymia. Psychotherapy Research, 24(5), 592–603.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q"/>
              <a:defRPr sz="9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Gratz, K. L., &amp; Roemer, L. (2004). Multidimensional assessment of emotion regulation and dysregulation. Journal of Psychopathology and Behavioral Assessment, 26(1), 41–54.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q"/>
              <a:defRPr sz="9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Greenberg, L. S. (2002). Emotion-Focused Therapy: Coaching Clients to Work Through Their Feelings. APA Press.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q"/>
              <a:defRPr sz="9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Gossop, M., et al. (1995). The Severity of Dependence Scale (SDS). Addiction, 90(5), 607–614.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q"/>
              <a:defRPr sz="9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Khantzian, E. J. (1997). The self-medication hypothesis of substance use disorders. Harvard Review of Psychiatry, 4(5), 231–244.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q"/>
              <a:defRPr sz="9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Lane, R. D., &amp; Schwartz, G. E. (1987). Levels of emotional awareness. American Journal of Psychiatry, 144(2), 133–143.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q"/>
              <a:defRPr sz="9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NACO (2022). India HIV Estimates 2022. National AIDS Control Organisation, India.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q"/>
              <a:defRPr sz="9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Systematic review of psychological treatments for alexithymia (2024). doi:10.3390/bs14121173.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q"/>
              <a:defRPr sz="9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Emotion-Focused Therapy case report (2025). Frontiers in Psychiatry. doi:10.3389/fpsyt.2025.1715173.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charset="0"/>
              <a:buChar char="q"/>
              <a:defRPr sz="900" b="0">
                <a:solidFill>
                  <a:srgbClr val="2C3E50"/>
                </a:solidFill>
                <a:latin typeface="Calibri" panose="020F0502020204030204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EFST in substance dependence (2025). doi:10.1186/s40359-025-02638-8.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0392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 Light" panose="020F0302020204030204"/>
              </a:defRPr>
            </a:pPr>
            <a:r>
              <a:rPr sz="8000"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sz="8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377571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CF0F1"/>
                </a:solidFill>
                <a:latin typeface="Calibri" panose="020F0502020204030204"/>
              </a:defRPr>
            </a:pPr>
            <a:r>
              <a:t>Avani Shah | MPhil Clinical Psychology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487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CF0F1"/>
                </a:solidFill>
                <a:latin typeface="Calibri" panose="020F0502020204030204"/>
              </a:defRPr>
            </a:pPr>
            <a:r>
              <a:t>Guide: Dr. Vasudha Singh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13754</Words>
  <Application>WPS Presentation</Application>
  <PresentationFormat>On-screen Show (4:3)</PresentationFormat>
  <Paragraphs>386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SimSun</vt:lpstr>
      <vt:lpstr>Wingdings</vt:lpstr>
      <vt:lpstr>Arial</vt:lpstr>
      <vt:lpstr>Calibri Light</vt:lpstr>
      <vt:lpstr>Bodoni MT Black</vt:lpstr>
      <vt:lpstr>Times New Roman</vt:lpstr>
      <vt:lpstr>Calibri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Avani Shah</cp:lastModifiedBy>
  <cp:revision>4</cp:revision>
  <dcterms:created xsi:type="dcterms:W3CDTF">2013-01-27T09:14:00Z</dcterms:created>
  <dcterms:modified xsi:type="dcterms:W3CDTF">2026-07-13T06:14:40Z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1033-12.1.0.26886</vt:lpwstr>
  </property>
  <property fmtid="{D5CDD505-2E9C-101B-9397-08002B2CF9AE}" pid="3" name="ICV">
    <vt:lpwstr>C3C6CB888EFA4202ABC3B2425D6CA700_13</vt:lpwstr>
  </property>
</Properties>
</file>