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Intervention</c:v>
                </c:pt>
                <c:pt idx="1">
                  <c:v>Control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322</c:v>
                </c:pt>
                <c:pt idx="1">
                  <c:v>218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C7-4D7B-914F-B2535299D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60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GAD-7</c:v>
                </c:pt>
                <c:pt idx="1">
                  <c:v>PHQ-9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9.15</c:v>
                </c:pt>
                <c:pt idx="1">
                  <c:v>9.8699999999999992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0A9-4B46-A319-F6DBB3A98E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7891C5"/>
            </a:solidFill>
            <a:ln>
              <a:solidFill>
                <a:srgbClr val="7891C5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GAD-7</c:v>
                </c:pt>
                <c:pt idx="1">
                  <c:v>PHQ-9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10.130000000000001</c:v>
                </c:pt>
                <c:pt idx="1">
                  <c:v>10.67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891C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0A9-4B46-A319-F6DBB3A98E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 / intervention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6-week total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763-4E00-8ADF-69CEF4BC8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workbook / control</c:v>
                </c:pt>
              </c:strCache>
            </c:strRef>
          </c:tx>
          <c:spPr>
            <a:solidFill>
              <a:srgbClr val="7891C5"/>
            </a:solidFill>
            <a:ln>
              <a:solidFill>
                <a:srgbClr val="7891C5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6-week total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891C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763-4E00-8ADF-69CEF4BC8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 / intervention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6-week total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0B1-40D1-A9F3-D84B7F3B35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workbook / control</c:v>
                </c:pt>
              </c:strCache>
            </c:strRef>
          </c:tx>
          <c:spPr>
            <a:solidFill>
              <a:srgbClr val="7891C5"/>
            </a:solidFill>
            <a:ln>
              <a:solidFill>
                <a:srgbClr val="7891C5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6-week total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891C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0B1-40D1-A9F3-D84B7F3B3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 reduction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GAD-7</c:v>
                </c:pt>
                <c:pt idx="1">
                  <c:v>PHQ-9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2.46</c:v>
                </c:pt>
                <c:pt idx="1">
                  <c:v>2.67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B34-4041-8003-EF89D68DE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reduction</c:v>
                </c:pt>
              </c:strCache>
            </c:strRef>
          </c:tx>
          <c:spPr>
            <a:solidFill>
              <a:srgbClr val="7891C5"/>
            </a:solidFill>
            <a:ln>
              <a:solidFill>
                <a:srgbClr val="7891C5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GAD-7</c:v>
                </c:pt>
                <c:pt idx="1">
                  <c:v>PHQ-9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3.13</c:v>
                </c:pt>
                <c:pt idx="1">
                  <c:v>2.68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891C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B34-4041-8003-EF89D68DE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7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rgbClr val="D982A9"/>
            </a:solidFill>
            <a:ln>
              <a:solidFill>
                <a:srgbClr val="D982A9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Any adverse event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82A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31E-4DA9-81DB-C798F0F320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7891C5"/>
            </a:solidFill>
            <a:ln>
              <a:solidFill>
                <a:srgbClr val="7891C5"/>
              </a:solidFill>
            </a:ln>
          </c:spPr>
          <c:invertIfNegative val="1"/>
          <c:cat>
            <c:strRef>
              <c:f>Sheet1!$A$2:$A$2</c:f>
              <c:strCache>
                <c:ptCount val="1"/>
                <c:pt idx="0">
                  <c:v>Any adverse event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38.28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891C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31E-4DA9-81DB-C798F0F32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 (Cohen’s d)</c:v>
                </c:pt>
              </c:strCache>
            </c:strRef>
          </c:tx>
          <c:spPr>
            <a:solidFill>
              <a:srgbClr val="6C5488"/>
            </a:solidFill>
            <a:ln>
              <a:solidFill>
                <a:srgbClr val="6C5488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Ease of use</c:v>
                </c:pt>
                <c:pt idx="1">
                  <c:v>Personalization</c:v>
                </c:pt>
                <c:pt idx="2">
                  <c:v>Accessibility</c:v>
                </c:pt>
                <c:pt idx="3">
                  <c:v>Motivation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0.56000000000000005</c:v>
                </c:pt>
                <c:pt idx="2">
                  <c:v>0.16</c:v>
                </c:pt>
                <c:pt idx="3">
                  <c:v>0.11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6C548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5B8-44DB-903D-43B2726E8D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5"/>
        </c:scaling>
        <c:delete val="0"/>
        <c:axPos val="l"/>
        <c:majorGridlines>
          <c:spPr>
            <a:ln>
              <a:solidFill>
                <a:srgbClr val="DDD7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AA1B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608-010-9295-5" TargetMode="External"/><Relationship Id="rId2" Type="http://schemas.openxmlformats.org/officeDocument/2006/relationships/hyperlink" Target="https://doi.org/10.1038/s43856-025-01321-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76/ajp.150.2.188" TargetMode="External"/><Relationship Id="rId4" Type="http://schemas.openxmlformats.org/officeDocument/2006/relationships/hyperlink" Target="https://doi.org/10.2196/397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960120"/>
            <a:ext cx="992124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2412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1307592"/>
            <a:ext cx="84582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292538"/>
                </a:solidFill>
                <a:latin typeface="Times New Roman"/>
              </a:rPr>
              <a:t>Increasing engagement with cognitive-behavioral
therapy (CBT) using generative AI: A randomized controlled trial (RCT)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679192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1">
                <a:solidFill>
                  <a:srgbClr val="6C5488"/>
                </a:solidFill>
                <a:latin typeface="Times New Roman"/>
              </a:rPr>
              <a:t>Journal Club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133087"/>
            <a:ext cx="96012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292538"/>
                </a:solidFill>
                <a:latin typeface="Times New Roman"/>
              </a:rPr>
              <a:t>Presenter: 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50" b="0" i="0">
                <a:solidFill>
                  <a:srgbClr val="292538"/>
                </a:solidFill>
                <a:latin typeface="Times New Roman"/>
              </a:rPr>
              <a:t>Anukruti Rohini, M.Phil. Clinical Psychology trainee, Department of Clinical Psychology, MAN College of Special Education and Psychological Studies Guna, M.P.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956048"/>
            <a:ext cx="96926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292538"/>
                </a:solidFill>
                <a:latin typeface="Times New Roman"/>
              </a:rPr>
              <a:t>Supervised by: 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50" b="0" i="0">
                <a:solidFill>
                  <a:srgbClr val="292538"/>
                </a:solidFill>
                <a:latin typeface="Times New Roman"/>
              </a:rPr>
              <a:t>Dr. Ajay Sharma (HOD and Professor), Department of Clinical Psychology, MAN College of Special Education and Psychological Studies Guna, M.P.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Paper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903720" cy="44805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6355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6C5488"/>
                </a:solidFill>
                <a:latin typeface="Times New Roman"/>
              </a:rPr>
              <a:t>McFadyen et al.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61722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292538"/>
                </a:solidFill>
                <a:latin typeface="Times New Roman"/>
              </a:rPr>
              <a:t>Increasing engagement with cognitive-behavioral therapy (CBT) using generative AI: a randomized controlled trial (RCT)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41648"/>
            <a:ext cx="621792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6F6878"/>
                </a:solidFill>
                <a:latin typeface="Times New Roman"/>
              </a:rPr>
              <a:t>Communications Medicine
Article in Press • DOI: 10.1038/s43856-025-01321-8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429000" cy="4480560"/>
          </a:xfrm>
          <a:prstGeom prst="roundRect">
            <a:avLst/>
          </a:prstGeom>
          <a:solidFill>
            <a:srgbClr val="F7F3FA"/>
          </a:solidFill>
          <a:ln>
            <a:solidFill>
              <a:srgbClr val="F7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664208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265176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Can a genAI-enabled CBT app improve engagement and symptoms compared with a static digital CBT workbook?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368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IN" sz="2400" b="1" i="0" dirty="0">
                <a:solidFill>
                  <a:srgbClr val="292538"/>
                </a:solidFill>
                <a:latin typeface="Times New Roman"/>
              </a:rPr>
              <a:t>Rationale of the study </a:t>
            </a:r>
            <a:endParaRPr sz="2400" b="1" i="0" dirty="0">
              <a:solidFill>
                <a:srgbClr val="292538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THE CLINICAL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5120640" cy="356616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Long waits and gaps between therapy sessions leave many people without adequate support.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CBT homework is clinically useful, but consistent engagement is difficult.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Static digital materials are scalable yet often generic and easy to abandon.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937760" cy="42519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664208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416052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Personalized, interactive genAI may make self-directed CBT feel more responsive and usable.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069080"/>
            <a:ext cx="4160520" cy="73152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4352544"/>
            <a:ext cx="42062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1">
                <a:solidFill>
                  <a:srgbClr val="6F6878"/>
                </a:solidFill>
                <a:latin typeface="Times New Roman"/>
              </a:rPr>
              <a:t>But mental-health AI must also be clinically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Objectives and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47472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37360"/>
            <a:ext cx="566928" cy="566928"/>
          </a:xfrm>
          <a:prstGeom prst="ellipse">
            <a:avLst/>
          </a:prstGeom>
          <a:solidFill>
            <a:srgbClr val="D982A9"/>
          </a:solidFill>
          <a:ln>
            <a:solidFill>
              <a:srgbClr val="D98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01 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6974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Test whether the genAI app increases frequency and duration of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337560" cy="347472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00600" y="1737360"/>
            <a:ext cx="566928" cy="566928"/>
          </a:xfrm>
          <a:prstGeom prst="ellipse">
            <a:avLst/>
          </a:prstGeom>
          <a:solidFill>
            <a:srgbClr val="7891C5"/>
          </a:solidFill>
          <a:ln>
            <a:solidFill>
              <a:srgbClr val="789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75564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02  SYMPTOMS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26974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Compare change in anxiety and depression symptoms over 6 weeks.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337560" cy="347472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60" y="1737360"/>
            <a:ext cx="566928" cy="566928"/>
          </a:xfrm>
          <a:prstGeom prst="ellipse">
            <a:avLst/>
          </a:prstGeom>
          <a:solidFill>
            <a:srgbClr val="83A99A"/>
          </a:solidFill>
          <a:ln>
            <a:solidFill>
              <a:srgbClr val="83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75564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03 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14600"/>
            <a:ext cx="26974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Compare adverse events and explore which features relate to benefit.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5156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1">
                <a:solidFill>
                  <a:srgbClr val="6F6878"/>
                </a:solidFill>
                <a:latin typeface="Times New Roman"/>
              </a:rPr>
              <a:t>Hypothesis: personalization would increase engagement and may translate into better clinical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713232" cy="713232"/>
          </a:xfrm>
          <a:prstGeom prst="ellipse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3317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063240"/>
            <a:ext cx="187451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Online eligibility
(N = 2,146)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2450592"/>
            <a:ext cx="2029968" cy="54864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0" y="2148840"/>
            <a:ext cx="713232" cy="713232"/>
          </a:xfrm>
          <a:prstGeom prst="ellipse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23317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36192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063240"/>
            <a:ext cx="187451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540 adults
randomized 3:2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450592"/>
            <a:ext cx="2029968" cy="54864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2148840"/>
            <a:ext cx="713232" cy="713232"/>
          </a:xfrm>
          <a:prstGeom prst="ellipse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23317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536192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6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063240"/>
            <a:ext cx="187451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Self-directed CBT
weekly surveys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4032" y="2450592"/>
            <a:ext cx="2029968" cy="54864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0" y="2148840"/>
            <a:ext cx="713232" cy="713232"/>
          </a:xfrm>
          <a:prstGeom prst="ellipse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07424" y="23317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536192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063240"/>
            <a:ext cx="187451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Engagement • symptoms
safety •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09160"/>
            <a:ext cx="10287000" cy="603504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4882896"/>
            <a:ext cx="9784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6C5488"/>
                </a:solidFill>
                <a:latin typeface="Times New Roman"/>
              </a:rPr>
              <a:t>Parallel • unblinded • active-control RCT  |  ClinicalTrials.gov: NCT06459128  |  UCL REC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Participants and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834640" cy="35661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64208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1488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92538"/>
                </a:solidFill>
                <a:latin typeface="Times New Roman"/>
              </a:rPr>
              <a:t>N = 540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21488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Adults in the United States
with elevated GAD-7 or PHQ-9 scores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77639" y="1417320"/>
          <a:ext cx="33375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60520" y="464515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6F6878"/>
                </a:solidFill>
                <a:latin typeface="Times New Roman"/>
              </a:rPr>
              <a:t>Randomized allocation (3:2)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325880"/>
            <a:ext cx="3611880" cy="3566160"/>
          </a:xfrm>
          <a:prstGeom prst="roundRect">
            <a:avLst/>
          </a:prstGeom>
          <a:solidFill>
            <a:srgbClr val="F7F3FA"/>
          </a:solidFill>
          <a:ln>
            <a:solidFill>
              <a:srgbClr val="F7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664208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40280"/>
            <a:ext cx="28346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92538"/>
                </a:solidFill>
                <a:latin typeface="Times New Roman"/>
              </a:rPr>
              <a:t>≈ 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63240"/>
            <a:ext cx="27432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292538"/>
                </a:solidFill>
                <a:latin typeface="Times New Roman"/>
              </a:rPr>
              <a:t>Average weekly survey completion
Week 6: 82.9% app vs 83.0%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34924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1">
                <a:solidFill>
                  <a:srgbClr val="6F6878"/>
                </a:solidFill>
                <a:latin typeface="Times New Roman"/>
              </a:rPr>
              <a:t>Modified intention-to-treat analysis: 322 intervention + 209 active control (9 control participants excluded after cross-exposure).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What did participants receive?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66360" cy="448056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82A9"/>
                </a:solidFill>
                <a:latin typeface="Times New Roman"/>
              </a:rPr>
              <a:t>GENAI APP  |  LIMBIC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343400" cy="297180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Conversational, personalized CBT delivery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“Let’s Chat” emotional support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Psychoeducation + interactive CBT activities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Guided sessions with tailored exercise suggestions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4480560"/>
          </a:xfrm>
          <a:prstGeom prst="roundRect">
            <a:avLst/>
          </a:prstGeom>
          <a:solidFill>
            <a:srgbClr val="F4F7FC"/>
          </a:solidFill>
          <a:ln>
            <a:solidFill>
              <a:srgbClr val="D9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7891C5"/>
                </a:solidFill>
                <a:latin typeface="Times New Roman"/>
              </a:rPr>
              <a:t>ACTIVE CONTROL  |  DIGITAL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343400" cy="297180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Same CBT curriculum and three course options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Static text, images and response boxes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Modeled on evidence-based NHS materials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Viewable on phone, tablet or computer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989320"/>
            <a:ext cx="6492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50" b="1" i="0">
                <a:solidFill>
                  <a:srgbClr val="6C5488"/>
                </a:solidFill>
                <a:latin typeface="Times New Roman"/>
              </a:rPr>
              <a:t>The curriculum was matched; the delivery mechanism was the experimental contrast.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Outcomes and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83480" cy="160020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0824"/>
            <a:ext cx="42976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92538"/>
                </a:solidFill>
                <a:latin typeface="Times New Roman"/>
              </a:rPr>
              <a:t>Frequency of opens
Total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4983480" cy="160020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58191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020824"/>
            <a:ext cx="42976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92538"/>
                </a:solidFill>
                <a:latin typeface="Times New Roman"/>
              </a:rPr>
              <a:t>GAD-7 anxiety
PHQ-9 depression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4983480" cy="160020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63931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78224"/>
            <a:ext cx="42976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92538"/>
                </a:solidFill>
                <a:latin typeface="Times New Roman"/>
              </a:rPr>
              <a:t>WSAS impairment
MSQ sleep symptoms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383280"/>
            <a:ext cx="4983480" cy="1600200"/>
          </a:xfrm>
          <a:prstGeom prst="roundRect">
            <a:avLst/>
          </a:prstGeom>
          <a:solidFill>
            <a:srgbClr val="F8F5FA"/>
          </a:solidFill>
          <a:ln>
            <a:solidFill>
              <a:srgbClr val="F8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363931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SAFETY /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078224"/>
            <a:ext cx="42976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92538"/>
                </a:solidFill>
                <a:latin typeface="Times New Roman"/>
              </a:rPr>
              <a:t>Adverse events
Usability &amp;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424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1">
                <a:solidFill>
                  <a:srgbClr val="6F6878"/>
                </a:solidFill>
                <a:latin typeface="Times New Roman"/>
              </a:rPr>
              <a:t>Primary measures were collected weekly across the six-week intervention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Analysis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657600" cy="443484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6420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PRIMARY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971800" cy="292608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Linear mixed-effects models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Group, week and group × week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Random intercepts for participants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Bonferroni correction for clinical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25880"/>
            <a:ext cx="3063240" cy="4434840"/>
          </a:xfrm>
          <a:prstGeom prst="roundRect">
            <a:avLst/>
          </a:prstGeom>
          <a:solidFill>
            <a:srgbClr val="F7F3FA"/>
          </a:solidFill>
          <a:ln>
            <a:solidFill>
              <a:srgbClr val="F7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664208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48840"/>
            <a:ext cx="2331720" cy="283464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Weekly adverse-event reports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Logistic regression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Multiple imputation (MICE)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Bayesian sensitivity analyses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154680" cy="443484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664208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82A9"/>
                </a:solidFill>
                <a:latin typeface="Times New Roman"/>
              </a:rPr>
              <a:t>EXPLORATORY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23160" cy="283464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Engagement duration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App feature use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Guided-session subgroup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Hypothesis-generating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Baseline profile: broadly comparable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53312"/>
          <a:ext cx="4983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" y="4800600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6F6878"/>
                </a:solidFill>
                <a:latin typeface="Times New Roman"/>
              </a:rPr>
              <a:t>Mean baseline symptom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754880" cy="352044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KEY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3977639" cy="233172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Female: 72.3% control; 69.6% intervention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White: 70.3% control; 69.6% intervention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Prior therapy: ≈ 53% in both groups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Current psychoactive medication: ≈ 22% in both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1">
                <a:solidFill>
                  <a:srgbClr val="6F6878"/>
                </a:solidFill>
                <a:latin typeface="Times New Roman"/>
              </a:rPr>
              <a:t>Mean age: 36.0 years control vs 37.6 years intervention.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Result 1  |  Engagement frequency increased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25880"/>
          <a:ext cx="56692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8720" y="4965192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6C5488"/>
                </a:solidFill>
                <a:latin typeface="Times New Roman"/>
              </a:rPr>
              <a:t>2.4× more opens with the genAI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353312"/>
            <a:ext cx="4343400" cy="402336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69164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76272"/>
            <a:ext cx="3291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D982A9"/>
                </a:solidFill>
                <a:latin typeface="Times New Roman"/>
              </a:rPr>
              <a:t>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999232"/>
            <a:ext cx="34290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92538"/>
                </a:solidFill>
                <a:latin typeface="Times New Roman"/>
              </a:rPr>
              <a:t>The app was opened more frequently than the workbook by the final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66344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6F6878"/>
                </a:solidFill>
                <a:latin typeface="Times New Roman"/>
              </a:rPr>
              <a:t>p &lt; .001  |  f² = .073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Result 2  |  Engagement duration was longer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25880"/>
          <a:ext cx="56692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" y="4965192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6C5488"/>
                </a:solidFill>
                <a:latin typeface="Times New Roman"/>
              </a:rPr>
              <a:t>3.8× longer time engaged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353312"/>
            <a:ext cx="4343400" cy="4023360"/>
          </a:xfrm>
          <a:prstGeom prst="roundRect">
            <a:avLst/>
          </a:prstGeom>
          <a:solidFill>
            <a:srgbClr val="F4F7FC"/>
          </a:solidFill>
          <a:ln>
            <a:solidFill>
              <a:srgbClr val="D9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69164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ABSOLUTE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76272"/>
            <a:ext cx="33832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7891C5"/>
                </a:solidFill>
                <a:latin typeface="Times New Roman"/>
              </a:rPr>
              <a:t>60.7 vs 15.9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999232"/>
            <a:ext cx="34290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292538"/>
                </a:solidFill>
                <a:latin typeface="Times New Roman"/>
              </a:rPr>
              <a:t>App engagement remained higher throughout the study and the gap widened by Week 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66344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6F6878"/>
                </a:solidFill>
                <a:latin typeface="Times New Roman"/>
              </a:rPr>
              <a:t>p &lt; .001  |  f² = .067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Result 3  |  Symptoms improved similarly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5074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4864608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6F6878"/>
                </a:solidFill>
                <a:latin typeface="Times New Roman"/>
              </a:rPr>
              <a:t>Mean reduction from baseline
(absolute points; higher = greater reduction)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4937760" cy="35661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NO BETWEEN-GROUP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16052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Both groups improved, but the app was not superior to the workbook for anxiety or depression.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69080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6F6878"/>
                </a:solidFill>
                <a:latin typeface="Times New Roman"/>
              </a:rPr>
              <a:t>GAD-7 interaction p = .505
PHQ-9 interaction p = .315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Result 4  |  Comparable safety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41732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480060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6C5488"/>
                </a:solidFill>
                <a:latin typeface="Times New Roman"/>
              </a:rPr>
              <a:t>No significant group difference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754880" cy="3566160"/>
          </a:xfrm>
          <a:prstGeom prst="roundRect">
            <a:avLst/>
          </a:prstGeom>
          <a:solidFill>
            <a:srgbClr val="F7F3FA"/>
          </a:solidFill>
          <a:ln>
            <a:solidFill>
              <a:srgbClr val="F7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48840"/>
            <a:ext cx="3977639" cy="228600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No serious adverse events met ISO criteria.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Only 1 of 190 intervention-group events mentioned the intervention negatively.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Crisis support was never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1">
                <a:solidFill>
                  <a:srgbClr val="6F6878"/>
                </a:solidFill>
                <a:latin typeface="Times New Roman"/>
              </a:rPr>
              <a:t>Bayesian evidence supported no meaningful difference in adverse-event rates (BF₀₁ = 8.878).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Result 5  |  The app felt more usable and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2588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074920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6C5488"/>
                </a:solidFill>
                <a:latin typeface="Times New Roman"/>
              </a:rPr>
              <a:t>Significant advantages favored the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25880"/>
            <a:ext cx="4434840" cy="402336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12848"/>
            <a:ext cx="347472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292538"/>
                </a:solidFill>
                <a:latin typeface="Times New Roman"/>
              </a:rPr>
              <a:t>Personalization was the clearest user-experience advantage (d = 0.56).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069080"/>
            <a:ext cx="3474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 i="0">
                <a:solidFill>
                  <a:srgbClr val="6F6878"/>
                </a:solidFill>
                <a:latin typeface="Times New Roman"/>
              </a:rPr>
              <a:t>Satisfaction and perceived usefulness were not significantly different.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Exploratory finding  |  Guided sessions may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749039" cy="434340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FEATURES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2971800" cy="274320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Let’s Chat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Psychoeducation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CBT activities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Guided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25880"/>
            <a:ext cx="2880360" cy="434340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664208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82A9"/>
                </a:solidFill>
                <a:latin typeface="Times New Roman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240280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292538"/>
                </a:solidFill>
                <a:latin typeface="Times New Roman"/>
              </a:rPr>
              <a:t>Guided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93008"/>
            <a:ext cx="21488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6C5488"/>
                </a:solidFill>
                <a:latin typeface="Times New Roman"/>
              </a:rPr>
              <a:t>Greater anxiety improvement and improved wellbeing.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154680" cy="4343400"/>
          </a:xfrm>
          <a:prstGeom prst="roundRect">
            <a:avLst/>
          </a:prstGeom>
          <a:solidFill>
            <a:srgbClr val="F4F7FC"/>
          </a:solidFill>
          <a:ln>
            <a:solidFill>
              <a:srgbClr val="D9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664208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7891C5"/>
                </a:solidFill>
                <a:latin typeface="Times New Roman"/>
              </a:rPr>
              <a:t>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233172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Post-hoc
self-selection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23317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1">
                <a:solidFill>
                  <a:srgbClr val="6F6878"/>
                </a:solidFill>
                <a:latin typeface="Times New Roman"/>
              </a:rPr>
              <a:t>Correlational—not causal.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Discussion: what the RCT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4251960"/>
          </a:xfrm>
          <a:prstGeom prst="roundRect">
            <a:avLst/>
          </a:prstGeom>
          <a:solidFill>
            <a:srgbClr val="F7F3FA"/>
          </a:solidFill>
          <a:ln>
            <a:solidFill>
              <a:srgbClr val="F7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6420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651760" cy="265176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GenAI can increase autonomous engagement.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Safety was comparable with a static CBT workbook.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25880"/>
            <a:ext cx="3383280" cy="42519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66420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NOT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48840"/>
            <a:ext cx="2651760" cy="265176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More engagement did not produce superior overall symptom reduction in 6 weeks.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325880"/>
            <a:ext cx="3383280" cy="4251960"/>
          </a:xfrm>
          <a:prstGeom prst="roundRect">
            <a:avLst/>
          </a:prstGeom>
          <a:solidFill>
            <a:srgbClr val="FFF7FA"/>
          </a:solidFill>
          <a:ln>
            <a:solidFill>
              <a:srgbClr val="F0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3336" y="166420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82A9"/>
                </a:solidFill>
                <a:latin typeface="Times New Roman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148840"/>
            <a:ext cx="2651760" cy="265176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GenAI may be more valuable as a clinical amplifier than a therapist replacement.</a:t>
            </a:r>
          </a:p>
          <a:p>
            <a:pPr>
              <a:buChar char="•"/>
              <a:defRPr sz="1800">
                <a:solidFill>
                  <a:srgbClr val="292538"/>
                </a:solidFill>
                <a:latin typeface="Times New Roman"/>
              </a:defRPr>
            </a:pPr>
            <a:r>
              <a:t>Human guidance may help users reach potent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3384FC-A080-BDDF-8E82-3F404C787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38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92538"/>
                </a:solidFill>
                <a:latin typeface="Times New Roman"/>
              </a:rPr>
              <a:t>Strengths,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246120" cy="338328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Randomized active-control design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Matched CBT curriculum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Objective engagement tracking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Pre-registered trial and safety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27632"/>
            <a:ext cx="3246120" cy="338328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Unblinded, self-directed study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Screening scores—not diagnostic interviews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No inactive / waitlist control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Control workbook developed by same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23444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C5488"/>
                </a:solidFill>
                <a:latin typeface="Times New Roman"/>
              </a:rPr>
              <a:t>NEXT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246120" cy="3383280"/>
          </a:xfrm>
          <a:prstGeom prst="rect">
            <a:avLst/>
          </a:prstGeom>
          <a:noFill/>
        </p:spPr>
        <p:txBody>
          <a:bodyPr wrap="square" tIns="18288" rIns="27432" bIns="18288">
            <a:spAutoFit/>
          </a:bodyPr>
          <a:lstStyle/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Randomize access to guided sessions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Test blended human–AI care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Use independent comparator validation</a:t>
            </a:r>
          </a:p>
          <a:p>
            <a:pPr>
              <a:buChar char="•"/>
              <a:defRPr sz="1750">
                <a:solidFill>
                  <a:srgbClr val="292538"/>
                </a:solidFill>
                <a:latin typeface="Times New Roman"/>
              </a:defRPr>
            </a:pPr>
            <a:r>
              <a:t>Recruit clinically diagnosed samples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C8E7"/>
          </a:solidFill>
          <a:ln>
            <a:solidFill>
              <a:srgbClr val="D7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109728" cy="457200"/>
          </a:xfrm>
          <a:prstGeom prst="rect">
            <a:avLst/>
          </a:prstGeom>
          <a:solidFill>
            <a:srgbClr val="6C5488"/>
          </a:solidFill>
          <a:ln>
            <a:solidFill>
              <a:srgbClr val="6C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 dirty="0">
                <a:solidFill>
                  <a:srgbClr val="292538"/>
                </a:solidFill>
                <a:latin typeface="Times New Roman"/>
              </a:rPr>
              <a:t>Take-home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6C5488"/>
                </a:solidFill>
                <a:latin typeface="Times New Roman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98448"/>
            <a:ext cx="10561320" cy="3108960"/>
          </a:xfrm>
          <a:prstGeom prst="roundRect">
            <a:avLst/>
          </a:prstGeom>
          <a:solidFill>
            <a:srgbClr val="E9E1F2"/>
          </a:solidFill>
          <a:ln>
            <a:solidFill>
              <a:srgbClr val="E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755648"/>
            <a:ext cx="9784080" cy="132588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92538"/>
                </a:solidFill>
                <a:latin typeface="Times New Roman"/>
              </a:rPr>
              <a:t>The genAI-enabled CBT app made self-directed therapy more engaging—but not more effective than a digital workbook for overall symptom reduction over six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00600"/>
            <a:ext cx="99669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0" i="1">
                <a:solidFill>
                  <a:srgbClr val="6C5488"/>
                </a:solidFill>
                <a:latin typeface="Times New Roman"/>
              </a:rPr>
              <a:t>The most promising signal was not “AI alone,” but personalized guided interaction—an important hypothesis for supervised, blended 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87568"/>
            <a:ext cx="9966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292538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F0DC-9A7B-2F45-FE40-95EE48EE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31388" cy="756303"/>
          </a:xfrm>
        </p:spPr>
        <p:txBody>
          <a:bodyPr>
            <a:normAutofit fontScale="90000"/>
          </a:bodyPr>
          <a:lstStyle/>
          <a:p>
            <a:pPr algn="l"/>
            <a:r>
              <a:rPr lang="en-IN" sz="2700" b="1" dirty="0">
                <a:solidFill>
                  <a:srgbClr val="292538"/>
                </a:solidFill>
                <a:latin typeface="Times New Roman"/>
              </a:rPr>
              <a:t>References  |  APA 7th edition</a:t>
            </a:r>
            <a:br>
              <a:rPr lang="en-IN" b="1" dirty="0">
                <a:solidFill>
                  <a:srgbClr val="292538"/>
                </a:solidFill>
                <a:latin typeface="Times New 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5D517-AF71-5B80-579E-56BEC0602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0942"/>
            <a:ext cx="11734800" cy="509522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>
                <a:solidFill>
                  <a:srgbClr val="292538"/>
                </a:solidFill>
                <a:latin typeface="Times New Roman"/>
              </a:rPr>
              <a:t>McFadyen, J., Habicht, J., Dina, L.-M., Harper, R., Hauser, T. U., &amp; </a:t>
            </a:r>
            <a:r>
              <a:rPr lang="en-IN" dirty="0" err="1">
                <a:solidFill>
                  <a:srgbClr val="292538"/>
                </a:solidFill>
                <a:latin typeface="Times New Roman"/>
              </a:rPr>
              <a:t>Rollwage</a:t>
            </a:r>
            <a:r>
              <a:rPr lang="en-IN" dirty="0">
                <a:solidFill>
                  <a:srgbClr val="292538"/>
                </a:solidFill>
                <a:latin typeface="Times New Roman"/>
              </a:rPr>
              <a:t>, M. (2026). Increasing engagement with cognitive-</a:t>
            </a:r>
            <a:r>
              <a:rPr lang="en-IN" dirty="0" err="1">
                <a:solidFill>
                  <a:srgbClr val="292538"/>
                </a:solidFill>
                <a:latin typeface="Times New Roman"/>
              </a:rPr>
              <a:t>behavioral</a:t>
            </a:r>
            <a:r>
              <a:rPr lang="en-IN" dirty="0">
                <a:solidFill>
                  <a:srgbClr val="292538"/>
                </a:solidFill>
                <a:latin typeface="Times New Roman"/>
              </a:rPr>
              <a:t> therapy (CBT) using generative AI: A randomized controlled trial (RCT). Communications Medicine. </a:t>
            </a:r>
            <a:r>
              <a:rPr lang="en-IN" dirty="0">
                <a:solidFill>
                  <a:srgbClr val="292538"/>
                </a:solidFill>
                <a:latin typeface="Times New Roman"/>
                <a:hlinkClick r:id="rId2"/>
              </a:rPr>
              <a:t>https://doi.org/10.1038/s43856-025-01321-8</a:t>
            </a:r>
            <a:endParaRPr lang="en-IN" dirty="0">
              <a:solidFill>
                <a:srgbClr val="292538"/>
              </a:solidFill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>
                <a:solidFill>
                  <a:srgbClr val="292538"/>
                </a:solidFill>
                <a:latin typeface="Times New Roman"/>
              </a:rPr>
              <a:t>American Psychological Association. (2017). Ethical principles of psychologists and code of conduct. https://www.apa.org/ethics/code</a:t>
            </a: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>
                <a:solidFill>
                  <a:srgbClr val="292538"/>
                </a:solidFill>
                <a:latin typeface="Times New Roman"/>
              </a:rPr>
              <a:t>Mausbach, B. T., Moore, R., Roesch, S., Cardenas, V., &amp; Patterson, T. L. (2010). The relationship between homework compliance and therapy outcomes: An updated meta-analysis. Cognitive Therapy and Research, 34, 429–438. </a:t>
            </a:r>
            <a:r>
              <a:rPr lang="en-IN" dirty="0">
                <a:solidFill>
                  <a:srgbClr val="292538"/>
                </a:solidFill>
                <a:latin typeface="Times New Roman"/>
                <a:hlinkClick r:id="rId3"/>
              </a:rPr>
              <a:t>https://doi.org/10.1007/s10608-010-9295-5</a:t>
            </a:r>
            <a:endParaRPr lang="en-IN" dirty="0">
              <a:solidFill>
                <a:srgbClr val="292538"/>
              </a:solidFill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 err="1">
                <a:solidFill>
                  <a:srgbClr val="292538"/>
                </a:solidFill>
                <a:latin typeface="Times New Roman"/>
              </a:rPr>
              <a:t>Peipert</a:t>
            </a:r>
            <a:r>
              <a:rPr lang="en-IN" dirty="0">
                <a:solidFill>
                  <a:srgbClr val="292538"/>
                </a:solidFill>
                <a:latin typeface="Times New Roman"/>
              </a:rPr>
              <a:t>, A., Krendl, A. C., &amp; Lorenzo-Luaces, L. (2022). Waiting lists for psychotherapy and provider attitudes toward low-intensity treatments as potential interventions. JMIR Formative Research, 6, e39787. </a:t>
            </a:r>
            <a:r>
              <a:rPr lang="en-IN" dirty="0">
                <a:solidFill>
                  <a:srgbClr val="292538"/>
                </a:solidFill>
                <a:latin typeface="Times New Roman"/>
                <a:hlinkClick r:id="rId4"/>
              </a:rPr>
              <a:t>https://doi.org/10.2196/39787</a:t>
            </a:r>
            <a:endParaRPr lang="en-IN" dirty="0">
              <a:solidFill>
                <a:srgbClr val="292538"/>
              </a:solidFill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>
                <a:solidFill>
                  <a:srgbClr val="292538"/>
                </a:solidFill>
                <a:latin typeface="Times New Roman"/>
              </a:rPr>
              <a:t>Gutheil, T. G., &amp; Gabbard, G. O. (1993). The concept of boundaries in clinical practice: Theoretical and practical implications. The American Journal of Psychiatry, 150(2), 188–196. </a:t>
            </a:r>
            <a:r>
              <a:rPr lang="en-IN" dirty="0">
                <a:solidFill>
                  <a:srgbClr val="292538"/>
                </a:solidFill>
                <a:latin typeface="Times New Roman"/>
                <a:hlinkClick r:id="rId5"/>
              </a:rPr>
              <a:t>https://doi.org/10.1176/ajp.150.2.188</a:t>
            </a:r>
            <a:endParaRPr lang="en-IN" dirty="0">
              <a:solidFill>
                <a:srgbClr val="292538"/>
              </a:solidFill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en-IN" dirty="0">
                <a:solidFill>
                  <a:srgbClr val="292538"/>
                </a:solidFill>
                <a:latin typeface="Times New Roman"/>
              </a:rPr>
              <a:t>Pope, K. S., Sonne, J. L., &amp; Greene, B. (2006). What therapists don’t talk about and why: Understanding taboos that hurt us and our clients. American Psychological Association.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85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1364</Words>
  <Application>Microsoft Office PowerPoint</Application>
  <PresentationFormat>Widescreen</PresentationFormat>
  <Paragraphs>192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|  APA 7th edition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Anukruti Rohini</dc:creator>
  <cp:keywords/>
  <dc:description>generated using python-pptx</dc:description>
  <cp:lastModifiedBy>Anukruti Rohini</cp:lastModifiedBy>
  <cp:revision>4</cp:revision>
  <dcterms:created xsi:type="dcterms:W3CDTF">2013-01-27T09:14:16Z</dcterms:created>
  <dcterms:modified xsi:type="dcterms:W3CDTF">2026-08-23T15:53:08Z</dcterms:modified>
  <cp:category/>
</cp:coreProperties>
</file>